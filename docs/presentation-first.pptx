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ยินดีต้อนรับสู่การนำเสนอโปรเจกต์ 'ชัวร์ก่อนแชร์' แอปพลิเคชันตรวจสอบข่าวลือสำหรับผู้ใช้ทั่วไปในประเทศไทย วันนี้เราจะพาทุกท่านดูปัญหา วิธีแก้ไข สถาปัตยกรรม และการตัดสินใจทางเทคนิคสำคัญ ๆ ของโปรเจกต์นี้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ปัญหาข่าวปลอมในไทยรุนแรงมากขึ้นทุกปี โดยเฉพาะบน LINE และ Facebook ที่ผู้ใช้แชร์ข้อมูลโดยไม่ตรวจสอบก่อน เครื่องมือที่มีอยู่มักต้องลงทะเบียนหรือเก็บข้อมูลผู้ใช้ ซึ่งทำให้คนไม่อยากใช้ โปรเจกต์นี้จึงออกแบบมาเพื่อแก้ช่องว่างนั้นโดยตรง</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ชัวร์ก่อนแชร์ตอบโจทย์หลักสามอย่างพร้อมกัน: ความสะดวก ความเป็นส่วนตัว และความแม่นยำ ผู้ใช้ไม่ต้องสมัครสมาชิก เพียงพิมพ์ข้อความหรืออัพโหลดภาพ ก็จะได้รับคะแนนความน่าเชื่อถือพร้อมเหตุผลเป็นภาษาไทยทันที</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เราออกแบบให้ฟีเจอร์ทั้ง 7 ครอบคลุมทุกมิติของการตรวจสอบข้อมูล ตั้งแต่การรับ input หลายรูปแบบ การวิเคราะห์แหล่งที่มา ไปจนถึงการตรวจจับภาพปลอมด้วย AI ทุกอย่างถูกออกแบบมาเพื่อให้ผู้ใช้ทั่วไปใช้งานได้โดยไม่ต้องมีความรู้ด้านเทคโนโลยี</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หน้าหลักออกแบบให้เรียบง่าย ผู้ใช้เห็น hero banner สีน้ำเงินพร้อม tagline จากนั้นมี stats row แสดงจำนวนการตรวจสอบ และด้านล่างเป็น input card ที่มี 3 แท็บ สำหรับข้อความ URL และรูปภาพ โดยค่าเริ่มต้นจะเป็นแท็บข้อความ</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หน้า result แบ่งเป็น 6 ส่วนหลัก ส่วนที่สำคัญที่สุดคือ Verdict Card ที่แสดงวงกลมคะแนนพร้อม 5-segment bar สีตามระดับความน่าเชื่อถือ ด้านล่างมี evidence stats และ reasoning accordion ที่แสดงเหตุผลเป็นภาษาไทย ถ้าเป็น URL จะมี Source Panel เพิ่มเติมสำหรับ domain analysis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หน้า Trending แสดงคำค้นยอดนิยมโดยไม่เปิดเผยข้อความต้นฉบับ เนื่องจากใช้ SHA-256 hashing ผู้ใช้คลิกที่รายการใดก็ได้เพื่อไปยังหน้า result ส่วนหน้า History เก็บอยู่ใน localStorage เท่านั้น ผู้ใช้สามารถ export หรือ import ข้อมูลเป็น JSON และลบประวัติทั้งหมดได้</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สถาปัตยกรรมใช้ Docker Compose ซึ่งประกอบด้วย 2 services หลักคือ Next.js app และ PostgreSQL database โดย Next.js ทำหน้าที่เป็นทั้ง frontend และ backend (API routes) API ภายนอกเดียวที่ใช้คือ Google Gemini สำหรับวิเคราะห์รูปภาพเท่านั้น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ทุก API endpoint ใช้ Zod สำหรับ validate input ทั้งฝั่ง client และ server และมี error format มาตรฐานเดียวกันคือ code + message_th + message_en ซึ่งช่วยให้ frontend handle error ได้อย่างสม่ำเสมอ Rate limiting ใช้ sliding window 30 req/min ต่อ IP เพื่อป้องกัน abuse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อัลกอริทึมเริ่มจากคะแนนกลาง 50 แล้วปรับขึ้นลงตามหลักฐานที่พบ หากพบว่าตรงกับ known fake claim คะแนนจะลดเหลือ 5 ทันที ส่วน trusted source แต่ละแหล่งให้ +8 หรือ -8 ขึ้นอยู่กับ stance สุดท้าย map คะแนนไปยัง 5 ระดับ verdict ตามสี</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การวิเคราะห์รูปภาพใช้ Gemini 2.5 Flash โดยส่ง base64 encoded image พร้อม structured JSON prompt ให้ Gemini ตอบกลับเป็น aiProbability และ reasoning bullets ภาษาไทย สำคัญคือทุก endpoint ต้อง return 200 เสมอ ถ้า Gemini ล้มเหลวจะใช้ fallback data แทนการ throw error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by design หมายความว่าเราออกแบบระบบโดยคำนึงถึงความเป็นส่วนตัวตั้งแต่ต้น ไม่ใช่เพิ่มภายหลัง การใช้ localStorage และ SHA-256 hashing ทำให้ผู้ใช้มั่นใจได้ว่าข้อมูลของตนไม่ถูกเก็บบน server และไม่สามารถถูก breach ได้จาก database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Stack ที่เลือกมีความสมดุลระหว่างความเร็วในการพัฒนาและความแข็งแกร่ง Next.js ทำให้เราไม่ต้องแยก frontend และ backend Prisma ทำให้ query DB ได้อย่าง type-safe ส่วน Zod ช่วยให้ validate data ทั้งฝั่ง client และ server ด้วย schema เดียวกัน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เราแยกอย่างชัดเจนว่าอะไรทำจริง อะไรใช้ mock data และอะไรอยู่นอกขอบเขต MVP การตัดสินใจนี้ช่วยให้ทีมโฟกัสกับ core features ที่สำคัญที่สุดก่อน ส่วน social analysis และ reverse image search จะเป็น feature ในรุ่นถัดไปเมื่อหา API ที่เหมาะสมได้</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strategy การทดสอบแบ่งเป็น 2 ระดับ Unit tests ด้วย Vitest ครอบคลุม service layer ทั้งหมดโดย mock Prisma และ Gemini E2E test ด้วย Playwright ทดสอบ happy path จริงผ่าน browser การ mock ทำให้ unit test เร็วและ deterministic ไม่ขึ้นกับ network หรือ DB</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การรันโปรเจกต์ใช้เพียง 3 คำสั่ง Docker Compose จะ handle dependency ระหว่าง app และ database ให้อัตโนมัติ ก่อนรันต้องคัดลอก .env.example เป็น .env และกรอก GEMINI_API_KEY ที่ได้จาก Google AI Studio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หลัง MVP เน้นการเชื่อมต่อ API จริงแทน mock data โดยเฉพาะ social account analysis และ reverse image search ส่วน browser extension จะช่วยเพิ่ม reach ให้ผู้ใช้สามารถตรวจสอบข้อมูลได้โดยตรงจากทุกเว็บไซต์ โดยไม่ต้องเปิด tab ใหม่</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ขอบคุณทุกท่านที่รับฟังการนำเสนอ ชัวร์ก่อนแชร์ถูกออกแบบมาเพื่อช่วยให้คนไทยสามารถตรวจสอบข้อมูลก่อนแชร์ได้อย่างรวดเร็วและปลอดภัย ยินดีรับฟังคำถาม ข้อเสนอแนะ หรือ feedback ครับ/ค่ะ</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858000"/>
          </a:xfrm>
          <a:prstGeom prst="rect">
            <a:avLst/>
          </a:prstGeom>
          <a:solidFill>
            <a:srgbClr val="1A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754880"/>
            <a:ext cx="12188952" cy="10972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32720" cy="1371600"/>
          </a:xfrm>
          <a:prstGeom prst="rect">
            <a:avLst/>
          </a:prstGeom>
          <a:noFill/>
        </p:spPr>
        <p:txBody>
          <a:bodyPr wrap="square">
            <a:spAutoFit/>
          </a:bodyPr>
          <a:lstStyle/>
          <a:p>
            <a:pPr algn="ctr"/>
            <a:r>
              <a:rPr sz="5200" b="1">
                <a:solidFill>
                  <a:srgbClr val="FFFFFF"/>
                </a:solidFill>
                <a:latin typeface="IBM Plex Sans Thai"/>
              </a:rPr>
              <a:t>ชัวร์ก่อนแชร์</a:t>
            </a:r>
          </a:p>
        </p:txBody>
      </p:sp>
      <p:sp>
        <p:nvSpPr>
          <p:cNvPr id="6" name="TextBox 5"/>
          <p:cNvSpPr txBox="1"/>
          <p:nvPr/>
        </p:nvSpPr>
        <p:spPr>
          <a:xfrm>
            <a:off x="914400" y="2834640"/>
            <a:ext cx="10332720" cy="822960"/>
          </a:xfrm>
          <a:prstGeom prst="rect">
            <a:avLst/>
          </a:prstGeom>
          <a:noFill/>
        </p:spPr>
        <p:txBody>
          <a:bodyPr wrap="square">
            <a:spAutoFit/>
          </a:bodyPr>
          <a:lstStyle/>
          <a:p>
            <a:pPr algn="ctr"/>
            <a:r>
              <a:rPr sz="2000" b="0">
                <a:solidFill>
                  <a:srgbClr val="DBEAFE"/>
                </a:solidFill>
                <a:latin typeface="IBM Plex Sans Thai"/>
              </a:rPr>
              <a:t>ตรวจสอบข่าวก่อนส่งต่อ — เพราะข่าวปลอมแพร่เร็วกว่าที่คุณคิด</a:t>
            </a:r>
          </a:p>
        </p:txBody>
      </p:sp>
      <p:sp>
        <p:nvSpPr>
          <p:cNvPr id="7" name="TextBox 6"/>
          <p:cNvSpPr txBox="1"/>
          <p:nvPr/>
        </p:nvSpPr>
        <p:spPr>
          <a:xfrm>
            <a:off x="914400" y="3749039"/>
            <a:ext cx="10332720" cy="548640"/>
          </a:xfrm>
          <a:prstGeom prst="rect">
            <a:avLst/>
          </a:prstGeom>
          <a:noFill/>
        </p:spPr>
        <p:txBody>
          <a:bodyPr wrap="square">
            <a:spAutoFit/>
          </a:bodyPr>
          <a:lstStyle/>
          <a:p>
            <a:pPr algn="ctr"/>
            <a:r>
              <a:rPr sz="1600" b="0">
                <a:solidFill>
                  <a:srgbClr val="06B6D4"/>
                </a:solidFill>
                <a:latin typeface="IBM Plex Sans Thai"/>
              </a:rPr>
              <a:t>Thai Fake News Detector  |  MVP Presentation</a:t>
            </a:r>
          </a:p>
        </p:txBody>
      </p:sp>
      <p:sp>
        <p:nvSpPr>
          <p:cNvPr id="8" name="TextBox 7"/>
          <p:cNvSpPr txBox="1"/>
          <p:nvPr/>
        </p:nvSpPr>
        <p:spPr>
          <a:xfrm>
            <a:off x="914400" y="5120640"/>
            <a:ext cx="10332720" cy="457200"/>
          </a:xfrm>
          <a:prstGeom prst="rect">
            <a:avLst/>
          </a:prstGeom>
          <a:noFill/>
        </p:spPr>
        <p:txBody>
          <a:bodyPr wrap="square">
            <a:spAutoFit/>
          </a:bodyPr>
          <a:lstStyle/>
          <a:p>
            <a:pPr algn="ctr"/>
            <a:r>
              <a:rPr sz="1400" b="0">
                <a:solidFill>
                  <a:srgbClr val="BBCCDD"/>
                </a:solidFill>
                <a:latin typeface="IBM Plex Sans Thai"/>
              </a:rPr>
              <a:t>[ทีมพัฒนา]   •   เมษายน 2569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IBM Plex Sans Thai"/>
              </a:rPr>
              <a:t>ปัญหา: ข่าวปลอมในประเทศไทย</a:t>
            </a:r>
          </a:p>
        </p:txBody>
      </p:sp>
      <p:sp>
        <p:nvSpPr>
          <p:cNvPr id="5" name="TextBox 4"/>
          <p:cNvSpPr txBox="1"/>
          <p:nvPr/>
        </p:nvSpPr>
        <p:spPr>
          <a:xfrm>
            <a:off x="365760" y="868680"/>
            <a:ext cx="11430000" cy="502920"/>
          </a:xfrm>
          <a:prstGeom prst="rect">
            <a:avLst/>
          </a:prstGeom>
          <a:noFill/>
        </p:spPr>
        <p:txBody>
          <a:bodyPr wrap="square">
            <a:spAutoFit/>
          </a:bodyPr>
          <a:lstStyle/>
          <a:p>
            <a:pPr algn="l"/>
            <a:r>
              <a:rPr sz="1400" b="0">
                <a:solidFill>
                  <a:srgbClr val="DBEAFE"/>
                </a:solidFill>
                <a:latin typeface="IBM Plex Sans Thai"/>
              </a:rPr>
              <a:t>Why fake news matters</a:t>
            </a:r>
          </a:p>
        </p:txBody>
      </p:sp>
      <p:sp>
        <p:nvSpPr>
          <p:cNvPr id="6" name="Rectangle 5"/>
          <p:cNvSpPr/>
          <p:nvPr/>
        </p:nvSpPr>
        <p:spPr>
          <a:xfrm>
            <a:off x="0" y="146304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37960"/>
            <a:ext cx="11612880" cy="274320"/>
          </a:xfrm>
          <a:prstGeom prst="rect">
            <a:avLst/>
          </a:prstGeom>
          <a:noFill/>
        </p:spPr>
        <p:txBody>
          <a:bodyPr wrap="square">
            <a:spAutoFit/>
          </a:bodyPr>
          <a:lstStyle/>
          <a:p>
            <a:pPr algn="r"/>
            <a:r>
              <a:rPr sz="1000" b="0">
                <a:solidFill>
                  <a:srgbClr val="AAAAAA"/>
                </a:solidFill>
                <a:latin typeface="IBM Plex Sans Thai"/>
              </a:rPr>
              <a:t>ชัวร์ก่อนแชร์  •  2/18</a:t>
            </a:r>
          </a:p>
        </p:txBody>
      </p:sp>
      <p:sp>
        <p:nvSpPr>
          <p:cNvPr id="8" name="TextBox 7"/>
          <p:cNvSpPr txBox="1"/>
          <p:nvPr/>
        </p:nvSpPr>
        <p:spPr>
          <a:xfrm>
            <a:off x="365760" y="1645920"/>
            <a:ext cx="6583680" cy="4754880"/>
          </a:xfrm>
          <a:prstGeom prst="rect">
            <a:avLst/>
          </a:prstGeom>
          <a:noFill/>
        </p:spPr>
        <p:txBody>
          <a:bodyPr wrap="square">
            <a:spAutoFit/>
          </a:bodyPr>
          <a:lstStyle/>
          <a:p>
            <a:pPr>
              <a:spcBef>
                <a:spcPts val="400"/>
              </a:spcBef>
            </a:pPr>
            <a:r>
              <a:rPr sz="1500">
                <a:solidFill>
                  <a:srgbClr val="444F60"/>
                </a:solidFill>
                <a:latin typeface="IBM Plex Sans Thai"/>
              </a:rPr>
              <a:t>🔴  ข้อมูลเท็จแพร่กระจายเร็วกว่าข้อเท็จจริง 6 เท่าบน social media</a:t>
            </a:r>
          </a:p>
          <a:p>
            <a:pPr>
              <a:spcBef>
                <a:spcPts val="400"/>
              </a:spcBef>
            </a:pPr>
            <a:r>
              <a:rPr sz="1500">
                <a:solidFill>
                  <a:srgbClr val="444F60"/>
                </a:solidFill>
                <a:latin typeface="IBM Plex Sans Thai"/>
              </a:rPr>
              <a:t>🔴  LINE Group, Facebook เป็นช่องทางหลักในการแชร์ข่าวปลอมในไทย</a:t>
            </a:r>
          </a:p>
          <a:p>
            <a:pPr>
              <a:spcBef>
                <a:spcPts val="400"/>
              </a:spcBef>
            </a:pPr>
            <a:r>
              <a:rPr sz="1500">
                <a:solidFill>
                  <a:srgbClr val="444F60"/>
                </a:solidFill>
                <a:latin typeface="IBM Plex Sans Thai"/>
              </a:rPr>
              <a:t>🔴  ผู้ใช้ทั่วไปขาดเครื่องมือตรวจสอบที่ใช้งานง่ายและเป็นภาษาไทย</a:t>
            </a:r>
          </a:p>
          <a:p>
            <a:pPr>
              <a:spcBef>
                <a:spcPts val="400"/>
              </a:spcBef>
            </a:pPr>
            <a:r>
              <a:rPr sz="1500">
                <a:solidFill>
                  <a:srgbClr val="444F60"/>
                </a:solidFill>
                <a:latin typeface="IBM Plex Sans Thai"/>
              </a:rPr>
              <a:t>🔴  เครื่องมือที่มีอยู่ต้องการ login หรือเก็บข้อมูลส่วนตัวผู้ใช้</a:t>
            </a:r>
          </a:p>
          <a:p>
            <a:pPr>
              <a:spcBef>
                <a:spcPts val="400"/>
              </a:spcBef>
            </a:pPr>
            <a:r>
              <a:rPr sz="1500">
                <a:solidFill>
                  <a:srgbClr val="444F60"/>
                </a:solidFill>
                <a:latin typeface="IBM Plex Sans Thai"/>
              </a:rPr>
              <a:t>🔴  ขาดการตรวจสอบหลายรูปแบบ (ข้อความ, URL, รูปภาพ) ในที่เดียว</a:t>
            </a:r>
          </a:p>
        </p:txBody>
      </p:sp>
      <p:sp>
        <p:nvSpPr>
          <p:cNvPr id="9" name="TextBox 8"/>
          <p:cNvSpPr txBox="1"/>
          <p:nvPr/>
        </p:nvSpPr>
        <p:spPr>
          <a:xfrm>
            <a:off x="7132320" y="1645920"/>
            <a:ext cx="4663440" cy="4754880"/>
          </a:xfrm>
          <a:prstGeom prst="rect">
            <a:avLst/>
          </a:prstGeom>
          <a:noFill/>
        </p:spPr>
        <p:txBody>
          <a:bodyPr wrap="square">
            <a:spAutoFit/>
          </a:bodyPr>
          <a:lstStyle/>
          <a:p>
            <a:pPr>
              <a:spcBef>
                <a:spcPts val="400"/>
              </a:spcBef>
            </a:pPr>
            <a:r>
              <a:rPr sz="1500">
                <a:solidFill>
                  <a:srgbClr val="245CAD"/>
                </a:solidFill>
                <a:latin typeface="IBM Plex Sans Thai"/>
              </a:rPr>
              <a:t>💡  ช่องว่าง: ยังไม่มี privacy-first tool ที่ใช้งานง่าย</a:t>
            </a:r>
          </a:p>
          <a:p>
            <a:pPr>
              <a:spcBef>
                <a:spcPts val="400"/>
              </a:spcBef>
            </a:pPr>
            <a:r>
              <a:rPr sz="1500">
                <a:solidFill>
                  <a:srgbClr val="245CAD"/>
                </a:solidFill>
                <a:latin typeface="IBM Plex Sans Thai"/>
              </a:rPr>
              <a:t>💡  ไม่มีระบบ login → ใช้ได้ทันที ไม่มีข้อมูลส่วนตัว</a:t>
            </a:r>
          </a:p>
          <a:p>
            <a:pPr>
              <a:spcBef>
                <a:spcPts val="400"/>
              </a:spcBef>
            </a:pPr>
            <a:r>
              <a:rPr sz="1500">
                <a:solidFill>
                  <a:srgbClr val="245CAD"/>
                </a:solidFill>
                <a:latin typeface="IBM Plex Sans Thai"/>
              </a:rPr>
              <a:t>💡  รองรับหลายรูปแบบ: ข้อความ / URL / รูปภาพ</a:t>
            </a:r>
          </a:p>
          <a:p>
            <a:pPr>
              <a:spcBef>
                <a:spcPts val="400"/>
              </a:spcBef>
            </a:pPr>
            <a:r>
              <a:rPr sz="1500">
                <a:solidFill>
                  <a:srgbClr val="245CAD"/>
                </a:solidFill>
                <a:latin typeface="IBM Plex Sans Thai"/>
              </a:rPr>
              <a:t>💡  ผลลัพธ์เป็นภาษาไทย พร้อม reasoning ที่เข้าใจง่าย</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IBM Plex Sans Thai"/>
              </a:rPr>
              <a:t>วิธีแก้ปัญหา: ชัวร์ก่อนแชร์</a:t>
            </a:r>
          </a:p>
        </p:txBody>
      </p:sp>
      <p:sp>
        <p:nvSpPr>
          <p:cNvPr id="5" name="TextBox 4"/>
          <p:cNvSpPr txBox="1"/>
          <p:nvPr/>
        </p:nvSpPr>
        <p:spPr>
          <a:xfrm>
            <a:off x="365760" y="868680"/>
            <a:ext cx="11430000" cy="502920"/>
          </a:xfrm>
          <a:prstGeom prst="rect">
            <a:avLst/>
          </a:prstGeom>
          <a:noFill/>
        </p:spPr>
        <p:txBody>
          <a:bodyPr wrap="square">
            <a:spAutoFit/>
          </a:bodyPr>
          <a:lstStyle/>
          <a:p>
            <a:pPr algn="l"/>
            <a:r>
              <a:rPr sz="1400" b="0">
                <a:solidFill>
                  <a:srgbClr val="DBEAFE"/>
                </a:solidFill>
                <a:latin typeface="IBM Plex Sans Thai"/>
              </a:rPr>
              <a:t>Solution Overview</a:t>
            </a:r>
          </a:p>
        </p:txBody>
      </p:sp>
      <p:sp>
        <p:nvSpPr>
          <p:cNvPr id="6" name="Rectangle 5"/>
          <p:cNvSpPr/>
          <p:nvPr/>
        </p:nvSpPr>
        <p:spPr>
          <a:xfrm>
            <a:off x="0" y="146304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37960"/>
            <a:ext cx="11612880" cy="274320"/>
          </a:xfrm>
          <a:prstGeom prst="rect">
            <a:avLst/>
          </a:prstGeom>
          <a:noFill/>
        </p:spPr>
        <p:txBody>
          <a:bodyPr wrap="square">
            <a:spAutoFit/>
          </a:bodyPr>
          <a:lstStyle/>
          <a:p>
            <a:pPr algn="r"/>
            <a:r>
              <a:rPr sz="1000" b="0">
                <a:solidFill>
                  <a:srgbClr val="AAAAAA"/>
                </a:solidFill>
                <a:latin typeface="IBM Plex Sans Thai"/>
              </a:rPr>
              <a:t>ชัวร์ก่อนแชร์  •  3/18</a:t>
            </a:r>
          </a:p>
        </p:txBody>
      </p:sp>
      <p:sp>
        <p:nvSpPr>
          <p:cNvPr id="8" name="Rectangle 7"/>
          <p:cNvSpPr/>
          <p:nvPr/>
        </p:nvSpPr>
        <p:spPr>
          <a:xfrm>
            <a:off x="365760" y="1691640"/>
            <a:ext cx="11430000" cy="1188720"/>
          </a:xfrm>
          <a:prstGeom prst="rect">
            <a:avLst/>
          </a:prstGeom>
          <a:solidFill>
            <a:srgbClr val="24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83080"/>
            <a:ext cx="11064240" cy="1005840"/>
          </a:xfrm>
          <a:prstGeom prst="rect">
            <a:avLst/>
          </a:prstGeom>
          <a:noFill/>
        </p:spPr>
        <p:txBody>
          <a:bodyPr wrap="square">
            <a:spAutoFit/>
          </a:bodyPr>
          <a:lstStyle/>
          <a:p>
            <a:pPr algn="l"/>
            <a:r>
              <a:rPr sz="1700" b="0">
                <a:solidFill>
                  <a:srgbClr val="FFFFFF"/>
                </a:solidFill>
                <a:latin typeface="IBM Plex Sans Thai"/>
              </a:rPr>
              <a:t>แพลตฟอร์มเว็บที่ช่วยให้ผู้ใช้ตรวจสอบความน่าเชื่อถือของข้อมูลได้ทันที โดยไม่ต้องสมัครสมาชิก ไม่เก็บข้อมูลส่วนตัว และรองรับหลายรูปแบบ</a:t>
            </a:r>
          </a:p>
        </p:txBody>
      </p:sp>
      <p:sp>
        <p:nvSpPr>
          <p:cNvPr id="10" name="Rectangle 9"/>
          <p:cNvSpPr/>
          <p:nvPr/>
        </p:nvSpPr>
        <p:spPr>
          <a:xfrm>
            <a:off x="320040" y="3108960"/>
            <a:ext cx="26517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3200400"/>
            <a:ext cx="2651760" cy="640080"/>
          </a:xfrm>
          <a:prstGeom prst="rect">
            <a:avLst/>
          </a:prstGeom>
          <a:noFill/>
        </p:spPr>
        <p:txBody>
          <a:bodyPr wrap="square">
            <a:spAutoFit/>
          </a:bodyPr>
          <a:lstStyle/>
          <a:p>
            <a:pPr algn="ctr"/>
            <a:r>
              <a:rPr sz="2600" b="0">
                <a:latin typeface="IBM Plex Sans Thai"/>
              </a:rPr>
              <a:t>🚀</a:t>
            </a:r>
          </a:p>
        </p:txBody>
      </p:sp>
      <p:sp>
        <p:nvSpPr>
          <p:cNvPr id="12" name="TextBox 11"/>
          <p:cNvSpPr txBox="1"/>
          <p:nvPr/>
        </p:nvSpPr>
        <p:spPr>
          <a:xfrm>
            <a:off x="320040" y="3840480"/>
            <a:ext cx="2651760" cy="548640"/>
          </a:xfrm>
          <a:prstGeom prst="rect">
            <a:avLst/>
          </a:prstGeom>
          <a:noFill/>
        </p:spPr>
        <p:txBody>
          <a:bodyPr wrap="square">
            <a:spAutoFit/>
          </a:bodyPr>
          <a:lstStyle/>
          <a:p>
            <a:pPr algn="ctr"/>
            <a:r>
              <a:rPr sz="1500" b="1">
                <a:solidFill>
                  <a:srgbClr val="1E3A5F"/>
                </a:solidFill>
                <a:latin typeface="IBM Plex Sans Thai"/>
              </a:rPr>
              <a:t>ไม่ต้อง Login</a:t>
            </a:r>
          </a:p>
        </p:txBody>
      </p:sp>
      <p:sp>
        <p:nvSpPr>
          <p:cNvPr id="13" name="TextBox 12"/>
          <p:cNvSpPr txBox="1"/>
          <p:nvPr/>
        </p:nvSpPr>
        <p:spPr>
          <a:xfrm>
            <a:off x="320040" y="4389120"/>
            <a:ext cx="2651760" cy="731520"/>
          </a:xfrm>
          <a:prstGeom prst="rect">
            <a:avLst/>
          </a:prstGeom>
          <a:noFill/>
        </p:spPr>
        <p:txBody>
          <a:bodyPr wrap="square">
            <a:spAutoFit/>
          </a:bodyPr>
          <a:lstStyle/>
          <a:p>
            <a:pPr algn="ctr"/>
            <a:r>
              <a:rPr sz="1300" b="0">
                <a:solidFill>
                  <a:srgbClr val="444F60"/>
                </a:solidFill>
                <a:latin typeface="IBM Plex Sans Thai"/>
              </a:rPr>
              <a:t>เข้าใช้งานได้ทันที ไม่สร้างบัญชี</a:t>
            </a:r>
          </a:p>
        </p:txBody>
      </p:sp>
      <p:sp>
        <p:nvSpPr>
          <p:cNvPr id="14" name="Rectangle 13"/>
          <p:cNvSpPr/>
          <p:nvPr/>
        </p:nvSpPr>
        <p:spPr>
          <a:xfrm>
            <a:off x="3200400" y="3108960"/>
            <a:ext cx="26517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0" y="3200400"/>
            <a:ext cx="2651760" cy="640080"/>
          </a:xfrm>
          <a:prstGeom prst="rect">
            <a:avLst/>
          </a:prstGeom>
          <a:noFill/>
        </p:spPr>
        <p:txBody>
          <a:bodyPr wrap="square">
            <a:spAutoFit/>
          </a:bodyPr>
          <a:lstStyle/>
          <a:p>
            <a:pPr algn="ctr"/>
            <a:r>
              <a:rPr sz="2600" b="0">
                <a:latin typeface="IBM Plex Sans Thai"/>
              </a:rPr>
              <a:t>🔒</a:t>
            </a:r>
          </a:p>
        </p:txBody>
      </p:sp>
      <p:sp>
        <p:nvSpPr>
          <p:cNvPr id="16" name="TextBox 15"/>
          <p:cNvSpPr txBox="1"/>
          <p:nvPr/>
        </p:nvSpPr>
        <p:spPr>
          <a:xfrm>
            <a:off x="3200400" y="3840480"/>
            <a:ext cx="2651760" cy="548640"/>
          </a:xfrm>
          <a:prstGeom prst="rect">
            <a:avLst/>
          </a:prstGeom>
          <a:noFill/>
        </p:spPr>
        <p:txBody>
          <a:bodyPr wrap="square">
            <a:spAutoFit/>
          </a:bodyPr>
          <a:lstStyle/>
          <a:p>
            <a:pPr algn="ctr"/>
            <a:r>
              <a:rPr sz="1500" b="1">
                <a:solidFill>
                  <a:srgbClr val="1E3A5F"/>
                </a:solidFill>
                <a:latin typeface="IBM Plex Sans Thai"/>
              </a:rPr>
              <a:t>ไม่เก็บข้อมูล</a:t>
            </a:r>
          </a:p>
        </p:txBody>
      </p:sp>
      <p:sp>
        <p:nvSpPr>
          <p:cNvPr id="17" name="TextBox 16"/>
          <p:cNvSpPr txBox="1"/>
          <p:nvPr/>
        </p:nvSpPr>
        <p:spPr>
          <a:xfrm>
            <a:off x="3200400" y="4389120"/>
            <a:ext cx="2651760" cy="731520"/>
          </a:xfrm>
          <a:prstGeom prst="rect">
            <a:avLst/>
          </a:prstGeom>
          <a:noFill/>
        </p:spPr>
        <p:txBody>
          <a:bodyPr wrap="square">
            <a:spAutoFit/>
          </a:bodyPr>
          <a:lstStyle/>
          <a:p>
            <a:pPr algn="ctr"/>
            <a:r>
              <a:rPr sz="1300" b="0">
                <a:solidFill>
                  <a:srgbClr val="444F60"/>
                </a:solidFill>
                <a:latin typeface="IBM Plex Sans Thai"/>
              </a:rPr>
              <a:t>ประวัติอยู่ใน localStorage เท่านั้น</a:t>
            </a:r>
          </a:p>
        </p:txBody>
      </p:sp>
      <p:sp>
        <p:nvSpPr>
          <p:cNvPr id="18" name="Rectangle 17"/>
          <p:cNvSpPr/>
          <p:nvPr/>
        </p:nvSpPr>
        <p:spPr>
          <a:xfrm>
            <a:off x="6080760" y="3108960"/>
            <a:ext cx="26517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80760" y="3200400"/>
            <a:ext cx="2651760" cy="640080"/>
          </a:xfrm>
          <a:prstGeom prst="rect">
            <a:avLst/>
          </a:prstGeom>
          <a:noFill/>
        </p:spPr>
        <p:txBody>
          <a:bodyPr wrap="square">
            <a:spAutoFit/>
          </a:bodyPr>
          <a:lstStyle/>
          <a:p>
            <a:pPr algn="ctr"/>
            <a:r>
              <a:rPr sz="2600" b="0">
                <a:latin typeface="IBM Plex Sans Thai"/>
              </a:rPr>
              <a:t>⚡</a:t>
            </a:r>
          </a:p>
        </p:txBody>
      </p:sp>
      <p:sp>
        <p:nvSpPr>
          <p:cNvPr id="20" name="TextBox 19"/>
          <p:cNvSpPr txBox="1"/>
          <p:nvPr/>
        </p:nvSpPr>
        <p:spPr>
          <a:xfrm>
            <a:off x="6080760" y="3840480"/>
            <a:ext cx="2651760" cy="548640"/>
          </a:xfrm>
          <a:prstGeom prst="rect">
            <a:avLst/>
          </a:prstGeom>
          <a:noFill/>
        </p:spPr>
        <p:txBody>
          <a:bodyPr wrap="square">
            <a:spAutoFit/>
          </a:bodyPr>
          <a:lstStyle/>
          <a:p>
            <a:pPr algn="ctr"/>
            <a:r>
              <a:rPr sz="1500" b="1">
                <a:solidFill>
                  <a:srgbClr val="1E3A5F"/>
                </a:solidFill>
                <a:latin typeface="IBM Plex Sans Thai"/>
              </a:rPr>
              <a:t>ตรวจสอบใน 3 วิ</a:t>
            </a:r>
          </a:p>
        </p:txBody>
      </p:sp>
      <p:sp>
        <p:nvSpPr>
          <p:cNvPr id="21" name="TextBox 20"/>
          <p:cNvSpPr txBox="1"/>
          <p:nvPr/>
        </p:nvSpPr>
        <p:spPr>
          <a:xfrm>
            <a:off x="6080760" y="4389120"/>
            <a:ext cx="2651760" cy="731520"/>
          </a:xfrm>
          <a:prstGeom prst="rect">
            <a:avLst/>
          </a:prstGeom>
          <a:noFill/>
        </p:spPr>
        <p:txBody>
          <a:bodyPr wrap="square">
            <a:spAutoFit/>
          </a:bodyPr>
          <a:lstStyle/>
          <a:p>
            <a:pPr algn="ctr"/>
            <a:r>
              <a:rPr sz="1300" b="0">
                <a:solidFill>
                  <a:srgbClr val="444F60"/>
                </a:solidFill>
                <a:latin typeface="IBM Plex Sans Thai"/>
              </a:rPr>
              <a:t>text / URL / image ครบในหน้าเดียว</a:t>
            </a:r>
          </a:p>
        </p:txBody>
      </p:sp>
      <p:sp>
        <p:nvSpPr>
          <p:cNvPr id="22" name="Rectangle 21"/>
          <p:cNvSpPr/>
          <p:nvPr/>
        </p:nvSpPr>
        <p:spPr>
          <a:xfrm>
            <a:off x="8961120" y="3108960"/>
            <a:ext cx="26517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0" y="3200400"/>
            <a:ext cx="2651760" cy="640080"/>
          </a:xfrm>
          <a:prstGeom prst="rect">
            <a:avLst/>
          </a:prstGeom>
          <a:noFill/>
        </p:spPr>
        <p:txBody>
          <a:bodyPr wrap="square">
            <a:spAutoFit/>
          </a:bodyPr>
          <a:lstStyle/>
          <a:p>
            <a:pPr algn="ctr"/>
            <a:r>
              <a:rPr sz="2600" b="0">
                <a:latin typeface="IBM Plex Sans Thai"/>
              </a:rPr>
              <a:t>🎯</a:t>
            </a:r>
          </a:p>
        </p:txBody>
      </p:sp>
      <p:sp>
        <p:nvSpPr>
          <p:cNvPr id="24" name="TextBox 23"/>
          <p:cNvSpPr txBox="1"/>
          <p:nvPr/>
        </p:nvSpPr>
        <p:spPr>
          <a:xfrm>
            <a:off x="8961120" y="3840480"/>
            <a:ext cx="2651760" cy="548640"/>
          </a:xfrm>
          <a:prstGeom prst="rect">
            <a:avLst/>
          </a:prstGeom>
          <a:noFill/>
        </p:spPr>
        <p:txBody>
          <a:bodyPr wrap="square">
            <a:spAutoFit/>
          </a:bodyPr>
          <a:lstStyle/>
          <a:p>
            <a:pPr algn="ctr"/>
            <a:r>
              <a:rPr sz="1500" b="1">
                <a:solidFill>
                  <a:srgbClr val="1E3A5F"/>
                </a:solidFill>
                <a:latin typeface="IBM Plex Sans Thai"/>
              </a:rPr>
              <a:t>5 ระดับความน่าเชื่อถือ</a:t>
            </a:r>
          </a:p>
        </p:txBody>
      </p:sp>
      <p:sp>
        <p:nvSpPr>
          <p:cNvPr id="25" name="TextBox 24"/>
          <p:cNvSpPr txBox="1"/>
          <p:nvPr/>
        </p:nvSpPr>
        <p:spPr>
          <a:xfrm>
            <a:off x="8961120" y="4389120"/>
            <a:ext cx="2651760" cy="731520"/>
          </a:xfrm>
          <a:prstGeom prst="rect">
            <a:avLst/>
          </a:prstGeom>
          <a:noFill/>
        </p:spPr>
        <p:txBody>
          <a:bodyPr wrap="square">
            <a:spAutoFit/>
          </a:bodyPr>
          <a:lstStyle/>
          <a:p>
            <a:pPr algn="ctr"/>
            <a:r>
              <a:rPr sz="1300" b="0">
                <a:solidFill>
                  <a:srgbClr val="444F60"/>
                </a:solidFill>
                <a:latin typeface="IBM Plex Sans Thai"/>
              </a:rPr>
              <a:t>คะแนน 0–100 พร้อม reasoning ภาษาไทย</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IBM Plex Sans Thai"/>
              </a:rPr>
              <a:t>ฟีเจอร์หลัก (FR.1–FR.7)</a:t>
            </a:r>
          </a:p>
        </p:txBody>
      </p:sp>
      <p:sp>
        <p:nvSpPr>
          <p:cNvPr id="5" name="TextBox 4"/>
          <p:cNvSpPr txBox="1"/>
          <p:nvPr/>
        </p:nvSpPr>
        <p:spPr>
          <a:xfrm>
            <a:off x="365760" y="868680"/>
            <a:ext cx="11430000" cy="502920"/>
          </a:xfrm>
          <a:prstGeom prst="rect">
            <a:avLst/>
          </a:prstGeom>
          <a:noFill/>
        </p:spPr>
        <p:txBody>
          <a:bodyPr wrap="square">
            <a:spAutoFit/>
          </a:bodyPr>
          <a:lstStyle/>
          <a:p>
            <a:pPr algn="l"/>
            <a:r>
              <a:rPr sz="1400" b="0">
                <a:solidFill>
                  <a:srgbClr val="DBEAFE"/>
                </a:solidFill>
                <a:latin typeface="IBM Plex Sans Thai"/>
              </a:rPr>
              <a:t>User-facing Features</a:t>
            </a:r>
          </a:p>
        </p:txBody>
      </p:sp>
      <p:sp>
        <p:nvSpPr>
          <p:cNvPr id="6" name="Rectangle 5"/>
          <p:cNvSpPr/>
          <p:nvPr/>
        </p:nvSpPr>
        <p:spPr>
          <a:xfrm>
            <a:off x="0" y="146304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37960"/>
            <a:ext cx="11612880" cy="274320"/>
          </a:xfrm>
          <a:prstGeom prst="rect">
            <a:avLst/>
          </a:prstGeom>
          <a:noFill/>
        </p:spPr>
        <p:txBody>
          <a:bodyPr wrap="square">
            <a:spAutoFit/>
          </a:bodyPr>
          <a:lstStyle/>
          <a:p>
            <a:pPr algn="r"/>
            <a:r>
              <a:rPr sz="1000" b="0">
                <a:solidFill>
                  <a:srgbClr val="AAAAAA"/>
                </a:solidFill>
                <a:latin typeface="IBM Plex Sans Thai"/>
              </a:rPr>
              <a:t>ชัวร์ก่อนแชร์  •  4/18</a:t>
            </a:r>
          </a:p>
        </p:txBody>
      </p:sp>
      <p:sp>
        <p:nvSpPr>
          <p:cNvPr id="8" name="Rectangle 7"/>
          <p:cNvSpPr/>
          <p:nvPr/>
        </p:nvSpPr>
        <p:spPr>
          <a:xfrm>
            <a:off x="274320" y="1691640"/>
            <a:ext cx="3657600" cy="1600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783080"/>
            <a:ext cx="3383280" cy="502920"/>
          </a:xfrm>
          <a:prstGeom prst="rect">
            <a:avLst/>
          </a:prstGeom>
          <a:noFill/>
        </p:spPr>
        <p:txBody>
          <a:bodyPr wrap="square">
            <a:spAutoFit/>
          </a:bodyPr>
          <a:lstStyle/>
          <a:p>
            <a:pPr algn="l"/>
            <a:r>
              <a:rPr sz="1400" b="1">
                <a:solidFill>
                  <a:srgbClr val="1E3A5F"/>
                </a:solidFill>
                <a:latin typeface="IBM Plex Sans Thai"/>
              </a:rPr>
              <a:t>🔓  FR.1 — Privacy First</a:t>
            </a:r>
          </a:p>
        </p:txBody>
      </p:sp>
      <p:sp>
        <p:nvSpPr>
          <p:cNvPr id="10" name="TextBox 9"/>
          <p:cNvSpPr txBox="1"/>
          <p:nvPr/>
        </p:nvSpPr>
        <p:spPr>
          <a:xfrm>
            <a:off x="411479" y="2286000"/>
            <a:ext cx="3383280" cy="822960"/>
          </a:xfrm>
          <a:prstGeom prst="rect">
            <a:avLst/>
          </a:prstGeom>
          <a:noFill/>
        </p:spPr>
        <p:txBody>
          <a:bodyPr wrap="square">
            <a:spAutoFit/>
          </a:bodyPr>
          <a:lstStyle/>
          <a:p>
            <a:pPr algn="l"/>
            <a:r>
              <a:rPr sz="1200" b="0">
                <a:solidFill>
                  <a:srgbClr val="444F60"/>
                </a:solidFill>
                <a:latin typeface="IBM Plex Sans Thai"/>
              </a:rPr>
              <a:t>ไม่ต้อง login • ประวัติใน localStorage</a:t>
            </a:r>
          </a:p>
        </p:txBody>
      </p:sp>
      <p:sp>
        <p:nvSpPr>
          <p:cNvPr id="11" name="Rectangle 10"/>
          <p:cNvSpPr/>
          <p:nvPr/>
        </p:nvSpPr>
        <p:spPr>
          <a:xfrm>
            <a:off x="4160520" y="1691640"/>
            <a:ext cx="3657600" cy="1600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0" y="1783080"/>
            <a:ext cx="3383280" cy="502920"/>
          </a:xfrm>
          <a:prstGeom prst="rect">
            <a:avLst/>
          </a:prstGeom>
          <a:noFill/>
        </p:spPr>
        <p:txBody>
          <a:bodyPr wrap="square">
            <a:spAutoFit/>
          </a:bodyPr>
          <a:lstStyle/>
          <a:p>
            <a:pPr algn="l"/>
            <a:r>
              <a:rPr sz="1400" b="1">
                <a:solidFill>
                  <a:srgbClr val="1E3A5F"/>
                </a:solidFill>
                <a:latin typeface="IBM Plex Sans Thai"/>
              </a:rPr>
              <a:t>🔍  FR.2 — Multi-format Check</a:t>
            </a:r>
          </a:p>
        </p:txBody>
      </p:sp>
      <p:sp>
        <p:nvSpPr>
          <p:cNvPr id="13" name="TextBox 12"/>
          <p:cNvSpPr txBox="1"/>
          <p:nvPr/>
        </p:nvSpPr>
        <p:spPr>
          <a:xfrm>
            <a:off x="4297680" y="2286000"/>
            <a:ext cx="3383280" cy="822960"/>
          </a:xfrm>
          <a:prstGeom prst="rect">
            <a:avLst/>
          </a:prstGeom>
          <a:noFill/>
        </p:spPr>
        <p:txBody>
          <a:bodyPr wrap="square">
            <a:spAutoFit/>
          </a:bodyPr>
          <a:lstStyle/>
          <a:p>
            <a:pPr algn="l"/>
            <a:r>
              <a:rPr sz="1200" b="0">
                <a:solidFill>
                  <a:srgbClr val="444F60"/>
                </a:solidFill>
                <a:latin typeface="IBM Plex Sans Thai"/>
              </a:rPr>
              <a:t>ข้อความ / URL / รูปภาพ • คะแนน 0–100</a:t>
            </a:r>
          </a:p>
        </p:txBody>
      </p:sp>
      <p:sp>
        <p:nvSpPr>
          <p:cNvPr id="14" name="Rectangle 13"/>
          <p:cNvSpPr/>
          <p:nvPr/>
        </p:nvSpPr>
        <p:spPr>
          <a:xfrm>
            <a:off x="8046720" y="1691640"/>
            <a:ext cx="3657600" cy="1600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80" y="1783080"/>
            <a:ext cx="3383280" cy="502920"/>
          </a:xfrm>
          <a:prstGeom prst="rect">
            <a:avLst/>
          </a:prstGeom>
          <a:noFill/>
        </p:spPr>
        <p:txBody>
          <a:bodyPr wrap="square">
            <a:spAutoFit/>
          </a:bodyPr>
          <a:lstStyle/>
          <a:p>
            <a:pPr algn="l"/>
            <a:r>
              <a:rPr sz="1400" b="1">
                <a:solidFill>
                  <a:srgbClr val="1E3A5F"/>
                </a:solidFill>
                <a:latin typeface="IBM Plex Sans Thai"/>
              </a:rPr>
              <a:t>📚  FR.3 — Source References</a:t>
            </a:r>
          </a:p>
        </p:txBody>
      </p:sp>
      <p:sp>
        <p:nvSpPr>
          <p:cNvPr id="16" name="TextBox 15"/>
          <p:cNvSpPr txBox="1"/>
          <p:nvPr/>
        </p:nvSpPr>
        <p:spPr>
          <a:xfrm>
            <a:off x="8183880" y="2286000"/>
            <a:ext cx="3383280" cy="822960"/>
          </a:xfrm>
          <a:prstGeom prst="rect">
            <a:avLst/>
          </a:prstGeom>
          <a:noFill/>
        </p:spPr>
        <p:txBody>
          <a:bodyPr wrap="square">
            <a:spAutoFit/>
          </a:bodyPr>
          <a:lstStyle/>
          <a:p>
            <a:pPr algn="l"/>
            <a:r>
              <a:rPr sz="1200" b="0">
                <a:solidFill>
                  <a:srgbClr val="444F60"/>
                </a:solidFill>
                <a:latin typeface="IBM Plex Sans Thai"/>
              </a:rPr>
              <a:t>แหล่งอ้างอิงพร้อม stance badge • 20+ แหล่ง</a:t>
            </a:r>
          </a:p>
        </p:txBody>
      </p:sp>
      <p:sp>
        <p:nvSpPr>
          <p:cNvPr id="17" name="Rectangle 16"/>
          <p:cNvSpPr/>
          <p:nvPr/>
        </p:nvSpPr>
        <p:spPr>
          <a:xfrm>
            <a:off x="274320" y="3474720"/>
            <a:ext cx="3657600" cy="1600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79" y="3566160"/>
            <a:ext cx="3383280" cy="502920"/>
          </a:xfrm>
          <a:prstGeom prst="rect">
            <a:avLst/>
          </a:prstGeom>
          <a:noFill/>
        </p:spPr>
        <p:txBody>
          <a:bodyPr wrap="square">
            <a:spAutoFit/>
          </a:bodyPr>
          <a:lstStyle/>
          <a:p>
            <a:pPr algn="l"/>
            <a:r>
              <a:rPr sz="1400" b="1">
                <a:solidFill>
                  <a:srgbClr val="1E3A5F"/>
                </a:solidFill>
                <a:latin typeface="IBM Plex Sans Thai"/>
              </a:rPr>
              <a:t>🌐  FR.4 — Domain Analysis</a:t>
            </a:r>
          </a:p>
        </p:txBody>
      </p:sp>
      <p:sp>
        <p:nvSpPr>
          <p:cNvPr id="19" name="TextBox 18"/>
          <p:cNvSpPr txBox="1"/>
          <p:nvPr/>
        </p:nvSpPr>
        <p:spPr>
          <a:xfrm>
            <a:off x="411479" y="4069080"/>
            <a:ext cx="3383280" cy="822960"/>
          </a:xfrm>
          <a:prstGeom prst="rect">
            <a:avLst/>
          </a:prstGeom>
          <a:noFill/>
        </p:spPr>
        <p:txBody>
          <a:bodyPr wrap="square">
            <a:spAutoFit/>
          </a:bodyPr>
          <a:lstStyle/>
          <a:p>
            <a:pPr algn="l"/>
            <a:r>
              <a:rPr sz="1200" b="0">
                <a:solidFill>
                  <a:srgbClr val="444F60"/>
                </a:solidFill>
                <a:latin typeface="IBM Plex Sans Thai"/>
              </a:rPr>
              <a:t>อายุโดเมน, SSL, WHOIS, phishing detection</a:t>
            </a:r>
          </a:p>
        </p:txBody>
      </p:sp>
      <p:sp>
        <p:nvSpPr>
          <p:cNvPr id="20" name="Rectangle 19"/>
          <p:cNvSpPr/>
          <p:nvPr/>
        </p:nvSpPr>
        <p:spPr>
          <a:xfrm>
            <a:off x="4160520" y="3474720"/>
            <a:ext cx="3657600" cy="1600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97680" y="3566160"/>
            <a:ext cx="3383280" cy="502920"/>
          </a:xfrm>
          <a:prstGeom prst="rect">
            <a:avLst/>
          </a:prstGeom>
          <a:noFill/>
        </p:spPr>
        <p:txBody>
          <a:bodyPr wrap="square">
            <a:spAutoFit/>
          </a:bodyPr>
          <a:lstStyle/>
          <a:p>
            <a:pPr algn="l"/>
            <a:r>
              <a:rPr sz="1400" b="1">
                <a:solidFill>
                  <a:srgbClr val="1E3A5F"/>
                </a:solidFill>
                <a:latin typeface="IBM Plex Sans Thai"/>
              </a:rPr>
              <a:t>🖼️  FR.5 — AI Image Detection</a:t>
            </a:r>
          </a:p>
        </p:txBody>
      </p:sp>
      <p:sp>
        <p:nvSpPr>
          <p:cNvPr id="22" name="TextBox 21"/>
          <p:cNvSpPr txBox="1"/>
          <p:nvPr/>
        </p:nvSpPr>
        <p:spPr>
          <a:xfrm>
            <a:off x="4297680" y="4069080"/>
            <a:ext cx="3383280" cy="822960"/>
          </a:xfrm>
          <a:prstGeom prst="rect">
            <a:avLst/>
          </a:prstGeom>
          <a:noFill/>
        </p:spPr>
        <p:txBody>
          <a:bodyPr wrap="square">
            <a:spAutoFit/>
          </a:bodyPr>
          <a:lstStyle/>
          <a:p>
            <a:pPr algn="l"/>
            <a:r>
              <a:rPr sz="1200" b="0">
                <a:solidFill>
                  <a:srgbClr val="444F60"/>
                </a:solidFill>
                <a:latin typeface="IBM Plex Sans Thai"/>
              </a:rPr>
              <a:t>Gemini AI ตรวจภาพสังเคราะห์ + EXIF</a:t>
            </a:r>
          </a:p>
        </p:txBody>
      </p:sp>
      <p:sp>
        <p:nvSpPr>
          <p:cNvPr id="23" name="Rectangle 22"/>
          <p:cNvSpPr/>
          <p:nvPr/>
        </p:nvSpPr>
        <p:spPr>
          <a:xfrm>
            <a:off x="8046720" y="3474720"/>
            <a:ext cx="3657600" cy="1600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83880" y="3566160"/>
            <a:ext cx="3383280" cy="502920"/>
          </a:xfrm>
          <a:prstGeom prst="rect">
            <a:avLst/>
          </a:prstGeom>
          <a:noFill/>
        </p:spPr>
        <p:txBody>
          <a:bodyPr wrap="square">
            <a:spAutoFit/>
          </a:bodyPr>
          <a:lstStyle/>
          <a:p>
            <a:pPr algn="l"/>
            <a:r>
              <a:rPr sz="1400" b="1">
                <a:solidFill>
                  <a:srgbClr val="1E3A5F"/>
                </a:solidFill>
                <a:latin typeface="IBM Plex Sans Thai"/>
              </a:rPr>
              <a:t>📈  FR.6 — Trending</a:t>
            </a:r>
          </a:p>
        </p:txBody>
      </p:sp>
      <p:sp>
        <p:nvSpPr>
          <p:cNvPr id="25" name="TextBox 24"/>
          <p:cNvSpPr txBox="1"/>
          <p:nvPr/>
        </p:nvSpPr>
        <p:spPr>
          <a:xfrm>
            <a:off x="8183880" y="4069080"/>
            <a:ext cx="3383280" cy="822960"/>
          </a:xfrm>
          <a:prstGeom prst="rect">
            <a:avLst/>
          </a:prstGeom>
          <a:noFill/>
        </p:spPr>
        <p:txBody>
          <a:bodyPr wrap="square">
            <a:spAutoFit/>
          </a:bodyPr>
          <a:lstStyle/>
          <a:p>
            <a:pPr algn="l"/>
            <a:r>
              <a:rPr sz="1200" b="0">
                <a:solidFill>
                  <a:srgbClr val="444F60"/>
                </a:solidFill>
                <a:latin typeface="IBM Plex Sans Thai"/>
              </a:rPr>
              <a:t>คำค้นยอดนิยม (anonymized) กรองตามช่วงเวลา</a:t>
            </a:r>
          </a:p>
        </p:txBody>
      </p:sp>
      <p:sp>
        <p:nvSpPr>
          <p:cNvPr id="26" name="Rectangle 25"/>
          <p:cNvSpPr/>
          <p:nvPr/>
        </p:nvSpPr>
        <p:spPr>
          <a:xfrm>
            <a:off x="4160520" y="5257800"/>
            <a:ext cx="3657600" cy="1600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97680" y="5349240"/>
            <a:ext cx="3383280" cy="502920"/>
          </a:xfrm>
          <a:prstGeom prst="rect">
            <a:avLst/>
          </a:prstGeom>
          <a:noFill/>
        </p:spPr>
        <p:txBody>
          <a:bodyPr wrap="square">
            <a:spAutoFit/>
          </a:bodyPr>
          <a:lstStyle/>
          <a:p>
            <a:pPr algn="l"/>
            <a:r>
              <a:rPr sz="1400" b="1">
                <a:solidFill>
                  <a:srgbClr val="1E3A5F"/>
                </a:solidFill>
                <a:latin typeface="IBM Plex Sans Thai"/>
              </a:rPr>
              <a:t>🗂️  FR.7 — History</a:t>
            </a:r>
          </a:p>
        </p:txBody>
      </p:sp>
      <p:sp>
        <p:nvSpPr>
          <p:cNvPr id="28" name="TextBox 27"/>
          <p:cNvSpPr txBox="1"/>
          <p:nvPr/>
        </p:nvSpPr>
        <p:spPr>
          <a:xfrm>
            <a:off x="4297680" y="5852160"/>
            <a:ext cx="3383280" cy="822960"/>
          </a:xfrm>
          <a:prstGeom prst="rect">
            <a:avLst/>
          </a:prstGeom>
          <a:noFill/>
        </p:spPr>
        <p:txBody>
          <a:bodyPr wrap="square">
            <a:spAutoFit/>
          </a:bodyPr>
          <a:lstStyle/>
          <a:p>
            <a:pPr algn="l"/>
            <a:r>
              <a:rPr sz="1200" b="0">
                <a:solidFill>
                  <a:srgbClr val="444F60"/>
                </a:solidFill>
                <a:latin typeface="IBM Plex Sans Thai"/>
              </a:rPr>
              <a:t>ดูประวัติย้อนหลัง • export/import JSON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IBM Plex Sans Thai"/>
              </a:rPr>
              <a:t>Demo: หน้าหลัก (Home)</a:t>
            </a:r>
          </a:p>
        </p:txBody>
      </p:sp>
      <p:sp>
        <p:nvSpPr>
          <p:cNvPr id="5" name="TextBox 4"/>
          <p:cNvSpPr txBox="1"/>
          <p:nvPr/>
        </p:nvSpPr>
        <p:spPr>
          <a:xfrm>
            <a:off x="365760" y="868680"/>
            <a:ext cx="11430000" cy="502920"/>
          </a:xfrm>
          <a:prstGeom prst="rect">
            <a:avLst/>
          </a:prstGeom>
          <a:noFill/>
        </p:spPr>
        <p:txBody>
          <a:bodyPr wrap="square">
            <a:spAutoFit/>
          </a:bodyPr>
          <a:lstStyle/>
          <a:p>
            <a:pPr algn="l"/>
            <a:r>
              <a:rPr sz="1400" b="0">
                <a:solidFill>
                  <a:srgbClr val="DBEAFE"/>
                </a:solidFill>
                <a:latin typeface="IBM Plex Sans Thai"/>
              </a:rPr>
              <a:t>/ — hero banner + input card</a:t>
            </a:r>
          </a:p>
        </p:txBody>
      </p:sp>
      <p:sp>
        <p:nvSpPr>
          <p:cNvPr id="6" name="Rectangle 5"/>
          <p:cNvSpPr/>
          <p:nvPr/>
        </p:nvSpPr>
        <p:spPr>
          <a:xfrm>
            <a:off x="0" y="146304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37960"/>
            <a:ext cx="11612880" cy="274320"/>
          </a:xfrm>
          <a:prstGeom prst="rect">
            <a:avLst/>
          </a:prstGeom>
          <a:noFill/>
        </p:spPr>
        <p:txBody>
          <a:bodyPr wrap="square">
            <a:spAutoFit/>
          </a:bodyPr>
          <a:lstStyle/>
          <a:p>
            <a:pPr algn="r"/>
            <a:r>
              <a:rPr sz="1000" b="0">
                <a:solidFill>
                  <a:srgbClr val="AAAAAA"/>
                </a:solidFill>
                <a:latin typeface="IBM Plex Sans Thai"/>
              </a:rPr>
              <a:t>ชัวร์ก่อนแชร์  •  5/18</a:t>
            </a:r>
          </a:p>
        </p:txBody>
      </p:sp>
      <p:sp>
        <p:nvSpPr>
          <p:cNvPr id="8" name="Rectangle 7"/>
          <p:cNvSpPr/>
          <p:nvPr/>
        </p:nvSpPr>
        <p:spPr>
          <a:xfrm>
            <a:off x="365760" y="1600200"/>
            <a:ext cx="11430000" cy="4983480"/>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600200"/>
            <a:ext cx="11430000" cy="1645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37360"/>
            <a:ext cx="10972800" cy="548640"/>
          </a:xfrm>
          <a:prstGeom prst="rect">
            <a:avLst/>
          </a:prstGeom>
          <a:noFill/>
        </p:spPr>
        <p:txBody>
          <a:bodyPr wrap="square">
            <a:spAutoFit/>
          </a:bodyPr>
          <a:lstStyle/>
          <a:p>
            <a:pPr algn="l"/>
            <a:r>
              <a:rPr sz="1600" b="1">
                <a:solidFill>
                  <a:srgbClr val="FFFFFF"/>
                </a:solidFill>
                <a:latin typeface="IBM Plex Sans Thai"/>
              </a:rPr>
              <a:t>ชัวร์ก่อนแชร์ — ตรวจสอบข้อมูลก่อนส่งต่อ</a:t>
            </a:r>
          </a:p>
        </p:txBody>
      </p:sp>
      <p:sp>
        <p:nvSpPr>
          <p:cNvPr id="11" name="TextBox 10"/>
          <p:cNvSpPr txBox="1"/>
          <p:nvPr/>
        </p:nvSpPr>
        <p:spPr>
          <a:xfrm>
            <a:off x="640080" y="2286000"/>
            <a:ext cx="10972800" cy="365760"/>
          </a:xfrm>
          <a:prstGeom prst="rect">
            <a:avLst/>
          </a:prstGeom>
          <a:noFill/>
        </p:spPr>
        <p:txBody>
          <a:bodyPr wrap="square">
            <a:spAutoFit/>
          </a:bodyPr>
          <a:lstStyle/>
          <a:p>
            <a:pPr algn="l"/>
            <a:r>
              <a:rPr sz="1100" b="0">
                <a:solidFill>
                  <a:srgbClr val="DBEAFE"/>
                </a:solidFill>
                <a:latin typeface="IBM Plex Sans Thai"/>
              </a:rPr>
              <a:t>Hero Banner  •  IBM Plex Sans Thai  •  Blue gradient (#1E3A5F → #245CAD)</a:t>
            </a:r>
          </a:p>
        </p:txBody>
      </p:sp>
      <p:sp>
        <p:nvSpPr>
          <p:cNvPr id="12" name="Rectangle 11"/>
          <p:cNvSpPr/>
          <p:nvPr/>
        </p:nvSpPr>
        <p:spPr>
          <a:xfrm>
            <a:off x="502920" y="3337560"/>
            <a:ext cx="3474720" cy="59436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383280"/>
            <a:ext cx="3291840" cy="502920"/>
          </a:xfrm>
          <a:prstGeom prst="rect">
            <a:avLst/>
          </a:prstGeom>
          <a:noFill/>
        </p:spPr>
        <p:txBody>
          <a:bodyPr wrap="square">
            <a:spAutoFit/>
          </a:bodyPr>
          <a:lstStyle/>
          <a:p>
            <a:pPr algn="ctr"/>
            <a:r>
              <a:rPr sz="1300" b="0">
                <a:solidFill>
                  <a:srgbClr val="1E3A5F"/>
                </a:solidFill>
                <a:latin typeface="IBM Plex Sans Thai"/>
              </a:rPr>
              <a:t>🔍 1,234 การตรวจสอบวันนี้</a:t>
            </a:r>
          </a:p>
        </p:txBody>
      </p:sp>
      <p:sp>
        <p:nvSpPr>
          <p:cNvPr id="14" name="Rectangle 13"/>
          <p:cNvSpPr/>
          <p:nvPr/>
        </p:nvSpPr>
        <p:spPr>
          <a:xfrm>
            <a:off x="4206240" y="3337560"/>
            <a:ext cx="3474720" cy="59436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79" y="3383280"/>
            <a:ext cx="3291840" cy="502920"/>
          </a:xfrm>
          <a:prstGeom prst="rect">
            <a:avLst/>
          </a:prstGeom>
          <a:noFill/>
        </p:spPr>
        <p:txBody>
          <a:bodyPr wrap="square">
            <a:spAutoFit/>
          </a:bodyPr>
          <a:lstStyle/>
          <a:p>
            <a:pPr algn="ctr"/>
            <a:r>
              <a:rPr sz="1300" b="0">
                <a:solidFill>
                  <a:srgbClr val="1E3A5F"/>
                </a:solidFill>
                <a:latin typeface="IBM Plex Sans Thai"/>
              </a:rPr>
              <a:t>📰 567 ข่าวปลอมถูกตรวจจับ</a:t>
            </a:r>
          </a:p>
        </p:txBody>
      </p:sp>
      <p:sp>
        <p:nvSpPr>
          <p:cNvPr id="16" name="Rectangle 15"/>
          <p:cNvSpPr/>
          <p:nvPr/>
        </p:nvSpPr>
        <p:spPr>
          <a:xfrm>
            <a:off x="7909559" y="3337560"/>
            <a:ext cx="3474720" cy="59436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00999" y="3383280"/>
            <a:ext cx="3291840" cy="502920"/>
          </a:xfrm>
          <a:prstGeom prst="rect">
            <a:avLst/>
          </a:prstGeom>
          <a:noFill/>
        </p:spPr>
        <p:txBody>
          <a:bodyPr wrap="square">
            <a:spAutoFit/>
          </a:bodyPr>
          <a:lstStyle/>
          <a:p>
            <a:pPr algn="ctr"/>
            <a:r>
              <a:rPr sz="1300" b="0">
                <a:solidFill>
                  <a:srgbClr val="1E3A5F"/>
                </a:solidFill>
                <a:latin typeface="IBM Plex Sans Thai"/>
              </a:rPr>
              <a:t>✅ 890 ข้อมูลยืนยันแล้ว</a:t>
            </a:r>
          </a:p>
        </p:txBody>
      </p:sp>
      <p:sp>
        <p:nvSpPr>
          <p:cNvPr id="18" name="Rectangle 17"/>
          <p:cNvSpPr/>
          <p:nvPr/>
        </p:nvSpPr>
        <p:spPr>
          <a:xfrm>
            <a:off x="502920" y="4041648"/>
            <a:ext cx="11155680" cy="2331720"/>
          </a:xfrm>
          <a:prstGeom prst="rect">
            <a:avLst/>
          </a:prstGeom>
          <a:solidFill>
            <a:srgbClr val="F0F4FF"/>
          </a:solidFill>
          <a:ln w="1270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114800"/>
            <a:ext cx="10698480" cy="502920"/>
          </a:xfrm>
          <a:prstGeom prst="rect">
            <a:avLst/>
          </a:prstGeom>
          <a:noFill/>
        </p:spPr>
        <p:txBody>
          <a:bodyPr wrap="square">
            <a:spAutoFit/>
          </a:bodyPr>
          <a:lstStyle/>
          <a:p>
            <a:pPr algn="l"/>
            <a:r>
              <a:rPr sz="1400" b="1">
                <a:solidFill>
                  <a:srgbClr val="245CAD"/>
                </a:solidFill>
                <a:latin typeface="IBM Plex Sans Thai"/>
              </a:rPr>
              <a:t>📝 ข้อความ      🔗 URL      🖼️ รูปภาพ</a:t>
            </a:r>
          </a:p>
        </p:txBody>
      </p:sp>
      <p:sp>
        <p:nvSpPr>
          <p:cNvPr id="20" name="Rectangle 19"/>
          <p:cNvSpPr/>
          <p:nvPr/>
        </p:nvSpPr>
        <p:spPr>
          <a:xfrm>
            <a:off x="640080" y="4663440"/>
            <a:ext cx="10058400" cy="777240"/>
          </a:xfrm>
          <a:prstGeom prst="rect">
            <a:avLst/>
          </a:prstGeom>
          <a:solidFill>
            <a:srgbClr val="FFFFFF"/>
          </a:solidFill>
          <a:ln w="12700">
            <a:solidFill>
              <a:srgbClr val="BBC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754880"/>
            <a:ext cx="9784080" cy="548640"/>
          </a:xfrm>
          <a:prstGeom prst="rect">
            <a:avLst/>
          </a:prstGeom>
          <a:noFill/>
        </p:spPr>
        <p:txBody>
          <a:bodyPr wrap="square">
            <a:spAutoFit/>
          </a:bodyPr>
          <a:lstStyle/>
          <a:p>
            <a:pPr algn="l"/>
            <a:r>
              <a:rPr sz="1300" b="0">
                <a:solidFill>
                  <a:srgbClr val="AAAAAA"/>
                </a:solidFill>
                <a:latin typeface="IBM Plex Sans Thai"/>
              </a:rPr>
              <a:t>พิมพ์ข้อความที่ต้องการตรวจสอบ...</a:t>
            </a:r>
          </a:p>
        </p:txBody>
      </p:sp>
      <p:sp>
        <p:nvSpPr>
          <p:cNvPr id="22" name="Rectangle 21"/>
          <p:cNvSpPr/>
          <p:nvPr/>
        </p:nvSpPr>
        <p:spPr>
          <a:xfrm>
            <a:off x="9966960" y="4663440"/>
            <a:ext cx="1463040" cy="777240"/>
          </a:xfrm>
          <a:prstGeom prst="rect">
            <a:avLst/>
          </a:prstGeom>
          <a:solidFill>
            <a:srgbClr val="24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66960" y="4754880"/>
            <a:ext cx="1463040" cy="594360"/>
          </a:xfrm>
          <a:prstGeom prst="rect">
            <a:avLst/>
          </a:prstGeom>
          <a:noFill/>
        </p:spPr>
        <p:txBody>
          <a:bodyPr wrap="square">
            <a:spAutoFit/>
          </a:bodyPr>
          <a:lstStyle/>
          <a:p>
            <a:pPr algn="ctr"/>
            <a:r>
              <a:rPr sz="1300" b="1">
                <a:solidFill>
                  <a:srgbClr val="FFFFFF"/>
                </a:solidFill>
                <a:latin typeface="IBM Plex Sans Thai"/>
              </a:rPr>
              <a:t>ตรวจสอบ</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IBM Plex Sans Thai"/>
              </a:rPr>
              <a:t>Demo: หน้าผลลัพธ์ (Result)</a:t>
            </a:r>
          </a:p>
        </p:txBody>
      </p:sp>
      <p:sp>
        <p:nvSpPr>
          <p:cNvPr id="5" name="TextBox 4"/>
          <p:cNvSpPr txBox="1"/>
          <p:nvPr/>
        </p:nvSpPr>
        <p:spPr>
          <a:xfrm>
            <a:off x="365760" y="868680"/>
            <a:ext cx="11430000" cy="502920"/>
          </a:xfrm>
          <a:prstGeom prst="rect">
            <a:avLst/>
          </a:prstGeom>
          <a:noFill/>
        </p:spPr>
        <p:txBody>
          <a:bodyPr wrap="square">
            <a:spAutoFit/>
          </a:bodyPr>
          <a:lstStyle/>
          <a:p>
            <a:pPr algn="l"/>
            <a:r>
              <a:rPr sz="1400" b="0">
                <a:solidFill>
                  <a:srgbClr val="DBEAFE"/>
                </a:solidFill>
                <a:latin typeface="IBM Plex Sans Thai"/>
              </a:rPr>
              <a:t>/result/[id]</a:t>
            </a:r>
          </a:p>
        </p:txBody>
      </p:sp>
      <p:sp>
        <p:nvSpPr>
          <p:cNvPr id="6" name="Rectangle 5"/>
          <p:cNvSpPr/>
          <p:nvPr/>
        </p:nvSpPr>
        <p:spPr>
          <a:xfrm>
            <a:off x="0" y="146304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37960"/>
            <a:ext cx="11612880" cy="274320"/>
          </a:xfrm>
          <a:prstGeom prst="rect">
            <a:avLst/>
          </a:prstGeom>
          <a:noFill/>
        </p:spPr>
        <p:txBody>
          <a:bodyPr wrap="square">
            <a:spAutoFit/>
          </a:bodyPr>
          <a:lstStyle/>
          <a:p>
            <a:pPr algn="r"/>
            <a:r>
              <a:rPr sz="1000" b="0">
                <a:solidFill>
                  <a:srgbClr val="AAAAAA"/>
                </a:solidFill>
                <a:latin typeface="IBM Plex Sans Thai"/>
              </a:rPr>
              <a:t>ชัวร์ก่อนแชร์  •  6/18</a:t>
            </a:r>
          </a:p>
        </p:txBody>
      </p:sp>
      <p:sp>
        <p:nvSpPr>
          <p:cNvPr id="8" name="Rectangle 7"/>
          <p:cNvSpPr/>
          <p:nvPr/>
        </p:nvSpPr>
        <p:spPr>
          <a:xfrm>
            <a:off x="274320" y="1691640"/>
            <a:ext cx="3749039" cy="205740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691640"/>
            <a:ext cx="3749039" cy="3200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728216"/>
            <a:ext cx="3566160" cy="256032"/>
          </a:xfrm>
          <a:prstGeom prst="rect">
            <a:avLst/>
          </a:prstGeom>
          <a:noFill/>
        </p:spPr>
        <p:txBody>
          <a:bodyPr wrap="square">
            <a:spAutoFit/>
          </a:bodyPr>
          <a:lstStyle/>
          <a:p>
            <a:pPr algn="l"/>
            <a:r>
              <a:rPr sz="1200" b="1">
                <a:solidFill>
                  <a:srgbClr val="FFFFFF"/>
                </a:solidFill>
                <a:latin typeface="IBM Plex Sans Thai"/>
              </a:rPr>
              <a:t>Verdict Card</a:t>
            </a:r>
          </a:p>
        </p:txBody>
      </p:sp>
      <p:sp>
        <p:nvSpPr>
          <p:cNvPr id="11" name="TextBox 10"/>
          <p:cNvSpPr txBox="1"/>
          <p:nvPr/>
        </p:nvSpPr>
        <p:spPr>
          <a:xfrm>
            <a:off x="365760" y="2103120"/>
            <a:ext cx="3566160" cy="1508760"/>
          </a:xfrm>
          <a:prstGeom prst="rect">
            <a:avLst/>
          </a:prstGeom>
          <a:noFill/>
        </p:spPr>
        <p:txBody>
          <a:bodyPr wrap="square">
            <a:spAutoFit/>
          </a:bodyPr>
          <a:lstStyle/>
          <a:p>
            <a:pPr algn="l"/>
            <a:r>
              <a:rPr sz="1200" b="0">
                <a:solidFill>
                  <a:srgbClr val="444F60"/>
                </a:solidFill>
                <a:latin typeface="IBM Plex Sans Thai"/>
              </a:rPr>
              <a:t>Score circle 72 + 5-segment bar
"น่าสงสัย" • confidence 84%</a:t>
            </a:r>
          </a:p>
        </p:txBody>
      </p:sp>
      <p:sp>
        <p:nvSpPr>
          <p:cNvPr id="12" name="Rectangle 11"/>
          <p:cNvSpPr/>
          <p:nvPr/>
        </p:nvSpPr>
        <p:spPr>
          <a:xfrm>
            <a:off x="4251959" y="1691640"/>
            <a:ext cx="3749039" cy="205740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51959" y="1691640"/>
            <a:ext cx="3749039" cy="320040"/>
          </a:xfrm>
          <a:prstGeom prst="rect">
            <a:avLst/>
          </a:prstGeom>
          <a:solidFill>
            <a:srgbClr val="24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3399" y="1728216"/>
            <a:ext cx="3566160" cy="256032"/>
          </a:xfrm>
          <a:prstGeom prst="rect">
            <a:avLst/>
          </a:prstGeom>
          <a:noFill/>
        </p:spPr>
        <p:txBody>
          <a:bodyPr wrap="square">
            <a:spAutoFit/>
          </a:bodyPr>
          <a:lstStyle/>
          <a:p>
            <a:pPr algn="l"/>
            <a:r>
              <a:rPr sz="1200" b="1">
                <a:solidFill>
                  <a:srgbClr val="FFFFFF"/>
                </a:solidFill>
                <a:latin typeface="IBM Plex Sans Thai"/>
              </a:rPr>
              <a:t>Evidence Stats</a:t>
            </a:r>
          </a:p>
        </p:txBody>
      </p:sp>
      <p:sp>
        <p:nvSpPr>
          <p:cNvPr id="15" name="TextBox 14"/>
          <p:cNvSpPr txBox="1"/>
          <p:nvPr/>
        </p:nvSpPr>
        <p:spPr>
          <a:xfrm>
            <a:off x="4343399" y="2103120"/>
            <a:ext cx="3566160" cy="1508760"/>
          </a:xfrm>
          <a:prstGeom prst="rect">
            <a:avLst/>
          </a:prstGeom>
          <a:noFill/>
        </p:spPr>
        <p:txBody>
          <a:bodyPr wrap="square">
            <a:spAutoFit/>
          </a:bodyPr>
          <a:lstStyle/>
          <a:p>
            <a:pPr algn="l"/>
            <a:r>
              <a:rPr sz="1200" b="0">
                <a:solidFill>
                  <a:srgbClr val="444F60"/>
                </a:solidFill>
                <a:latin typeface="IBM Plex Sans Thai"/>
              </a:rPr>
              <a:t>3 cards: แหล่งสนับสนุน / คัดค้าน / ความเสี่ยงโดเมน</a:t>
            </a:r>
          </a:p>
        </p:txBody>
      </p:sp>
      <p:sp>
        <p:nvSpPr>
          <p:cNvPr id="16" name="Rectangle 15"/>
          <p:cNvSpPr/>
          <p:nvPr/>
        </p:nvSpPr>
        <p:spPr>
          <a:xfrm>
            <a:off x="8229600" y="1691640"/>
            <a:ext cx="3749039" cy="205740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1691640"/>
            <a:ext cx="3749039" cy="32004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1728216"/>
            <a:ext cx="3566160" cy="256032"/>
          </a:xfrm>
          <a:prstGeom prst="rect">
            <a:avLst/>
          </a:prstGeom>
          <a:noFill/>
        </p:spPr>
        <p:txBody>
          <a:bodyPr wrap="square">
            <a:spAutoFit/>
          </a:bodyPr>
          <a:lstStyle/>
          <a:p>
            <a:pPr algn="l"/>
            <a:r>
              <a:rPr sz="1200" b="1">
                <a:solidFill>
                  <a:srgbClr val="FFFFFF"/>
                </a:solidFill>
                <a:latin typeface="IBM Plex Sans Thai"/>
              </a:rPr>
              <a:t>Reasoning</a:t>
            </a:r>
          </a:p>
        </p:txBody>
      </p:sp>
      <p:sp>
        <p:nvSpPr>
          <p:cNvPr id="19" name="TextBox 18"/>
          <p:cNvSpPr txBox="1"/>
          <p:nvPr/>
        </p:nvSpPr>
        <p:spPr>
          <a:xfrm>
            <a:off x="8321040" y="2103120"/>
            <a:ext cx="3566160" cy="1508760"/>
          </a:xfrm>
          <a:prstGeom prst="rect">
            <a:avLst/>
          </a:prstGeom>
          <a:noFill/>
        </p:spPr>
        <p:txBody>
          <a:bodyPr wrap="square">
            <a:spAutoFit/>
          </a:bodyPr>
          <a:lstStyle/>
          <a:p>
            <a:pPr algn="l"/>
            <a:r>
              <a:rPr sz="1200" b="0">
                <a:solidFill>
                  <a:srgbClr val="444F60"/>
                </a:solidFill>
                <a:latin typeface="IBM Plex Sans Thai"/>
              </a:rPr>
              <a:t>Accordion ภาษาไทย • AI-generated bullets</a:t>
            </a:r>
          </a:p>
        </p:txBody>
      </p:sp>
      <p:sp>
        <p:nvSpPr>
          <p:cNvPr id="20" name="Rectangle 19"/>
          <p:cNvSpPr/>
          <p:nvPr/>
        </p:nvSpPr>
        <p:spPr>
          <a:xfrm>
            <a:off x="274320" y="3977639"/>
            <a:ext cx="3749039" cy="205740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 y="3977639"/>
            <a:ext cx="3749039" cy="320040"/>
          </a:xfrm>
          <a:prstGeom prst="rect">
            <a:avLst/>
          </a:prstGeom>
          <a:solidFill>
            <a:srgbClr val="65A3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4014215"/>
            <a:ext cx="3566160" cy="256032"/>
          </a:xfrm>
          <a:prstGeom prst="rect">
            <a:avLst/>
          </a:prstGeom>
          <a:noFill/>
        </p:spPr>
        <p:txBody>
          <a:bodyPr wrap="square">
            <a:spAutoFit/>
          </a:bodyPr>
          <a:lstStyle/>
          <a:p>
            <a:pPr algn="l"/>
            <a:r>
              <a:rPr sz="1200" b="1">
                <a:solidFill>
                  <a:srgbClr val="FFFFFF"/>
                </a:solidFill>
                <a:latin typeface="IBM Plex Sans Thai"/>
              </a:rPr>
              <a:t>Reference List</a:t>
            </a:r>
          </a:p>
        </p:txBody>
      </p:sp>
      <p:sp>
        <p:nvSpPr>
          <p:cNvPr id="23" name="TextBox 22"/>
          <p:cNvSpPr txBox="1"/>
          <p:nvPr/>
        </p:nvSpPr>
        <p:spPr>
          <a:xfrm>
            <a:off x="365760" y="4389120"/>
            <a:ext cx="3566160" cy="1508760"/>
          </a:xfrm>
          <a:prstGeom prst="rect">
            <a:avLst/>
          </a:prstGeom>
          <a:noFill/>
        </p:spPr>
        <p:txBody>
          <a:bodyPr wrap="square">
            <a:spAutoFit/>
          </a:bodyPr>
          <a:lstStyle/>
          <a:p>
            <a:pPr algn="l"/>
            <a:r>
              <a:rPr sz="1200" b="0">
                <a:solidFill>
                  <a:srgbClr val="444F60"/>
                </a:solidFill>
                <a:latin typeface="IBM Plex Sans Thai"/>
              </a:rPr>
              <a:t>Stance badges: ✅สนับสนุน / ❌คัดค้าน / ❓ไม่แน่ใจ</a:t>
            </a:r>
          </a:p>
        </p:txBody>
      </p:sp>
      <p:sp>
        <p:nvSpPr>
          <p:cNvPr id="24" name="Rectangle 23"/>
          <p:cNvSpPr/>
          <p:nvPr/>
        </p:nvSpPr>
        <p:spPr>
          <a:xfrm>
            <a:off x="4251959" y="3977639"/>
            <a:ext cx="3749039" cy="205740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51959" y="3977639"/>
            <a:ext cx="3749039" cy="320040"/>
          </a:xfrm>
          <a:prstGeom prst="rect">
            <a:avLst/>
          </a:prstGeom>
          <a:solidFill>
            <a:srgbClr val="444F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43399" y="4014215"/>
            <a:ext cx="3566160" cy="256032"/>
          </a:xfrm>
          <a:prstGeom prst="rect">
            <a:avLst/>
          </a:prstGeom>
          <a:noFill/>
        </p:spPr>
        <p:txBody>
          <a:bodyPr wrap="square">
            <a:spAutoFit/>
          </a:bodyPr>
          <a:lstStyle/>
          <a:p>
            <a:pPr algn="l"/>
            <a:r>
              <a:rPr sz="1200" b="1">
                <a:solidFill>
                  <a:srgbClr val="FFFFFF"/>
                </a:solidFill>
                <a:latin typeface="IBM Plex Sans Thai"/>
              </a:rPr>
              <a:t>Source Panel</a:t>
            </a:r>
          </a:p>
        </p:txBody>
      </p:sp>
      <p:sp>
        <p:nvSpPr>
          <p:cNvPr id="27" name="TextBox 26"/>
          <p:cNvSpPr txBox="1"/>
          <p:nvPr/>
        </p:nvSpPr>
        <p:spPr>
          <a:xfrm>
            <a:off x="4343399" y="4389120"/>
            <a:ext cx="3566160" cy="1508760"/>
          </a:xfrm>
          <a:prstGeom prst="rect">
            <a:avLst/>
          </a:prstGeom>
          <a:noFill/>
        </p:spPr>
        <p:txBody>
          <a:bodyPr wrap="square">
            <a:spAutoFit/>
          </a:bodyPr>
          <a:lstStyle/>
          <a:p>
            <a:pPr algn="l"/>
            <a:r>
              <a:rPr sz="1200" b="0">
                <a:solidFill>
                  <a:srgbClr val="444F60"/>
                </a:solidFill>
                <a:latin typeface="IBM Plex Sans Thai"/>
              </a:rPr>
              <a:t>Domain age, SSL, WHOIS (URL เท่านั้น)</a:t>
            </a:r>
          </a:p>
        </p:txBody>
      </p:sp>
      <p:sp>
        <p:nvSpPr>
          <p:cNvPr id="28" name="Rectangle 27"/>
          <p:cNvSpPr/>
          <p:nvPr/>
        </p:nvSpPr>
        <p:spPr>
          <a:xfrm>
            <a:off x="8229600" y="3977639"/>
            <a:ext cx="3749039" cy="205740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29600" y="3977639"/>
            <a:ext cx="3749039" cy="32004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0" y="4014215"/>
            <a:ext cx="3566160" cy="256032"/>
          </a:xfrm>
          <a:prstGeom prst="rect">
            <a:avLst/>
          </a:prstGeom>
          <a:noFill/>
        </p:spPr>
        <p:txBody>
          <a:bodyPr wrap="square">
            <a:spAutoFit/>
          </a:bodyPr>
          <a:lstStyle/>
          <a:p>
            <a:pPr algn="l"/>
            <a:r>
              <a:rPr sz="1200" b="1">
                <a:solidFill>
                  <a:srgbClr val="FFFFFF"/>
                </a:solidFill>
                <a:latin typeface="IBM Plex Sans Thai"/>
              </a:rPr>
              <a:t>Action Bar</a:t>
            </a:r>
          </a:p>
        </p:txBody>
      </p:sp>
      <p:sp>
        <p:nvSpPr>
          <p:cNvPr id="31" name="TextBox 30"/>
          <p:cNvSpPr txBox="1"/>
          <p:nvPr/>
        </p:nvSpPr>
        <p:spPr>
          <a:xfrm>
            <a:off x="8321040" y="4389120"/>
            <a:ext cx="3566160" cy="1508760"/>
          </a:xfrm>
          <a:prstGeom prst="rect">
            <a:avLst/>
          </a:prstGeom>
          <a:noFill/>
        </p:spPr>
        <p:txBody>
          <a:bodyPr wrap="square">
            <a:spAutoFit/>
          </a:bodyPr>
          <a:lstStyle/>
          <a:p>
            <a:pPr algn="l"/>
            <a:r>
              <a:rPr sz="1200" b="0">
                <a:solidFill>
                  <a:srgbClr val="444F60"/>
                </a:solidFill>
                <a:latin typeface="IBM Plex Sans Thai"/>
              </a:rPr>
              <a:t>แชร์ผล • รายงาน • ตรวจสอบใหม่</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IBM Plex Sans Thai"/>
              </a:rPr>
              <a:t>Demo: Trending &amp; History</a:t>
            </a:r>
          </a:p>
        </p:txBody>
      </p:sp>
      <p:sp>
        <p:nvSpPr>
          <p:cNvPr id="5" name="TextBox 4"/>
          <p:cNvSpPr txBox="1"/>
          <p:nvPr/>
        </p:nvSpPr>
        <p:spPr>
          <a:xfrm>
            <a:off x="365760" y="868680"/>
            <a:ext cx="11430000" cy="502920"/>
          </a:xfrm>
          <a:prstGeom prst="rect">
            <a:avLst/>
          </a:prstGeom>
          <a:noFill/>
        </p:spPr>
        <p:txBody>
          <a:bodyPr wrap="square">
            <a:spAutoFit/>
          </a:bodyPr>
          <a:lstStyle/>
          <a:p>
            <a:pPr algn="l"/>
            <a:r>
              <a:rPr sz="1400" b="0">
                <a:solidFill>
                  <a:srgbClr val="DBEAFE"/>
                </a:solidFill>
                <a:latin typeface="IBM Plex Sans Thai"/>
              </a:rPr>
              <a:t>/trending  •  /history</a:t>
            </a:r>
          </a:p>
        </p:txBody>
      </p:sp>
      <p:sp>
        <p:nvSpPr>
          <p:cNvPr id="6" name="Rectangle 5"/>
          <p:cNvSpPr/>
          <p:nvPr/>
        </p:nvSpPr>
        <p:spPr>
          <a:xfrm>
            <a:off x="0" y="146304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37960"/>
            <a:ext cx="11612880" cy="274320"/>
          </a:xfrm>
          <a:prstGeom prst="rect">
            <a:avLst/>
          </a:prstGeom>
          <a:noFill/>
        </p:spPr>
        <p:txBody>
          <a:bodyPr wrap="square">
            <a:spAutoFit/>
          </a:bodyPr>
          <a:lstStyle/>
          <a:p>
            <a:pPr algn="r"/>
            <a:r>
              <a:rPr sz="1000" b="0">
                <a:solidFill>
                  <a:srgbClr val="AAAAAA"/>
                </a:solidFill>
                <a:latin typeface="IBM Plex Sans Thai"/>
              </a:rPr>
              <a:t>ชัวร์ก่อนแชร์  •  7/18</a:t>
            </a:r>
          </a:p>
        </p:txBody>
      </p:sp>
      <p:sp>
        <p:nvSpPr>
          <p:cNvPr id="8" name="Rectangle 7"/>
          <p:cNvSpPr/>
          <p:nvPr/>
        </p:nvSpPr>
        <p:spPr>
          <a:xfrm>
            <a:off x="274320" y="1691640"/>
            <a:ext cx="5577840" cy="484632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691640"/>
            <a:ext cx="5577840" cy="457200"/>
          </a:xfrm>
          <a:prstGeom prst="rect">
            <a:avLst/>
          </a:prstGeom>
          <a:solidFill>
            <a:srgbClr val="24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737360"/>
            <a:ext cx="5303520" cy="365760"/>
          </a:xfrm>
          <a:prstGeom prst="rect">
            <a:avLst/>
          </a:prstGeom>
          <a:noFill/>
        </p:spPr>
        <p:txBody>
          <a:bodyPr wrap="square">
            <a:spAutoFit/>
          </a:bodyPr>
          <a:lstStyle/>
          <a:p>
            <a:pPr algn="l"/>
            <a:r>
              <a:rPr sz="1400" b="1">
                <a:solidFill>
                  <a:srgbClr val="FFFFFF"/>
                </a:solidFill>
                <a:latin typeface="IBM Plex Sans Thai"/>
              </a:rPr>
              <a:t>📈  Trending Searches</a:t>
            </a:r>
          </a:p>
        </p:txBody>
      </p:sp>
      <p:sp>
        <p:nvSpPr>
          <p:cNvPr id="11" name="Rectangle 10"/>
          <p:cNvSpPr/>
          <p:nvPr/>
        </p:nvSpPr>
        <p:spPr>
          <a:xfrm>
            <a:off x="411480" y="2286000"/>
            <a:ext cx="5303520" cy="548640"/>
          </a:xfrm>
          <a:prstGeom prst="rect">
            <a:avLst/>
          </a:prstGeom>
          <a:solidFill>
            <a:srgbClr val="F8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359152"/>
            <a:ext cx="5120640" cy="411480"/>
          </a:xfrm>
          <a:prstGeom prst="rect">
            <a:avLst/>
          </a:prstGeom>
          <a:noFill/>
        </p:spPr>
        <p:txBody>
          <a:bodyPr wrap="square">
            <a:spAutoFit/>
          </a:bodyPr>
          <a:lstStyle/>
          <a:p>
            <a:pPr algn="l"/>
            <a:r>
              <a:rPr sz="1200" b="0">
                <a:solidFill>
                  <a:srgbClr val="444F60"/>
                </a:solidFill>
                <a:latin typeface="IBM Plex Sans Thai"/>
              </a:rPr>
              <a:t>#1  วัคซีน COVID อันตราย    🟠 น่าสงสัย</a:t>
            </a:r>
          </a:p>
        </p:txBody>
      </p:sp>
      <p:sp>
        <p:nvSpPr>
          <p:cNvPr id="13" name="Rectangle 12"/>
          <p:cNvSpPr/>
          <p:nvPr/>
        </p:nvSpPr>
        <p:spPr>
          <a:xfrm>
            <a:off x="411480" y="2926080"/>
            <a:ext cx="5303520" cy="548640"/>
          </a:xfrm>
          <a:prstGeom prst="rect">
            <a:avLst/>
          </a:prstGeom>
          <a:solidFill>
            <a:srgbClr val="F8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999232"/>
            <a:ext cx="5120640" cy="411480"/>
          </a:xfrm>
          <a:prstGeom prst="rect">
            <a:avLst/>
          </a:prstGeom>
          <a:noFill/>
        </p:spPr>
        <p:txBody>
          <a:bodyPr wrap="square">
            <a:spAutoFit/>
          </a:bodyPr>
          <a:lstStyle/>
          <a:p>
            <a:pPr algn="l"/>
            <a:r>
              <a:rPr sz="1200" b="0">
                <a:solidFill>
                  <a:srgbClr val="444F60"/>
                </a:solidFill>
                <a:latin typeface="IBM Plex Sans Thai"/>
              </a:rPr>
              <a:t>#2  นายก ลาออก              🔴 อันตราย</a:t>
            </a:r>
          </a:p>
        </p:txBody>
      </p:sp>
      <p:sp>
        <p:nvSpPr>
          <p:cNvPr id="15" name="Rectangle 14"/>
          <p:cNvSpPr/>
          <p:nvPr/>
        </p:nvSpPr>
        <p:spPr>
          <a:xfrm>
            <a:off x="411480" y="3566160"/>
            <a:ext cx="5303520" cy="548640"/>
          </a:xfrm>
          <a:prstGeom prst="rect">
            <a:avLst/>
          </a:prstGeom>
          <a:solidFill>
            <a:srgbClr val="F8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639312"/>
            <a:ext cx="5120640" cy="411480"/>
          </a:xfrm>
          <a:prstGeom prst="rect">
            <a:avLst/>
          </a:prstGeom>
          <a:noFill/>
        </p:spPr>
        <p:txBody>
          <a:bodyPr wrap="square">
            <a:spAutoFit/>
          </a:bodyPr>
          <a:lstStyle/>
          <a:p>
            <a:pPr algn="l"/>
            <a:r>
              <a:rPr sz="1200" b="0">
                <a:solidFill>
                  <a:srgbClr val="444F60"/>
                </a:solidFill>
                <a:latin typeface="IBM Plex Sans Thai"/>
              </a:rPr>
              <a:t>#3  ราคาน้ำมันพุ่ง 50%       🟡 ไม่แน่ใจ</a:t>
            </a:r>
          </a:p>
        </p:txBody>
      </p:sp>
      <p:sp>
        <p:nvSpPr>
          <p:cNvPr id="17" name="Rectangle 16"/>
          <p:cNvSpPr/>
          <p:nvPr/>
        </p:nvSpPr>
        <p:spPr>
          <a:xfrm>
            <a:off x="411480" y="4206240"/>
            <a:ext cx="5303520" cy="548640"/>
          </a:xfrm>
          <a:prstGeom prst="rect">
            <a:avLst/>
          </a:prstGeom>
          <a:solidFill>
            <a:srgbClr val="F8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279392"/>
            <a:ext cx="5120640" cy="411480"/>
          </a:xfrm>
          <a:prstGeom prst="rect">
            <a:avLst/>
          </a:prstGeom>
          <a:noFill/>
        </p:spPr>
        <p:txBody>
          <a:bodyPr wrap="square">
            <a:spAutoFit/>
          </a:bodyPr>
          <a:lstStyle/>
          <a:p>
            <a:pPr algn="l"/>
            <a:r>
              <a:rPr sz="1200" b="0">
                <a:solidFill>
                  <a:srgbClr val="444F60"/>
                </a:solidFill>
                <a:latin typeface="IBM Plex Sans Thai"/>
              </a:rPr>
              <a:t>#4  ภาษีใหม่ 2567            🟢 ยืนยันแล้ว</a:t>
            </a:r>
          </a:p>
        </p:txBody>
      </p:sp>
      <p:sp>
        <p:nvSpPr>
          <p:cNvPr id="19" name="Rectangle 18"/>
          <p:cNvSpPr/>
          <p:nvPr/>
        </p:nvSpPr>
        <p:spPr>
          <a:xfrm>
            <a:off x="411480" y="4846320"/>
            <a:ext cx="5303520" cy="548640"/>
          </a:xfrm>
          <a:prstGeom prst="rect">
            <a:avLst/>
          </a:prstGeom>
          <a:solidFill>
            <a:srgbClr val="F8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4919472"/>
            <a:ext cx="5120640" cy="411480"/>
          </a:xfrm>
          <a:prstGeom prst="rect">
            <a:avLst/>
          </a:prstGeom>
          <a:noFill/>
        </p:spPr>
        <p:txBody>
          <a:bodyPr wrap="square">
            <a:spAutoFit/>
          </a:bodyPr>
          <a:lstStyle/>
          <a:p>
            <a:pPr algn="l"/>
            <a:r>
              <a:rPr sz="1200" b="0">
                <a:solidFill>
                  <a:srgbClr val="444F60"/>
                </a:solidFill>
                <a:latin typeface="IBM Plex Sans Thai"/>
              </a:rPr>
              <a:t>#5  น้ำท่วมกรุงเทพฯ          🟠 น่าสงสัย</a:t>
            </a:r>
          </a:p>
        </p:txBody>
      </p:sp>
      <p:sp>
        <p:nvSpPr>
          <p:cNvPr id="21" name="TextBox 20"/>
          <p:cNvSpPr txBox="1"/>
          <p:nvPr/>
        </p:nvSpPr>
        <p:spPr>
          <a:xfrm>
            <a:off x="411480" y="5577840"/>
            <a:ext cx="5303520" cy="365760"/>
          </a:xfrm>
          <a:prstGeom prst="rect">
            <a:avLst/>
          </a:prstGeom>
          <a:noFill/>
        </p:spPr>
        <p:txBody>
          <a:bodyPr wrap="square">
            <a:spAutoFit/>
          </a:bodyPr>
          <a:lstStyle/>
          <a:p>
            <a:pPr algn="l"/>
            <a:r>
              <a:rPr sz="1100" b="0">
                <a:solidFill>
                  <a:srgbClr val="245CAD"/>
                </a:solidFill>
                <a:latin typeface="IBM Plex Sans Thai"/>
              </a:rPr>
              <a:t>⏱  กรองตามช่วงเวลา: วันนี้ / สัปดาห์ / เดือน</a:t>
            </a:r>
          </a:p>
        </p:txBody>
      </p:sp>
      <p:sp>
        <p:nvSpPr>
          <p:cNvPr id="22" name="TextBox 21"/>
          <p:cNvSpPr txBox="1"/>
          <p:nvPr/>
        </p:nvSpPr>
        <p:spPr>
          <a:xfrm>
            <a:off x="411480" y="5989320"/>
            <a:ext cx="5303520" cy="365760"/>
          </a:xfrm>
          <a:prstGeom prst="rect">
            <a:avLst/>
          </a:prstGeom>
          <a:noFill/>
        </p:spPr>
        <p:txBody>
          <a:bodyPr wrap="square">
            <a:spAutoFit/>
          </a:bodyPr>
          <a:lstStyle/>
          <a:p>
            <a:pPr algn="l"/>
            <a:r>
              <a:rPr sz="1100" b="0">
                <a:solidFill>
                  <a:srgbClr val="6B7B8D"/>
                </a:solidFill>
                <a:latin typeface="IBM Plex Sans Thai"/>
              </a:rPr>
              <a:t>🔒 ค้นหาถูก hash ด้วย SHA-256 ไม่เก็บข้อความต้นฉบับ</a:t>
            </a:r>
          </a:p>
        </p:txBody>
      </p:sp>
      <p:sp>
        <p:nvSpPr>
          <p:cNvPr id="23" name="Rectangle 22"/>
          <p:cNvSpPr/>
          <p:nvPr/>
        </p:nvSpPr>
        <p:spPr>
          <a:xfrm>
            <a:off x="6309360" y="1691640"/>
            <a:ext cx="5577840" cy="484632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09360" y="1691640"/>
            <a:ext cx="5577840" cy="45720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1737360"/>
            <a:ext cx="5303520" cy="365760"/>
          </a:xfrm>
          <a:prstGeom prst="rect">
            <a:avLst/>
          </a:prstGeom>
          <a:noFill/>
        </p:spPr>
        <p:txBody>
          <a:bodyPr wrap="square">
            <a:spAutoFit/>
          </a:bodyPr>
          <a:lstStyle/>
          <a:p>
            <a:pPr algn="l"/>
            <a:r>
              <a:rPr sz="1400" b="1">
                <a:solidFill>
                  <a:srgbClr val="FFFFFF"/>
                </a:solidFill>
                <a:latin typeface="IBM Plex Sans Thai"/>
              </a:rPr>
              <a:t>🗂️  History</a:t>
            </a:r>
          </a:p>
        </p:txBody>
      </p:sp>
      <p:sp>
        <p:nvSpPr>
          <p:cNvPr id="26" name="TextBox 25"/>
          <p:cNvSpPr txBox="1"/>
          <p:nvPr/>
        </p:nvSpPr>
        <p:spPr>
          <a:xfrm>
            <a:off x="6446520" y="2331720"/>
            <a:ext cx="5303520" cy="457200"/>
          </a:xfrm>
          <a:prstGeom prst="rect">
            <a:avLst/>
          </a:prstGeom>
          <a:noFill/>
        </p:spPr>
        <p:txBody>
          <a:bodyPr wrap="square">
            <a:spAutoFit/>
          </a:bodyPr>
          <a:lstStyle/>
          <a:p>
            <a:pPr algn="l"/>
            <a:r>
              <a:rPr sz="1200" b="1">
                <a:solidFill>
                  <a:srgbClr val="245CAD"/>
                </a:solidFill>
                <a:latin typeface="IBM Plex Sans Thai"/>
              </a:rPr>
              <a:t>🔎  ค้นหา &amp; กรอง   |  Export JSON   |  Import JSON</a:t>
            </a:r>
          </a:p>
        </p:txBody>
      </p:sp>
      <p:sp>
        <p:nvSpPr>
          <p:cNvPr id="27" name="TextBox 26"/>
          <p:cNvSpPr txBox="1"/>
          <p:nvPr/>
        </p:nvSpPr>
        <p:spPr>
          <a:xfrm>
            <a:off x="6446520" y="2926080"/>
            <a:ext cx="5303520" cy="1828800"/>
          </a:xfrm>
          <a:prstGeom prst="rect">
            <a:avLst/>
          </a:prstGeom>
          <a:noFill/>
        </p:spPr>
        <p:txBody>
          <a:bodyPr wrap="square">
            <a:spAutoFit/>
          </a:bodyPr>
          <a:lstStyle/>
          <a:p>
            <a:pPr>
              <a:spcBef>
                <a:spcPts val="400"/>
              </a:spcBef>
            </a:pPr>
            <a:r>
              <a:rPr sz="1200">
                <a:solidFill>
                  <a:srgbClr val="444F60"/>
                </a:solidFill>
                <a:latin typeface="IBM Plex Sans Thai"/>
              </a:rPr>
              <a:t>• วัคซีน COVID อันตราย — 🟠 น่าสงสัย (เมื่อวาน)</a:t>
            </a:r>
          </a:p>
          <a:p>
            <a:pPr>
              <a:spcBef>
                <a:spcPts val="400"/>
              </a:spcBef>
            </a:pPr>
            <a:r>
              <a:rPr sz="1200">
                <a:solidFill>
                  <a:srgbClr val="444F60"/>
                </a:solidFill>
                <a:latin typeface="IBM Plex Sans Thai"/>
              </a:rPr>
              <a:t>• ราคาน้ำมันพุ่ง 50% — 🟡 ไม่แน่ใจ (2 วันที่แล้ว)</a:t>
            </a:r>
          </a:p>
          <a:p>
            <a:pPr>
              <a:spcBef>
                <a:spcPts val="400"/>
              </a:spcBef>
            </a:pPr>
            <a:r>
              <a:rPr sz="1200">
                <a:solidFill>
                  <a:srgbClr val="444F60"/>
                </a:solidFill>
                <a:latin typeface="IBM Plex Sans Thai"/>
              </a:rPr>
              <a:t>• example.com/news — 🔴 อันตราย (3 วันที่แล้ว)</a:t>
            </a:r>
          </a:p>
        </p:txBody>
      </p:sp>
      <p:sp>
        <p:nvSpPr>
          <p:cNvPr id="28" name="Rectangle 27"/>
          <p:cNvSpPr/>
          <p:nvPr/>
        </p:nvSpPr>
        <p:spPr>
          <a:xfrm>
            <a:off x="6446520" y="5029200"/>
            <a:ext cx="2286000" cy="5029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5074920"/>
            <a:ext cx="2286000" cy="411480"/>
          </a:xfrm>
          <a:prstGeom prst="rect">
            <a:avLst/>
          </a:prstGeom>
          <a:noFill/>
        </p:spPr>
        <p:txBody>
          <a:bodyPr wrap="square">
            <a:spAutoFit/>
          </a:bodyPr>
          <a:lstStyle/>
          <a:p>
            <a:pPr algn="ctr"/>
            <a:r>
              <a:rPr sz="1300" b="1">
                <a:solidFill>
                  <a:srgbClr val="FFFFFF"/>
                </a:solidFill>
                <a:latin typeface="IBM Plex Sans Thai"/>
              </a:rPr>
              <a:t>🗑️ Clear All</a:t>
            </a:r>
          </a:p>
        </p:txBody>
      </p:sp>
      <p:sp>
        <p:nvSpPr>
          <p:cNvPr id="30" name="Rectangle 29"/>
          <p:cNvSpPr/>
          <p:nvPr/>
        </p:nvSpPr>
        <p:spPr>
          <a:xfrm>
            <a:off x="8869680" y="5029200"/>
            <a:ext cx="2286000" cy="502920"/>
          </a:xfrm>
          <a:prstGeom prst="rect">
            <a:avLst/>
          </a:prstGeom>
          <a:solidFill>
            <a:srgbClr val="65A3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69680" y="5074920"/>
            <a:ext cx="2286000" cy="411480"/>
          </a:xfrm>
          <a:prstGeom prst="rect">
            <a:avLst/>
          </a:prstGeom>
          <a:noFill/>
        </p:spPr>
        <p:txBody>
          <a:bodyPr wrap="square">
            <a:spAutoFit/>
          </a:bodyPr>
          <a:lstStyle/>
          <a:p>
            <a:pPr algn="ctr"/>
            <a:r>
              <a:rPr sz="1300" b="1">
                <a:solidFill>
                  <a:srgbClr val="FFFFFF"/>
                </a:solidFill>
                <a:latin typeface="IBM Plex Sans Thai"/>
              </a:rPr>
              <a:t>⬆️ Export JSON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IBM Plex Sans Thai"/>
              </a:rPr>
              <a:t>สถาปัตยกรรมระบบ</a:t>
            </a:r>
          </a:p>
        </p:txBody>
      </p:sp>
      <p:sp>
        <p:nvSpPr>
          <p:cNvPr id="5" name="TextBox 4"/>
          <p:cNvSpPr txBox="1"/>
          <p:nvPr/>
        </p:nvSpPr>
        <p:spPr>
          <a:xfrm>
            <a:off x="365760" y="868680"/>
            <a:ext cx="11430000" cy="502920"/>
          </a:xfrm>
          <a:prstGeom prst="rect">
            <a:avLst/>
          </a:prstGeom>
          <a:noFill/>
        </p:spPr>
        <p:txBody>
          <a:bodyPr wrap="square">
            <a:spAutoFit/>
          </a:bodyPr>
          <a:lstStyle/>
          <a:p>
            <a:pPr algn="l"/>
            <a:r>
              <a:rPr sz="1400" b="0">
                <a:solidFill>
                  <a:srgbClr val="DBEAFE"/>
                </a:solidFill>
                <a:latin typeface="IBM Plex Sans Thai"/>
              </a:rPr>
              <a:t>Architecture Diagram</a:t>
            </a:r>
          </a:p>
        </p:txBody>
      </p:sp>
      <p:sp>
        <p:nvSpPr>
          <p:cNvPr id="6" name="Rectangle 5"/>
          <p:cNvSpPr/>
          <p:nvPr/>
        </p:nvSpPr>
        <p:spPr>
          <a:xfrm>
            <a:off x="0" y="146304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37960"/>
            <a:ext cx="11612880" cy="274320"/>
          </a:xfrm>
          <a:prstGeom prst="rect">
            <a:avLst/>
          </a:prstGeom>
          <a:noFill/>
        </p:spPr>
        <p:txBody>
          <a:bodyPr wrap="square">
            <a:spAutoFit/>
          </a:bodyPr>
          <a:lstStyle/>
          <a:p>
            <a:pPr algn="r"/>
            <a:r>
              <a:rPr sz="1000" b="0">
                <a:solidFill>
                  <a:srgbClr val="AAAAAA"/>
                </a:solidFill>
                <a:latin typeface="IBM Plex Sans Thai"/>
              </a:rPr>
              <a:t>ชัวร์ก่อนแชร์  •  8/18</a:t>
            </a:r>
          </a:p>
        </p:txBody>
      </p:sp>
      <p:sp>
        <p:nvSpPr>
          <p:cNvPr id="8" name="Rectangle 7"/>
          <p:cNvSpPr/>
          <p:nvPr/>
        </p:nvSpPr>
        <p:spPr>
          <a:xfrm>
            <a:off x="274320" y="1691640"/>
            <a:ext cx="11612880" cy="4892040"/>
          </a:xfrm>
          <a:prstGeom prst="rect">
            <a:avLst/>
          </a:prstGeom>
          <a:solidFill>
            <a:srgbClr val="E8F4FD"/>
          </a:solidFill>
          <a:ln w="12700">
            <a:solidFill>
              <a:srgbClr val="245C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737360"/>
            <a:ext cx="3657600" cy="411480"/>
          </a:xfrm>
          <a:prstGeom prst="rect">
            <a:avLst/>
          </a:prstGeom>
          <a:noFill/>
        </p:spPr>
        <p:txBody>
          <a:bodyPr wrap="square">
            <a:spAutoFit/>
          </a:bodyPr>
          <a:lstStyle/>
          <a:p>
            <a:pPr algn="l"/>
            <a:r>
              <a:rPr sz="1300" b="1">
                <a:solidFill>
                  <a:srgbClr val="245CAD"/>
                </a:solidFill>
                <a:latin typeface="IBM Plex Sans Thai"/>
              </a:rPr>
              <a:t>🐳  Docker Compose</a:t>
            </a:r>
          </a:p>
        </p:txBody>
      </p:sp>
      <p:sp>
        <p:nvSpPr>
          <p:cNvPr id="10" name="Rectangle 9"/>
          <p:cNvSpPr/>
          <p:nvPr/>
        </p:nvSpPr>
        <p:spPr>
          <a:xfrm>
            <a:off x="457200" y="2331720"/>
            <a:ext cx="2194560" cy="1371600"/>
          </a:xfrm>
          <a:prstGeom prst="rect">
            <a:avLst/>
          </a:prstGeom>
          <a:solidFill>
            <a:srgbClr val="FFFFFF"/>
          </a:solidFill>
          <a:ln w="12700">
            <a:solidFill>
              <a:srgbClr val="88AA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377440"/>
            <a:ext cx="2194560" cy="1234440"/>
          </a:xfrm>
          <a:prstGeom prst="rect">
            <a:avLst/>
          </a:prstGeom>
          <a:noFill/>
        </p:spPr>
        <p:txBody>
          <a:bodyPr wrap="square">
            <a:spAutoFit/>
          </a:bodyPr>
          <a:lstStyle/>
          <a:p>
            <a:pPr algn="ctr"/>
            <a:r>
              <a:rPr sz="1300" b="1">
                <a:solidFill>
                  <a:srgbClr val="1E3A5F"/>
                </a:solidFill>
                <a:latin typeface="IBM Plex Sans Thai"/>
              </a:rPr>
              <a:t>🌐
Browser
(User)</a:t>
            </a:r>
          </a:p>
        </p:txBody>
      </p:sp>
      <p:sp>
        <p:nvSpPr>
          <p:cNvPr id="12" name="TextBox 11"/>
          <p:cNvSpPr txBox="1"/>
          <p:nvPr/>
        </p:nvSpPr>
        <p:spPr>
          <a:xfrm>
            <a:off x="2834640" y="2880360"/>
            <a:ext cx="1097280" cy="365760"/>
          </a:xfrm>
          <a:prstGeom prst="rect">
            <a:avLst/>
          </a:prstGeom>
          <a:noFill/>
        </p:spPr>
        <p:txBody>
          <a:bodyPr wrap="square">
            <a:spAutoFit/>
          </a:bodyPr>
          <a:lstStyle/>
          <a:p>
            <a:pPr algn="ctr"/>
            <a:r>
              <a:rPr sz="1300" b="0">
                <a:solidFill>
                  <a:srgbClr val="444F60"/>
                </a:solidFill>
                <a:latin typeface="IBM Plex Sans Thai"/>
              </a:rPr>
              <a:t>HTTP →</a:t>
            </a:r>
          </a:p>
        </p:txBody>
      </p:sp>
      <p:sp>
        <p:nvSpPr>
          <p:cNvPr id="13" name="Rectangle 12"/>
          <p:cNvSpPr/>
          <p:nvPr/>
        </p:nvSpPr>
        <p:spPr>
          <a:xfrm>
            <a:off x="4023360" y="2057400"/>
            <a:ext cx="3840480" cy="4206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0" y="2148840"/>
            <a:ext cx="3840480" cy="640080"/>
          </a:xfrm>
          <a:prstGeom prst="rect">
            <a:avLst/>
          </a:prstGeom>
          <a:noFill/>
        </p:spPr>
        <p:txBody>
          <a:bodyPr wrap="square">
            <a:spAutoFit/>
          </a:bodyPr>
          <a:lstStyle/>
          <a:p>
            <a:pPr algn="ctr"/>
            <a:r>
              <a:rPr sz="1400" b="1">
                <a:solidFill>
                  <a:srgbClr val="FFFFFF"/>
                </a:solidFill>
                <a:latin typeface="IBM Plex Sans Thai"/>
              </a:rPr>
              <a:t>⚡ Next.js App
(port 3000)</a:t>
            </a:r>
          </a:p>
        </p:txBody>
      </p:sp>
      <p:sp>
        <p:nvSpPr>
          <p:cNvPr id="15" name="Rectangle 14"/>
          <p:cNvSpPr/>
          <p:nvPr/>
        </p:nvSpPr>
        <p:spPr>
          <a:xfrm>
            <a:off x="4160520" y="2880360"/>
            <a:ext cx="3566160" cy="384048"/>
          </a:xfrm>
          <a:prstGeom prst="rect">
            <a:avLst/>
          </a:prstGeom>
          <a:solidFill>
            <a:srgbClr val="2D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51960" y="2926079"/>
            <a:ext cx="3383280" cy="320040"/>
          </a:xfrm>
          <a:prstGeom prst="rect">
            <a:avLst/>
          </a:prstGeom>
          <a:noFill/>
        </p:spPr>
        <p:txBody>
          <a:bodyPr wrap="square">
            <a:spAutoFit/>
          </a:bodyPr>
          <a:lstStyle/>
          <a:p>
            <a:pPr algn="l"/>
            <a:r>
              <a:rPr sz="1100" b="0">
                <a:solidFill>
                  <a:srgbClr val="FFFFFF"/>
                </a:solidFill>
                <a:latin typeface="IBM Plex Sans Thai"/>
              </a:rPr>
              <a:t>POST /api/analyze/text</a:t>
            </a:r>
          </a:p>
        </p:txBody>
      </p:sp>
      <p:sp>
        <p:nvSpPr>
          <p:cNvPr id="17" name="Rectangle 16"/>
          <p:cNvSpPr/>
          <p:nvPr/>
        </p:nvSpPr>
        <p:spPr>
          <a:xfrm>
            <a:off x="4160520" y="3337560"/>
            <a:ext cx="3566160" cy="384048"/>
          </a:xfrm>
          <a:prstGeom prst="rect">
            <a:avLst/>
          </a:prstGeom>
          <a:solidFill>
            <a:srgbClr val="2D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51960" y="3383279"/>
            <a:ext cx="3383280" cy="320040"/>
          </a:xfrm>
          <a:prstGeom prst="rect">
            <a:avLst/>
          </a:prstGeom>
          <a:noFill/>
        </p:spPr>
        <p:txBody>
          <a:bodyPr wrap="square">
            <a:spAutoFit/>
          </a:bodyPr>
          <a:lstStyle/>
          <a:p>
            <a:pPr algn="l"/>
            <a:r>
              <a:rPr sz="1100" b="0">
                <a:solidFill>
                  <a:srgbClr val="FFFFFF"/>
                </a:solidFill>
                <a:latin typeface="IBM Plex Sans Thai"/>
              </a:rPr>
              <a:t>POST /api/analyze/image</a:t>
            </a:r>
          </a:p>
        </p:txBody>
      </p:sp>
      <p:sp>
        <p:nvSpPr>
          <p:cNvPr id="19" name="Rectangle 18"/>
          <p:cNvSpPr/>
          <p:nvPr/>
        </p:nvSpPr>
        <p:spPr>
          <a:xfrm>
            <a:off x="4160520" y="3794760"/>
            <a:ext cx="3566160" cy="384048"/>
          </a:xfrm>
          <a:prstGeom prst="rect">
            <a:avLst/>
          </a:prstGeom>
          <a:solidFill>
            <a:srgbClr val="2D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51960" y="3840480"/>
            <a:ext cx="3383280" cy="320040"/>
          </a:xfrm>
          <a:prstGeom prst="rect">
            <a:avLst/>
          </a:prstGeom>
          <a:noFill/>
        </p:spPr>
        <p:txBody>
          <a:bodyPr wrap="square">
            <a:spAutoFit/>
          </a:bodyPr>
          <a:lstStyle/>
          <a:p>
            <a:pPr algn="l"/>
            <a:r>
              <a:rPr sz="1100" b="0">
                <a:solidFill>
                  <a:srgbClr val="FFFFFF"/>
                </a:solidFill>
                <a:latin typeface="IBM Plex Sans Thai"/>
              </a:rPr>
              <a:t>POST /api/analyze/source</a:t>
            </a:r>
          </a:p>
        </p:txBody>
      </p:sp>
      <p:sp>
        <p:nvSpPr>
          <p:cNvPr id="21" name="Rectangle 20"/>
          <p:cNvSpPr/>
          <p:nvPr/>
        </p:nvSpPr>
        <p:spPr>
          <a:xfrm>
            <a:off x="4160520" y="4251960"/>
            <a:ext cx="3566160" cy="384048"/>
          </a:xfrm>
          <a:prstGeom prst="rect">
            <a:avLst/>
          </a:prstGeom>
          <a:solidFill>
            <a:srgbClr val="2D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51960" y="4297680"/>
            <a:ext cx="3383280" cy="320040"/>
          </a:xfrm>
          <a:prstGeom prst="rect">
            <a:avLst/>
          </a:prstGeom>
          <a:noFill/>
        </p:spPr>
        <p:txBody>
          <a:bodyPr wrap="square">
            <a:spAutoFit/>
          </a:bodyPr>
          <a:lstStyle/>
          <a:p>
            <a:pPr algn="l"/>
            <a:r>
              <a:rPr sz="1100" b="0">
                <a:solidFill>
                  <a:srgbClr val="FFFFFF"/>
                </a:solidFill>
                <a:latin typeface="IBM Plex Sans Thai"/>
              </a:rPr>
              <a:t>GET  /api/trending</a:t>
            </a:r>
          </a:p>
        </p:txBody>
      </p:sp>
      <p:sp>
        <p:nvSpPr>
          <p:cNvPr id="23" name="Rectangle 22"/>
          <p:cNvSpPr/>
          <p:nvPr/>
        </p:nvSpPr>
        <p:spPr>
          <a:xfrm>
            <a:off x="4160520" y="4709160"/>
            <a:ext cx="3566160" cy="384048"/>
          </a:xfrm>
          <a:prstGeom prst="rect">
            <a:avLst/>
          </a:prstGeom>
          <a:solidFill>
            <a:srgbClr val="2D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51960" y="4754880"/>
            <a:ext cx="3383280" cy="320040"/>
          </a:xfrm>
          <a:prstGeom prst="rect">
            <a:avLst/>
          </a:prstGeom>
          <a:noFill/>
        </p:spPr>
        <p:txBody>
          <a:bodyPr wrap="square">
            <a:spAutoFit/>
          </a:bodyPr>
          <a:lstStyle/>
          <a:p>
            <a:pPr algn="l"/>
            <a:r>
              <a:rPr sz="1100" b="0">
                <a:solidFill>
                  <a:srgbClr val="FFFFFF"/>
                </a:solidFill>
                <a:latin typeface="IBM Plex Sans Thai"/>
              </a:rPr>
              <a:t>GET  /api/references/:id</a:t>
            </a:r>
          </a:p>
        </p:txBody>
      </p:sp>
      <p:sp>
        <p:nvSpPr>
          <p:cNvPr id="25" name="TextBox 24"/>
          <p:cNvSpPr txBox="1"/>
          <p:nvPr/>
        </p:nvSpPr>
        <p:spPr>
          <a:xfrm>
            <a:off x="8046720" y="3108960"/>
            <a:ext cx="914400" cy="365760"/>
          </a:xfrm>
          <a:prstGeom prst="rect">
            <a:avLst/>
          </a:prstGeom>
          <a:noFill/>
        </p:spPr>
        <p:txBody>
          <a:bodyPr wrap="square">
            <a:spAutoFit/>
          </a:bodyPr>
          <a:lstStyle/>
          <a:p>
            <a:pPr algn="ctr"/>
            <a:r>
              <a:rPr sz="1200" b="0">
                <a:solidFill>
                  <a:srgbClr val="444F60"/>
                </a:solidFill>
                <a:latin typeface="IBM Plex Sans Thai"/>
              </a:rPr>
              <a:t>↔ SQL</a:t>
            </a:r>
          </a:p>
        </p:txBody>
      </p:sp>
      <p:sp>
        <p:nvSpPr>
          <p:cNvPr id="26" name="Rectangle 25"/>
          <p:cNvSpPr/>
          <p:nvPr/>
        </p:nvSpPr>
        <p:spPr>
          <a:xfrm>
            <a:off x="9052560" y="2331720"/>
            <a:ext cx="2560320" cy="3200400"/>
          </a:xfrm>
          <a:prstGeom prst="rect">
            <a:avLst/>
          </a:prstGeom>
          <a:solidFill>
            <a:srgbClr val="33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52560" y="2423160"/>
            <a:ext cx="2560320" cy="640080"/>
          </a:xfrm>
          <a:prstGeom prst="rect">
            <a:avLst/>
          </a:prstGeom>
          <a:noFill/>
        </p:spPr>
        <p:txBody>
          <a:bodyPr wrap="square">
            <a:spAutoFit/>
          </a:bodyPr>
          <a:lstStyle/>
          <a:p>
            <a:pPr algn="ctr"/>
            <a:r>
              <a:rPr sz="1300" b="1">
                <a:solidFill>
                  <a:srgbClr val="FFFFFF"/>
                </a:solidFill>
                <a:latin typeface="IBM Plex Sans Thai"/>
              </a:rPr>
              <a:t>🐘 PostgreSQL 15
(port 5432)</a:t>
            </a:r>
          </a:p>
        </p:txBody>
      </p:sp>
      <p:sp>
        <p:nvSpPr>
          <p:cNvPr id="28" name="TextBox 27"/>
          <p:cNvSpPr txBox="1"/>
          <p:nvPr/>
        </p:nvSpPr>
        <p:spPr>
          <a:xfrm>
            <a:off x="9144000" y="3154680"/>
            <a:ext cx="2377440" cy="347472"/>
          </a:xfrm>
          <a:prstGeom prst="rect">
            <a:avLst/>
          </a:prstGeom>
          <a:noFill/>
        </p:spPr>
        <p:txBody>
          <a:bodyPr wrap="square">
            <a:spAutoFit/>
          </a:bodyPr>
          <a:lstStyle/>
          <a:p>
            <a:pPr algn="l"/>
            <a:r>
              <a:rPr sz="1100" b="0">
                <a:solidFill>
                  <a:srgbClr val="CCDDFF"/>
                </a:solidFill>
                <a:latin typeface="IBM Plex Sans Thai"/>
              </a:rPr>
              <a:t>▸ Analysis</a:t>
            </a:r>
          </a:p>
        </p:txBody>
      </p:sp>
      <p:sp>
        <p:nvSpPr>
          <p:cNvPr id="29" name="TextBox 28"/>
          <p:cNvSpPr txBox="1"/>
          <p:nvPr/>
        </p:nvSpPr>
        <p:spPr>
          <a:xfrm>
            <a:off x="9144000" y="3502152"/>
            <a:ext cx="2377440" cy="347472"/>
          </a:xfrm>
          <a:prstGeom prst="rect">
            <a:avLst/>
          </a:prstGeom>
          <a:noFill/>
        </p:spPr>
        <p:txBody>
          <a:bodyPr wrap="square">
            <a:spAutoFit/>
          </a:bodyPr>
          <a:lstStyle/>
          <a:p>
            <a:pPr algn="l"/>
            <a:r>
              <a:rPr sz="1100" b="0">
                <a:solidFill>
                  <a:srgbClr val="CCDDFF"/>
                </a:solidFill>
                <a:latin typeface="IBM Plex Sans Thai"/>
              </a:rPr>
              <a:t>▸ Reference</a:t>
            </a:r>
          </a:p>
        </p:txBody>
      </p:sp>
      <p:sp>
        <p:nvSpPr>
          <p:cNvPr id="30" name="TextBox 29"/>
          <p:cNvSpPr txBox="1"/>
          <p:nvPr/>
        </p:nvSpPr>
        <p:spPr>
          <a:xfrm>
            <a:off x="9144000" y="3849624"/>
            <a:ext cx="2377440" cy="347472"/>
          </a:xfrm>
          <a:prstGeom prst="rect">
            <a:avLst/>
          </a:prstGeom>
          <a:noFill/>
        </p:spPr>
        <p:txBody>
          <a:bodyPr wrap="square">
            <a:spAutoFit/>
          </a:bodyPr>
          <a:lstStyle/>
          <a:p>
            <a:pPr algn="l"/>
            <a:r>
              <a:rPr sz="1100" b="0">
                <a:solidFill>
                  <a:srgbClr val="CCDDFF"/>
                </a:solidFill>
                <a:latin typeface="IBM Plex Sans Thai"/>
              </a:rPr>
              <a:t>▸ TrustedSource</a:t>
            </a:r>
          </a:p>
        </p:txBody>
      </p:sp>
      <p:sp>
        <p:nvSpPr>
          <p:cNvPr id="31" name="TextBox 30"/>
          <p:cNvSpPr txBox="1"/>
          <p:nvPr/>
        </p:nvSpPr>
        <p:spPr>
          <a:xfrm>
            <a:off x="9144000" y="4197096"/>
            <a:ext cx="2377440" cy="347472"/>
          </a:xfrm>
          <a:prstGeom prst="rect">
            <a:avLst/>
          </a:prstGeom>
          <a:noFill/>
        </p:spPr>
        <p:txBody>
          <a:bodyPr wrap="square">
            <a:spAutoFit/>
          </a:bodyPr>
          <a:lstStyle/>
          <a:p>
            <a:pPr algn="l"/>
            <a:r>
              <a:rPr sz="1100" b="0">
                <a:solidFill>
                  <a:srgbClr val="CCDDFF"/>
                </a:solidFill>
                <a:latin typeface="IBM Plex Sans Thai"/>
              </a:rPr>
              <a:t>▸ KnownFakeClaim</a:t>
            </a:r>
          </a:p>
        </p:txBody>
      </p:sp>
      <p:sp>
        <p:nvSpPr>
          <p:cNvPr id="32" name="TextBox 31"/>
          <p:cNvSpPr txBox="1"/>
          <p:nvPr/>
        </p:nvSpPr>
        <p:spPr>
          <a:xfrm>
            <a:off x="9144000" y="4544568"/>
            <a:ext cx="2377440" cy="347472"/>
          </a:xfrm>
          <a:prstGeom prst="rect">
            <a:avLst/>
          </a:prstGeom>
          <a:noFill/>
        </p:spPr>
        <p:txBody>
          <a:bodyPr wrap="square">
            <a:spAutoFit/>
          </a:bodyPr>
          <a:lstStyle/>
          <a:p>
            <a:pPr algn="l"/>
            <a:r>
              <a:rPr sz="1100" b="0">
                <a:solidFill>
                  <a:srgbClr val="CCDDFF"/>
                </a:solidFill>
                <a:latin typeface="IBM Plex Sans Thai"/>
              </a:rPr>
              <a:t>▸ SuspiciousDomain</a:t>
            </a:r>
          </a:p>
        </p:txBody>
      </p:sp>
      <p:sp>
        <p:nvSpPr>
          <p:cNvPr id="33" name="TextBox 32"/>
          <p:cNvSpPr txBox="1"/>
          <p:nvPr/>
        </p:nvSpPr>
        <p:spPr>
          <a:xfrm>
            <a:off x="9144000" y="4892040"/>
            <a:ext cx="2377440" cy="347472"/>
          </a:xfrm>
          <a:prstGeom prst="rect">
            <a:avLst/>
          </a:prstGeom>
          <a:noFill/>
        </p:spPr>
        <p:txBody>
          <a:bodyPr wrap="square">
            <a:spAutoFit/>
          </a:bodyPr>
          <a:lstStyle/>
          <a:p>
            <a:pPr algn="l"/>
            <a:r>
              <a:rPr sz="1100" b="0">
                <a:solidFill>
                  <a:srgbClr val="CCDDFF"/>
                </a:solidFill>
                <a:latin typeface="IBM Plex Sans Thai"/>
              </a:rPr>
              <a:t>▸ TrendingEntry</a:t>
            </a:r>
          </a:p>
        </p:txBody>
      </p:sp>
      <p:sp>
        <p:nvSpPr>
          <p:cNvPr id="34" name="TextBox 33"/>
          <p:cNvSpPr txBox="1"/>
          <p:nvPr/>
        </p:nvSpPr>
        <p:spPr>
          <a:xfrm>
            <a:off x="5303520" y="5577840"/>
            <a:ext cx="2011680" cy="548640"/>
          </a:xfrm>
          <a:prstGeom prst="rect">
            <a:avLst/>
          </a:prstGeom>
          <a:noFill/>
        </p:spPr>
        <p:txBody>
          <a:bodyPr wrap="square">
            <a:spAutoFit/>
          </a:bodyPr>
          <a:lstStyle/>
          <a:p>
            <a:pPr algn="ctr"/>
            <a:r>
              <a:rPr sz="1100" b="0">
                <a:solidFill>
                  <a:srgbClr val="444F60"/>
                </a:solidFill>
                <a:latin typeface="IBM Plex Sans Thai"/>
              </a:rPr>
              <a:t>↓ HTTPS
(image only)</a:t>
            </a:r>
          </a:p>
        </p:txBody>
      </p:sp>
      <p:sp>
        <p:nvSpPr>
          <p:cNvPr id="35" name="Rectangle 34"/>
          <p:cNvSpPr/>
          <p:nvPr/>
        </p:nvSpPr>
        <p:spPr>
          <a:xfrm>
            <a:off x="4160520" y="6172200"/>
            <a:ext cx="3840480" cy="5029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60520" y="6199632"/>
            <a:ext cx="3840480" cy="411480"/>
          </a:xfrm>
          <a:prstGeom prst="rect">
            <a:avLst/>
          </a:prstGeom>
          <a:noFill/>
        </p:spPr>
        <p:txBody>
          <a:bodyPr wrap="square">
            <a:spAutoFit/>
          </a:bodyPr>
          <a:lstStyle/>
          <a:p>
            <a:pPr algn="ctr"/>
            <a:r>
              <a:rPr sz="1200" b="1">
                <a:solidFill>
                  <a:srgbClr val="FFFFFF"/>
                </a:solidFill>
                <a:latin typeface="IBM Plex Sans Thai"/>
              </a:rPr>
              <a:t>🤖  Google Gemini API  (External)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IBM Plex Sans Thai"/>
              </a:rPr>
              <a:t>API Design</a:t>
            </a:r>
          </a:p>
        </p:txBody>
      </p:sp>
      <p:sp>
        <p:nvSpPr>
          <p:cNvPr id="5" name="TextBox 4"/>
          <p:cNvSpPr txBox="1"/>
          <p:nvPr/>
        </p:nvSpPr>
        <p:spPr>
          <a:xfrm>
            <a:off x="365760" y="868680"/>
            <a:ext cx="11430000" cy="502920"/>
          </a:xfrm>
          <a:prstGeom prst="rect">
            <a:avLst/>
          </a:prstGeom>
          <a:noFill/>
        </p:spPr>
        <p:txBody>
          <a:bodyPr wrap="square">
            <a:spAutoFit/>
          </a:bodyPr>
          <a:lstStyle/>
          <a:p>
            <a:pPr algn="l"/>
            <a:r>
              <a:rPr sz="1400" b="0">
                <a:solidFill>
                  <a:srgbClr val="DBEAFE"/>
                </a:solidFill>
                <a:latin typeface="IBM Plex Sans Thai"/>
              </a:rPr>
              <a:t>5 Endpoints + Error Format + Rate Limiting</a:t>
            </a:r>
          </a:p>
        </p:txBody>
      </p:sp>
      <p:sp>
        <p:nvSpPr>
          <p:cNvPr id="6" name="Rectangle 5"/>
          <p:cNvSpPr/>
          <p:nvPr/>
        </p:nvSpPr>
        <p:spPr>
          <a:xfrm>
            <a:off x="0" y="146304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37960"/>
            <a:ext cx="11612880" cy="274320"/>
          </a:xfrm>
          <a:prstGeom prst="rect">
            <a:avLst/>
          </a:prstGeom>
          <a:noFill/>
        </p:spPr>
        <p:txBody>
          <a:bodyPr wrap="square">
            <a:spAutoFit/>
          </a:bodyPr>
          <a:lstStyle/>
          <a:p>
            <a:pPr algn="r"/>
            <a:r>
              <a:rPr sz="1000" b="0">
                <a:solidFill>
                  <a:srgbClr val="AAAAAA"/>
                </a:solidFill>
                <a:latin typeface="IBM Plex Sans Thai"/>
              </a:rPr>
              <a:t>ชัวร์ก่อนแชร์  •  9/18</a:t>
            </a:r>
          </a:p>
        </p:txBody>
      </p:sp>
      <p:sp>
        <p:nvSpPr>
          <p:cNvPr id="8" name="Rectangle 7"/>
          <p:cNvSpPr/>
          <p:nvPr/>
        </p:nvSpPr>
        <p:spPr>
          <a:xfrm>
            <a:off x="320040" y="1691640"/>
            <a:ext cx="1280160"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59" y="1737360"/>
            <a:ext cx="1188719" cy="365760"/>
          </a:xfrm>
          <a:prstGeom prst="rect">
            <a:avLst/>
          </a:prstGeom>
          <a:noFill/>
        </p:spPr>
        <p:txBody>
          <a:bodyPr wrap="square">
            <a:spAutoFit/>
          </a:bodyPr>
          <a:lstStyle/>
          <a:p>
            <a:pPr algn="ctr"/>
            <a:r>
              <a:rPr sz="1300" b="1">
                <a:solidFill>
                  <a:srgbClr val="FFFFFF"/>
                </a:solidFill>
                <a:latin typeface="IBM Plex Sans Thai"/>
              </a:rPr>
              <a:t>Method</a:t>
            </a:r>
          </a:p>
        </p:txBody>
      </p:sp>
      <p:sp>
        <p:nvSpPr>
          <p:cNvPr id="10" name="Rectangle 9"/>
          <p:cNvSpPr/>
          <p:nvPr/>
        </p:nvSpPr>
        <p:spPr>
          <a:xfrm>
            <a:off x="1645919" y="1691640"/>
            <a:ext cx="3657600"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91639" y="1737360"/>
            <a:ext cx="3566160" cy="365760"/>
          </a:xfrm>
          <a:prstGeom prst="rect">
            <a:avLst/>
          </a:prstGeom>
          <a:noFill/>
        </p:spPr>
        <p:txBody>
          <a:bodyPr wrap="square">
            <a:spAutoFit/>
          </a:bodyPr>
          <a:lstStyle/>
          <a:p>
            <a:pPr algn="ctr"/>
            <a:r>
              <a:rPr sz="1300" b="1">
                <a:solidFill>
                  <a:srgbClr val="FFFFFF"/>
                </a:solidFill>
                <a:latin typeface="IBM Plex Sans Thai"/>
              </a:rPr>
              <a:t>Path</a:t>
            </a:r>
          </a:p>
        </p:txBody>
      </p:sp>
      <p:sp>
        <p:nvSpPr>
          <p:cNvPr id="12" name="Rectangle 11"/>
          <p:cNvSpPr/>
          <p:nvPr/>
        </p:nvSpPr>
        <p:spPr>
          <a:xfrm>
            <a:off x="5349240" y="1691640"/>
            <a:ext cx="5669280"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94959" y="1737360"/>
            <a:ext cx="5577840" cy="365760"/>
          </a:xfrm>
          <a:prstGeom prst="rect">
            <a:avLst/>
          </a:prstGeom>
          <a:noFill/>
        </p:spPr>
        <p:txBody>
          <a:bodyPr wrap="square">
            <a:spAutoFit/>
          </a:bodyPr>
          <a:lstStyle/>
          <a:p>
            <a:pPr algn="ctr"/>
            <a:r>
              <a:rPr sz="1300" b="1">
                <a:solidFill>
                  <a:srgbClr val="FFFFFF"/>
                </a:solidFill>
                <a:latin typeface="IBM Plex Sans Thai"/>
              </a:rPr>
              <a:t>Purpose</a:t>
            </a:r>
          </a:p>
        </p:txBody>
      </p:sp>
      <p:sp>
        <p:nvSpPr>
          <p:cNvPr id="14" name="Rectangle 13"/>
          <p:cNvSpPr/>
          <p:nvPr/>
        </p:nvSpPr>
        <p:spPr>
          <a:xfrm>
            <a:off x="320040" y="2194560"/>
            <a:ext cx="1280160" cy="566928"/>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2286000"/>
            <a:ext cx="1152143" cy="384048"/>
          </a:xfrm>
          <a:prstGeom prst="rect">
            <a:avLst/>
          </a:prstGeom>
          <a:noFill/>
        </p:spPr>
        <p:txBody>
          <a:bodyPr wrap="square">
            <a:spAutoFit/>
          </a:bodyPr>
          <a:lstStyle/>
          <a:p>
            <a:pPr algn="l"/>
            <a:r>
              <a:rPr sz="1200" b="1">
                <a:solidFill>
                  <a:srgbClr val="245CAD"/>
                </a:solidFill>
                <a:latin typeface="IBM Plex Sans Thai"/>
              </a:rPr>
              <a:t>POST</a:t>
            </a:r>
          </a:p>
        </p:txBody>
      </p:sp>
      <p:sp>
        <p:nvSpPr>
          <p:cNvPr id="16" name="Rectangle 15"/>
          <p:cNvSpPr/>
          <p:nvPr/>
        </p:nvSpPr>
        <p:spPr>
          <a:xfrm>
            <a:off x="1645919" y="2194560"/>
            <a:ext cx="3657600" cy="566928"/>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09928" y="2286000"/>
            <a:ext cx="3529584" cy="384048"/>
          </a:xfrm>
          <a:prstGeom prst="rect">
            <a:avLst/>
          </a:prstGeom>
          <a:noFill/>
        </p:spPr>
        <p:txBody>
          <a:bodyPr wrap="square">
            <a:spAutoFit/>
          </a:bodyPr>
          <a:lstStyle/>
          <a:p>
            <a:pPr algn="l"/>
            <a:r>
              <a:rPr sz="1200" b="0">
                <a:solidFill>
                  <a:srgbClr val="224488"/>
                </a:solidFill>
                <a:latin typeface="IBM Plex Sans Thai"/>
              </a:rPr>
              <a:t>/api/analyze/text</a:t>
            </a:r>
          </a:p>
        </p:txBody>
      </p:sp>
      <p:sp>
        <p:nvSpPr>
          <p:cNvPr id="18" name="Rectangle 17"/>
          <p:cNvSpPr/>
          <p:nvPr/>
        </p:nvSpPr>
        <p:spPr>
          <a:xfrm>
            <a:off x="5349240" y="2194560"/>
            <a:ext cx="5669280" cy="566928"/>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13248" y="2286000"/>
            <a:ext cx="5541264" cy="384048"/>
          </a:xfrm>
          <a:prstGeom prst="rect">
            <a:avLst/>
          </a:prstGeom>
          <a:noFill/>
        </p:spPr>
        <p:txBody>
          <a:bodyPr wrap="square">
            <a:spAutoFit/>
          </a:bodyPr>
          <a:lstStyle/>
          <a:p>
            <a:pPr algn="l"/>
            <a:r>
              <a:rPr sz="1200" b="0">
                <a:solidFill>
                  <a:srgbClr val="444F60"/>
                </a:solidFill>
                <a:latin typeface="IBM Plex Sans Thai"/>
              </a:rPr>
              <a:t>วิเคราะห์ข้อความและ URL — ดึง trusted sources, fake claims</a:t>
            </a:r>
          </a:p>
        </p:txBody>
      </p:sp>
      <p:sp>
        <p:nvSpPr>
          <p:cNvPr id="20" name="Rectangle 19"/>
          <p:cNvSpPr/>
          <p:nvPr/>
        </p:nvSpPr>
        <p:spPr>
          <a:xfrm>
            <a:off x="320040" y="2788920"/>
            <a:ext cx="1280160" cy="566928"/>
          </a:xfrm>
          <a:prstGeom prst="rect">
            <a:avLst/>
          </a:prstGeom>
          <a:solidFill>
            <a:srgbClr val="F5F7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4048" y="2880360"/>
            <a:ext cx="1152143" cy="384048"/>
          </a:xfrm>
          <a:prstGeom prst="rect">
            <a:avLst/>
          </a:prstGeom>
          <a:noFill/>
        </p:spPr>
        <p:txBody>
          <a:bodyPr wrap="square">
            <a:spAutoFit/>
          </a:bodyPr>
          <a:lstStyle/>
          <a:p>
            <a:pPr algn="l"/>
            <a:r>
              <a:rPr sz="1200" b="1">
                <a:solidFill>
                  <a:srgbClr val="245CAD"/>
                </a:solidFill>
                <a:latin typeface="IBM Plex Sans Thai"/>
              </a:rPr>
              <a:t>POST</a:t>
            </a:r>
          </a:p>
        </p:txBody>
      </p:sp>
      <p:sp>
        <p:nvSpPr>
          <p:cNvPr id="22" name="Rectangle 21"/>
          <p:cNvSpPr/>
          <p:nvPr/>
        </p:nvSpPr>
        <p:spPr>
          <a:xfrm>
            <a:off x="1645919" y="2788920"/>
            <a:ext cx="3657600" cy="566928"/>
          </a:xfrm>
          <a:prstGeom prst="rect">
            <a:avLst/>
          </a:prstGeom>
          <a:solidFill>
            <a:srgbClr val="F5F7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09928" y="2880360"/>
            <a:ext cx="3529584" cy="384048"/>
          </a:xfrm>
          <a:prstGeom prst="rect">
            <a:avLst/>
          </a:prstGeom>
          <a:noFill/>
        </p:spPr>
        <p:txBody>
          <a:bodyPr wrap="square">
            <a:spAutoFit/>
          </a:bodyPr>
          <a:lstStyle/>
          <a:p>
            <a:pPr algn="l"/>
            <a:r>
              <a:rPr sz="1200" b="0">
                <a:solidFill>
                  <a:srgbClr val="224488"/>
                </a:solidFill>
                <a:latin typeface="IBM Plex Sans Thai"/>
              </a:rPr>
              <a:t>/api/analyze/image</a:t>
            </a:r>
          </a:p>
        </p:txBody>
      </p:sp>
      <p:sp>
        <p:nvSpPr>
          <p:cNvPr id="24" name="Rectangle 23"/>
          <p:cNvSpPr/>
          <p:nvPr/>
        </p:nvSpPr>
        <p:spPr>
          <a:xfrm>
            <a:off x="5349240" y="2788920"/>
            <a:ext cx="5669280" cy="566928"/>
          </a:xfrm>
          <a:prstGeom prst="rect">
            <a:avLst/>
          </a:prstGeom>
          <a:solidFill>
            <a:srgbClr val="F5F7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13248" y="2880360"/>
            <a:ext cx="5541264" cy="384048"/>
          </a:xfrm>
          <a:prstGeom prst="rect">
            <a:avLst/>
          </a:prstGeom>
          <a:noFill/>
        </p:spPr>
        <p:txBody>
          <a:bodyPr wrap="square">
            <a:spAutoFit/>
          </a:bodyPr>
          <a:lstStyle/>
          <a:p>
            <a:pPr algn="l"/>
            <a:r>
              <a:rPr sz="1200" b="0">
                <a:solidFill>
                  <a:srgbClr val="444F60"/>
                </a:solidFill>
                <a:latin typeface="IBM Plex Sans Thai"/>
              </a:rPr>
              <a:t>ส่งภาพไปยัง Gemini API + EXIF extraction</a:t>
            </a:r>
          </a:p>
        </p:txBody>
      </p:sp>
      <p:sp>
        <p:nvSpPr>
          <p:cNvPr id="26" name="Rectangle 25"/>
          <p:cNvSpPr/>
          <p:nvPr/>
        </p:nvSpPr>
        <p:spPr>
          <a:xfrm>
            <a:off x="320040" y="3383279"/>
            <a:ext cx="1280160" cy="566928"/>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4048" y="3474720"/>
            <a:ext cx="1152143" cy="384048"/>
          </a:xfrm>
          <a:prstGeom prst="rect">
            <a:avLst/>
          </a:prstGeom>
          <a:noFill/>
        </p:spPr>
        <p:txBody>
          <a:bodyPr wrap="square">
            <a:spAutoFit/>
          </a:bodyPr>
          <a:lstStyle/>
          <a:p>
            <a:pPr algn="l"/>
            <a:r>
              <a:rPr sz="1200" b="1">
                <a:solidFill>
                  <a:srgbClr val="245CAD"/>
                </a:solidFill>
                <a:latin typeface="IBM Plex Sans Thai"/>
              </a:rPr>
              <a:t>POST</a:t>
            </a:r>
          </a:p>
        </p:txBody>
      </p:sp>
      <p:sp>
        <p:nvSpPr>
          <p:cNvPr id="28" name="Rectangle 27"/>
          <p:cNvSpPr/>
          <p:nvPr/>
        </p:nvSpPr>
        <p:spPr>
          <a:xfrm>
            <a:off x="1645919" y="3383279"/>
            <a:ext cx="3657600" cy="566928"/>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09928" y="3474720"/>
            <a:ext cx="3529584" cy="384048"/>
          </a:xfrm>
          <a:prstGeom prst="rect">
            <a:avLst/>
          </a:prstGeom>
          <a:noFill/>
        </p:spPr>
        <p:txBody>
          <a:bodyPr wrap="square">
            <a:spAutoFit/>
          </a:bodyPr>
          <a:lstStyle/>
          <a:p>
            <a:pPr algn="l"/>
            <a:r>
              <a:rPr sz="1200" b="0">
                <a:solidFill>
                  <a:srgbClr val="224488"/>
                </a:solidFill>
                <a:latin typeface="IBM Plex Sans Thai"/>
              </a:rPr>
              <a:t>/api/analyze/source</a:t>
            </a:r>
          </a:p>
        </p:txBody>
      </p:sp>
      <p:sp>
        <p:nvSpPr>
          <p:cNvPr id="30" name="Rectangle 29"/>
          <p:cNvSpPr/>
          <p:nvPr/>
        </p:nvSpPr>
        <p:spPr>
          <a:xfrm>
            <a:off x="5349240" y="3383279"/>
            <a:ext cx="5669280" cy="566928"/>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13248" y="3474720"/>
            <a:ext cx="5541264" cy="384048"/>
          </a:xfrm>
          <a:prstGeom prst="rect">
            <a:avLst/>
          </a:prstGeom>
          <a:noFill/>
        </p:spPr>
        <p:txBody>
          <a:bodyPr wrap="square">
            <a:spAutoFit/>
          </a:bodyPr>
          <a:lstStyle/>
          <a:p>
            <a:pPr algn="l"/>
            <a:r>
              <a:rPr sz="1200" b="0">
                <a:solidFill>
                  <a:srgbClr val="444F60"/>
                </a:solidFill>
                <a:latin typeface="IBM Plex Sans Thai"/>
              </a:rPr>
              <a:t>วิเคราะห์ความเสี่ยงของโดเมน (age, SSL, WHOIS)</a:t>
            </a:r>
          </a:p>
        </p:txBody>
      </p:sp>
      <p:sp>
        <p:nvSpPr>
          <p:cNvPr id="32" name="Rectangle 31"/>
          <p:cNvSpPr/>
          <p:nvPr/>
        </p:nvSpPr>
        <p:spPr>
          <a:xfrm>
            <a:off x="320040" y="3977639"/>
            <a:ext cx="1280160" cy="566928"/>
          </a:xfrm>
          <a:prstGeom prst="rect">
            <a:avLst/>
          </a:prstGeom>
          <a:solidFill>
            <a:srgbClr val="F5F7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4048" y="4069079"/>
            <a:ext cx="1152143" cy="384048"/>
          </a:xfrm>
          <a:prstGeom prst="rect">
            <a:avLst/>
          </a:prstGeom>
          <a:noFill/>
        </p:spPr>
        <p:txBody>
          <a:bodyPr wrap="square">
            <a:spAutoFit/>
          </a:bodyPr>
          <a:lstStyle/>
          <a:p>
            <a:pPr algn="l"/>
            <a:r>
              <a:rPr sz="1200" b="1">
                <a:solidFill>
                  <a:srgbClr val="16A34A"/>
                </a:solidFill>
                <a:latin typeface="IBM Plex Sans Thai"/>
              </a:rPr>
              <a:t>GET</a:t>
            </a:r>
          </a:p>
        </p:txBody>
      </p:sp>
      <p:sp>
        <p:nvSpPr>
          <p:cNvPr id="34" name="Rectangle 33"/>
          <p:cNvSpPr/>
          <p:nvPr/>
        </p:nvSpPr>
        <p:spPr>
          <a:xfrm>
            <a:off x="1645919" y="3977639"/>
            <a:ext cx="3657600" cy="566928"/>
          </a:xfrm>
          <a:prstGeom prst="rect">
            <a:avLst/>
          </a:prstGeom>
          <a:solidFill>
            <a:srgbClr val="F5F7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709928" y="4069079"/>
            <a:ext cx="3529584" cy="384048"/>
          </a:xfrm>
          <a:prstGeom prst="rect">
            <a:avLst/>
          </a:prstGeom>
          <a:noFill/>
        </p:spPr>
        <p:txBody>
          <a:bodyPr wrap="square">
            <a:spAutoFit/>
          </a:bodyPr>
          <a:lstStyle/>
          <a:p>
            <a:pPr algn="l"/>
            <a:r>
              <a:rPr sz="1200" b="0">
                <a:solidFill>
                  <a:srgbClr val="224488"/>
                </a:solidFill>
                <a:latin typeface="IBM Plex Sans Thai"/>
              </a:rPr>
              <a:t>/api/trending</a:t>
            </a:r>
          </a:p>
        </p:txBody>
      </p:sp>
      <p:sp>
        <p:nvSpPr>
          <p:cNvPr id="36" name="Rectangle 35"/>
          <p:cNvSpPr/>
          <p:nvPr/>
        </p:nvSpPr>
        <p:spPr>
          <a:xfrm>
            <a:off x="5349240" y="3977639"/>
            <a:ext cx="5669280" cy="566928"/>
          </a:xfrm>
          <a:prstGeom prst="rect">
            <a:avLst/>
          </a:prstGeom>
          <a:solidFill>
            <a:srgbClr val="F5F7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13248" y="4069079"/>
            <a:ext cx="5541264" cy="384048"/>
          </a:xfrm>
          <a:prstGeom prst="rect">
            <a:avLst/>
          </a:prstGeom>
          <a:noFill/>
        </p:spPr>
        <p:txBody>
          <a:bodyPr wrap="square">
            <a:spAutoFit/>
          </a:bodyPr>
          <a:lstStyle/>
          <a:p>
            <a:pPr algn="l"/>
            <a:r>
              <a:rPr sz="1200" b="0">
                <a:solidFill>
                  <a:srgbClr val="444F60"/>
                </a:solidFill>
                <a:latin typeface="IBM Plex Sans Thai"/>
              </a:rPr>
              <a:t>ดึงคำค้นยอดนิยม (anonymized, hashed)</a:t>
            </a:r>
          </a:p>
        </p:txBody>
      </p:sp>
      <p:sp>
        <p:nvSpPr>
          <p:cNvPr id="38" name="Rectangle 37"/>
          <p:cNvSpPr/>
          <p:nvPr/>
        </p:nvSpPr>
        <p:spPr>
          <a:xfrm>
            <a:off x="320040" y="4572000"/>
            <a:ext cx="1280160" cy="566928"/>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4048" y="4663440"/>
            <a:ext cx="1152143" cy="384048"/>
          </a:xfrm>
          <a:prstGeom prst="rect">
            <a:avLst/>
          </a:prstGeom>
          <a:noFill/>
        </p:spPr>
        <p:txBody>
          <a:bodyPr wrap="square">
            <a:spAutoFit/>
          </a:bodyPr>
          <a:lstStyle/>
          <a:p>
            <a:pPr algn="l"/>
            <a:r>
              <a:rPr sz="1200" b="1">
                <a:solidFill>
                  <a:srgbClr val="16A34A"/>
                </a:solidFill>
                <a:latin typeface="IBM Plex Sans Thai"/>
              </a:rPr>
              <a:t>GET</a:t>
            </a:r>
          </a:p>
        </p:txBody>
      </p:sp>
      <p:sp>
        <p:nvSpPr>
          <p:cNvPr id="40" name="Rectangle 39"/>
          <p:cNvSpPr/>
          <p:nvPr/>
        </p:nvSpPr>
        <p:spPr>
          <a:xfrm>
            <a:off x="1645919" y="4572000"/>
            <a:ext cx="3657600" cy="566928"/>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709928" y="4663440"/>
            <a:ext cx="3529584" cy="384048"/>
          </a:xfrm>
          <a:prstGeom prst="rect">
            <a:avLst/>
          </a:prstGeom>
          <a:noFill/>
        </p:spPr>
        <p:txBody>
          <a:bodyPr wrap="square">
            <a:spAutoFit/>
          </a:bodyPr>
          <a:lstStyle/>
          <a:p>
            <a:pPr algn="l"/>
            <a:r>
              <a:rPr sz="1200" b="0">
                <a:solidFill>
                  <a:srgbClr val="224488"/>
                </a:solidFill>
                <a:latin typeface="IBM Plex Sans Thai"/>
              </a:rPr>
              <a:t>/api/references/:id</a:t>
            </a:r>
          </a:p>
        </p:txBody>
      </p:sp>
      <p:sp>
        <p:nvSpPr>
          <p:cNvPr id="42" name="Rectangle 41"/>
          <p:cNvSpPr/>
          <p:nvPr/>
        </p:nvSpPr>
        <p:spPr>
          <a:xfrm>
            <a:off x="5349240" y="4572000"/>
            <a:ext cx="5669280" cy="566928"/>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13248" y="4663440"/>
            <a:ext cx="5541264" cy="384048"/>
          </a:xfrm>
          <a:prstGeom prst="rect">
            <a:avLst/>
          </a:prstGeom>
          <a:noFill/>
        </p:spPr>
        <p:txBody>
          <a:bodyPr wrap="square">
            <a:spAutoFit/>
          </a:bodyPr>
          <a:lstStyle/>
          <a:p>
            <a:pPr algn="l"/>
            <a:r>
              <a:rPr sz="1200" b="0">
                <a:solidFill>
                  <a:srgbClr val="444F60"/>
                </a:solidFill>
                <a:latin typeface="IBM Plex Sans Thai"/>
              </a:rPr>
              <a:t>ดึงรายการ reference พร้อม stance สำหรับ analysis ID</a:t>
            </a:r>
          </a:p>
        </p:txBody>
      </p:sp>
      <p:sp>
        <p:nvSpPr>
          <p:cNvPr id="44" name="Rectangle 43"/>
          <p:cNvSpPr/>
          <p:nvPr/>
        </p:nvSpPr>
        <p:spPr>
          <a:xfrm>
            <a:off x="320040" y="5303520"/>
            <a:ext cx="5577840" cy="1188720"/>
          </a:xfrm>
          <a:prstGeom prst="rect">
            <a:avLst/>
          </a:prstGeom>
          <a:solidFill>
            <a:srgbClr val="FFF0F0"/>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5376672"/>
            <a:ext cx="5394960" cy="1005840"/>
          </a:xfrm>
          <a:prstGeom prst="rect">
            <a:avLst/>
          </a:prstGeom>
          <a:noFill/>
        </p:spPr>
        <p:txBody>
          <a:bodyPr wrap="square">
            <a:spAutoFit/>
          </a:bodyPr>
          <a:lstStyle/>
          <a:p>
            <a:pPr algn="l"/>
            <a:r>
              <a:rPr sz="1200" b="0">
                <a:solidFill>
                  <a:srgbClr val="DC2626"/>
                </a:solidFill>
                <a:latin typeface="IBM Plex Sans Thai"/>
              </a:rPr>
              <a:t>{ "error": { "code": "...", "message_th": "...", "message_en": "..." } }</a:t>
            </a:r>
          </a:p>
        </p:txBody>
      </p:sp>
      <p:sp>
        <p:nvSpPr>
          <p:cNvPr id="46" name="TextBox 45"/>
          <p:cNvSpPr txBox="1"/>
          <p:nvPr/>
        </p:nvSpPr>
        <p:spPr>
          <a:xfrm>
            <a:off x="457200" y="5321808"/>
            <a:ext cx="2743200" cy="320040"/>
          </a:xfrm>
          <a:prstGeom prst="rect">
            <a:avLst/>
          </a:prstGeom>
          <a:noFill/>
        </p:spPr>
        <p:txBody>
          <a:bodyPr wrap="square">
            <a:spAutoFit/>
          </a:bodyPr>
          <a:lstStyle/>
          <a:p>
            <a:pPr algn="l"/>
            <a:r>
              <a:rPr sz="1100" b="1">
                <a:solidFill>
                  <a:srgbClr val="DC2626"/>
                </a:solidFill>
                <a:latin typeface="IBM Plex Sans Thai"/>
              </a:rPr>
              <a:t>Error Format (ทุก endpoint)</a:t>
            </a:r>
          </a:p>
        </p:txBody>
      </p:sp>
      <p:sp>
        <p:nvSpPr>
          <p:cNvPr id="47" name="Rectangle 46"/>
          <p:cNvSpPr/>
          <p:nvPr/>
        </p:nvSpPr>
        <p:spPr>
          <a:xfrm>
            <a:off x="6263640" y="5303520"/>
            <a:ext cx="5577840" cy="548640"/>
          </a:xfrm>
          <a:prstGeom prst="rect">
            <a:avLst/>
          </a:prstGeom>
          <a:solidFill>
            <a:srgbClr val="FFF7E0"/>
          </a:solidFill>
          <a:ln w="12700">
            <a:solidFill>
              <a:srgbClr val="CA8A0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55080" y="5358384"/>
            <a:ext cx="5394960" cy="438912"/>
          </a:xfrm>
          <a:prstGeom prst="rect">
            <a:avLst/>
          </a:prstGeom>
          <a:noFill/>
        </p:spPr>
        <p:txBody>
          <a:bodyPr wrap="square">
            <a:spAutoFit/>
          </a:bodyPr>
          <a:lstStyle/>
          <a:p>
            <a:pPr algn="l"/>
            <a:r>
              <a:rPr sz="1200" b="0">
                <a:solidFill>
                  <a:srgbClr val="785000"/>
                </a:solidFill>
                <a:latin typeface="IBM Plex Sans Thai"/>
              </a:rPr>
              <a:t>⏱  Rate Limit: 30 req/min per IP (sliding window, in-memory)</a:t>
            </a:r>
          </a:p>
        </p:txBody>
      </p:sp>
      <p:sp>
        <p:nvSpPr>
          <p:cNvPr id="49" name="Rectangle 48"/>
          <p:cNvSpPr/>
          <p:nvPr/>
        </p:nvSpPr>
        <p:spPr>
          <a:xfrm>
            <a:off x="6263640" y="5943600"/>
            <a:ext cx="5577840" cy="502920"/>
          </a:xfrm>
          <a:prstGeom prst="rect">
            <a:avLst/>
          </a:prstGeom>
          <a:solidFill>
            <a:srgbClr val="E8FFE8"/>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5080" y="5998464"/>
            <a:ext cx="5394960" cy="411480"/>
          </a:xfrm>
          <a:prstGeom prst="rect">
            <a:avLst/>
          </a:prstGeom>
          <a:noFill/>
        </p:spPr>
        <p:txBody>
          <a:bodyPr wrap="square">
            <a:spAutoFit/>
          </a:bodyPr>
          <a:lstStyle/>
          <a:p>
            <a:pPr algn="l"/>
            <a:r>
              <a:rPr sz="1200" b="0">
                <a:solidFill>
                  <a:srgbClr val="14531C"/>
                </a:solidFill>
                <a:latin typeface="IBM Plex Sans Thai"/>
              </a:rPr>
              <a:t>✅  Zod validation บน client &amp; server ทุก route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IBM Plex Sans Thai"/>
              </a:rPr>
              <a:t>Scoring Logic — วิธีคำนวณคะแนน</a:t>
            </a:r>
          </a:p>
        </p:txBody>
      </p:sp>
      <p:sp>
        <p:nvSpPr>
          <p:cNvPr id="5" name="TextBox 4"/>
          <p:cNvSpPr txBox="1"/>
          <p:nvPr/>
        </p:nvSpPr>
        <p:spPr>
          <a:xfrm>
            <a:off x="365760" y="868680"/>
            <a:ext cx="11430000" cy="502920"/>
          </a:xfrm>
          <a:prstGeom prst="rect">
            <a:avLst/>
          </a:prstGeom>
          <a:noFill/>
        </p:spPr>
        <p:txBody>
          <a:bodyPr wrap="square">
            <a:spAutoFit/>
          </a:bodyPr>
          <a:lstStyle/>
          <a:p>
            <a:pPr algn="l"/>
            <a:r>
              <a:rPr sz="1400" b="0">
                <a:solidFill>
                  <a:srgbClr val="DBEAFE"/>
                </a:solidFill>
                <a:latin typeface="IBM Plex Sans Thai"/>
              </a:rPr>
              <a:t>Credibility Score Algorithm</a:t>
            </a:r>
          </a:p>
        </p:txBody>
      </p:sp>
      <p:sp>
        <p:nvSpPr>
          <p:cNvPr id="6" name="Rectangle 5"/>
          <p:cNvSpPr/>
          <p:nvPr/>
        </p:nvSpPr>
        <p:spPr>
          <a:xfrm>
            <a:off x="0" y="146304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37960"/>
            <a:ext cx="11612880" cy="274320"/>
          </a:xfrm>
          <a:prstGeom prst="rect">
            <a:avLst/>
          </a:prstGeom>
          <a:noFill/>
        </p:spPr>
        <p:txBody>
          <a:bodyPr wrap="square">
            <a:spAutoFit/>
          </a:bodyPr>
          <a:lstStyle/>
          <a:p>
            <a:pPr algn="r"/>
            <a:r>
              <a:rPr sz="1000" b="0">
                <a:solidFill>
                  <a:srgbClr val="AAAAAA"/>
                </a:solidFill>
                <a:latin typeface="IBM Plex Sans Thai"/>
              </a:rPr>
              <a:t>ชัวร์ก่อนแชร์  •  10/18</a:t>
            </a:r>
          </a:p>
        </p:txBody>
      </p:sp>
      <p:sp>
        <p:nvSpPr>
          <p:cNvPr id="8" name="Rectangle 7"/>
          <p:cNvSpPr/>
          <p:nvPr/>
        </p:nvSpPr>
        <p:spPr>
          <a:xfrm>
            <a:off x="4937760" y="1691640"/>
            <a:ext cx="2286000" cy="91440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37760" y="1737360"/>
            <a:ext cx="2286000" cy="777240"/>
          </a:xfrm>
          <a:prstGeom prst="rect">
            <a:avLst/>
          </a:prstGeom>
          <a:noFill/>
        </p:spPr>
        <p:txBody>
          <a:bodyPr wrap="square">
            <a:spAutoFit/>
          </a:bodyPr>
          <a:lstStyle/>
          <a:p>
            <a:pPr algn="ctr"/>
            <a:r>
              <a:rPr sz="2000" b="1">
                <a:solidFill>
                  <a:srgbClr val="FFFFFF"/>
                </a:solidFill>
                <a:latin typeface="IBM Plex Sans Thai"/>
              </a:rPr>
              <a:t>เริ่มต้น: 50</a:t>
            </a:r>
          </a:p>
        </p:txBody>
      </p:sp>
      <p:sp>
        <p:nvSpPr>
          <p:cNvPr id="10" name="Rectangle 9"/>
          <p:cNvSpPr/>
          <p:nvPr/>
        </p:nvSpPr>
        <p:spPr>
          <a:xfrm>
            <a:off x="274320" y="2834640"/>
            <a:ext cx="3474720" cy="1371600"/>
          </a:xfrm>
          <a:prstGeom prst="rect">
            <a:avLst/>
          </a:prstGeom>
          <a:solidFill>
            <a:srgbClr val="FFFFFF"/>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2834640"/>
            <a:ext cx="3474720"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2880360"/>
            <a:ext cx="3291840" cy="292608"/>
          </a:xfrm>
          <a:prstGeom prst="rect">
            <a:avLst/>
          </a:prstGeom>
          <a:noFill/>
        </p:spPr>
        <p:txBody>
          <a:bodyPr wrap="square">
            <a:spAutoFit/>
          </a:bodyPr>
          <a:lstStyle/>
          <a:p>
            <a:pPr algn="l"/>
            <a:r>
              <a:rPr sz="1200" b="1">
                <a:solidFill>
                  <a:srgbClr val="FFFFFF"/>
                </a:solidFill>
                <a:latin typeface="IBM Plex Sans Thai"/>
              </a:rPr>
              <a:t>Known Fake Claim</a:t>
            </a:r>
          </a:p>
        </p:txBody>
      </p:sp>
      <p:sp>
        <p:nvSpPr>
          <p:cNvPr id="13" name="TextBox 12"/>
          <p:cNvSpPr txBox="1"/>
          <p:nvPr/>
        </p:nvSpPr>
        <p:spPr>
          <a:xfrm>
            <a:off x="365760" y="3310128"/>
            <a:ext cx="3291840" cy="411480"/>
          </a:xfrm>
          <a:prstGeom prst="rect">
            <a:avLst/>
          </a:prstGeom>
          <a:noFill/>
        </p:spPr>
        <p:txBody>
          <a:bodyPr wrap="square">
            <a:spAutoFit/>
          </a:bodyPr>
          <a:lstStyle/>
          <a:p>
            <a:pPr algn="l"/>
            <a:r>
              <a:rPr sz="1200" b="0">
                <a:solidFill>
                  <a:srgbClr val="444F60"/>
                </a:solidFill>
                <a:latin typeface="IBM Plex Sans Thai"/>
              </a:rPr>
              <a:t>คะแนนลดเหลือ 5 ทันที</a:t>
            </a:r>
          </a:p>
        </p:txBody>
      </p:sp>
      <p:sp>
        <p:nvSpPr>
          <p:cNvPr id="14" name="TextBox 13"/>
          <p:cNvSpPr txBox="1"/>
          <p:nvPr/>
        </p:nvSpPr>
        <p:spPr>
          <a:xfrm>
            <a:off x="1371600" y="3703320"/>
            <a:ext cx="1280160" cy="411480"/>
          </a:xfrm>
          <a:prstGeom prst="rect">
            <a:avLst/>
          </a:prstGeom>
          <a:noFill/>
        </p:spPr>
        <p:txBody>
          <a:bodyPr wrap="square">
            <a:spAutoFit/>
          </a:bodyPr>
          <a:lstStyle/>
          <a:p>
            <a:pPr algn="ctr"/>
            <a:r>
              <a:rPr sz="2200" b="1">
                <a:solidFill>
                  <a:srgbClr val="DC2626"/>
                </a:solidFill>
                <a:latin typeface="IBM Plex Sans Thai"/>
              </a:rPr>
              <a:t>-45</a:t>
            </a:r>
          </a:p>
        </p:txBody>
      </p:sp>
      <p:sp>
        <p:nvSpPr>
          <p:cNvPr id="15" name="Rectangle 14"/>
          <p:cNvSpPr/>
          <p:nvPr/>
        </p:nvSpPr>
        <p:spPr>
          <a:xfrm>
            <a:off x="3977639" y="2834640"/>
            <a:ext cx="3474720" cy="1371600"/>
          </a:xfrm>
          <a:prstGeom prst="rect">
            <a:avLst/>
          </a:prstGeom>
          <a:solidFill>
            <a:srgbClr val="FFFFFF"/>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77639" y="2834640"/>
            <a:ext cx="3474720" cy="36576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69079" y="2880360"/>
            <a:ext cx="3291840" cy="292608"/>
          </a:xfrm>
          <a:prstGeom prst="rect">
            <a:avLst/>
          </a:prstGeom>
          <a:noFill/>
        </p:spPr>
        <p:txBody>
          <a:bodyPr wrap="square">
            <a:spAutoFit/>
          </a:bodyPr>
          <a:lstStyle/>
          <a:p>
            <a:pPr algn="l"/>
            <a:r>
              <a:rPr sz="1200" b="1">
                <a:solidFill>
                  <a:srgbClr val="FFFFFF"/>
                </a:solidFill>
                <a:latin typeface="IBM Plex Sans Thai"/>
              </a:rPr>
              <a:t>Partial Fake (&gt;80% sim)</a:t>
            </a:r>
          </a:p>
        </p:txBody>
      </p:sp>
      <p:sp>
        <p:nvSpPr>
          <p:cNvPr id="18" name="TextBox 17"/>
          <p:cNvSpPr txBox="1"/>
          <p:nvPr/>
        </p:nvSpPr>
        <p:spPr>
          <a:xfrm>
            <a:off x="4069079" y="3310128"/>
            <a:ext cx="3291840" cy="411480"/>
          </a:xfrm>
          <a:prstGeom prst="rect">
            <a:avLst/>
          </a:prstGeom>
          <a:noFill/>
        </p:spPr>
        <p:txBody>
          <a:bodyPr wrap="square">
            <a:spAutoFit/>
          </a:bodyPr>
          <a:lstStyle/>
          <a:p>
            <a:pPr algn="l"/>
            <a:r>
              <a:rPr sz="1200" b="0">
                <a:solidFill>
                  <a:srgbClr val="444F60"/>
                </a:solidFill>
                <a:latin typeface="IBM Plex Sans Thai"/>
              </a:rPr>
              <a:t>ลดคะแนน</a:t>
            </a:r>
          </a:p>
        </p:txBody>
      </p:sp>
      <p:sp>
        <p:nvSpPr>
          <p:cNvPr id="19" name="TextBox 18"/>
          <p:cNvSpPr txBox="1"/>
          <p:nvPr/>
        </p:nvSpPr>
        <p:spPr>
          <a:xfrm>
            <a:off x="5074920" y="3703320"/>
            <a:ext cx="1280160" cy="411480"/>
          </a:xfrm>
          <a:prstGeom prst="rect">
            <a:avLst/>
          </a:prstGeom>
          <a:noFill/>
        </p:spPr>
        <p:txBody>
          <a:bodyPr wrap="square">
            <a:spAutoFit/>
          </a:bodyPr>
          <a:lstStyle/>
          <a:p>
            <a:pPr algn="ctr"/>
            <a:r>
              <a:rPr sz="2200" b="1">
                <a:solidFill>
                  <a:srgbClr val="EA580C"/>
                </a:solidFill>
                <a:latin typeface="IBM Plex Sans Thai"/>
              </a:rPr>
              <a:t>−20</a:t>
            </a:r>
          </a:p>
        </p:txBody>
      </p:sp>
      <p:sp>
        <p:nvSpPr>
          <p:cNvPr id="20" name="Rectangle 19"/>
          <p:cNvSpPr/>
          <p:nvPr/>
        </p:nvSpPr>
        <p:spPr>
          <a:xfrm>
            <a:off x="7680959" y="2834640"/>
            <a:ext cx="3474720" cy="1371600"/>
          </a:xfrm>
          <a:prstGeom prst="rect">
            <a:avLst/>
          </a:prstGeom>
          <a:solidFill>
            <a:srgbClr val="FFFFFF"/>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680959" y="2834640"/>
            <a:ext cx="3474720"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399" y="2880360"/>
            <a:ext cx="3291840" cy="292608"/>
          </a:xfrm>
          <a:prstGeom prst="rect">
            <a:avLst/>
          </a:prstGeom>
          <a:noFill/>
        </p:spPr>
        <p:txBody>
          <a:bodyPr wrap="square">
            <a:spAutoFit/>
          </a:bodyPr>
          <a:lstStyle/>
          <a:p>
            <a:pPr algn="l"/>
            <a:r>
              <a:rPr sz="1200" b="1">
                <a:solidFill>
                  <a:srgbClr val="FFFFFF"/>
                </a:solidFill>
                <a:latin typeface="IBM Plex Sans Thai"/>
              </a:rPr>
              <a:t>Suspicious Domain</a:t>
            </a:r>
          </a:p>
        </p:txBody>
      </p:sp>
      <p:sp>
        <p:nvSpPr>
          <p:cNvPr id="23" name="TextBox 22"/>
          <p:cNvSpPr txBox="1"/>
          <p:nvPr/>
        </p:nvSpPr>
        <p:spPr>
          <a:xfrm>
            <a:off x="7772399" y="3310128"/>
            <a:ext cx="3291840" cy="411480"/>
          </a:xfrm>
          <a:prstGeom prst="rect">
            <a:avLst/>
          </a:prstGeom>
          <a:noFill/>
        </p:spPr>
        <p:txBody>
          <a:bodyPr wrap="square">
            <a:spAutoFit/>
          </a:bodyPr>
          <a:lstStyle/>
          <a:p>
            <a:pPr algn="l"/>
            <a:r>
              <a:rPr sz="1200" b="0">
                <a:solidFill>
                  <a:srgbClr val="444F60"/>
                </a:solidFill>
                <a:latin typeface="IBM Plex Sans Thai"/>
              </a:rPr>
              <a:t>ลดคะแนน</a:t>
            </a:r>
          </a:p>
        </p:txBody>
      </p:sp>
      <p:sp>
        <p:nvSpPr>
          <p:cNvPr id="24" name="TextBox 23"/>
          <p:cNvSpPr txBox="1"/>
          <p:nvPr/>
        </p:nvSpPr>
        <p:spPr>
          <a:xfrm>
            <a:off x="8778239" y="3703320"/>
            <a:ext cx="1280160" cy="411480"/>
          </a:xfrm>
          <a:prstGeom prst="rect">
            <a:avLst/>
          </a:prstGeom>
          <a:noFill/>
        </p:spPr>
        <p:txBody>
          <a:bodyPr wrap="square">
            <a:spAutoFit/>
          </a:bodyPr>
          <a:lstStyle/>
          <a:p>
            <a:pPr algn="ctr"/>
            <a:r>
              <a:rPr sz="2200" b="1">
                <a:solidFill>
                  <a:srgbClr val="DC2626"/>
                </a:solidFill>
                <a:latin typeface="IBM Plex Sans Thai"/>
              </a:rPr>
              <a:t>−25</a:t>
            </a:r>
          </a:p>
        </p:txBody>
      </p:sp>
      <p:sp>
        <p:nvSpPr>
          <p:cNvPr id="25" name="Rectangle 24"/>
          <p:cNvSpPr/>
          <p:nvPr/>
        </p:nvSpPr>
        <p:spPr>
          <a:xfrm>
            <a:off x="2011680" y="4480560"/>
            <a:ext cx="3474720" cy="1371600"/>
          </a:xfrm>
          <a:prstGeom prst="rect">
            <a:avLst/>
          </a:prstGeom>
          <a:solidFill>
            <a:srgbClr val="FFFFFF"/>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11680" y="4480560"/>
            <a:ext cx="3474720" cy="3657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103120" y="4526280"/>
            <a:ext cx="3291840" cy="292608"/>
          </a:xfrm>
          <a:prstGeom prst="rect">
            <a:avLst/>
          </a:prstGeom>
          <a:noFill/>
        </p:spPr>
        <p:txBody>
          <a:bodyPr wrap="square">
            <a:spAutoFit/>
          </a:bodyPr>
          <a:lstStyle/>
          <a:p>
            <a:pPr algn="l"/>
            <a:r>
              <a:rPr sz="1200" b="1">
                <a:solidFill>
                  <a:srgbClr val="FFFFFF"/>
                </a:solidFill>
                <a:latin typeface="IBM Plex Sans Thai"/>
              </a:rPr>
              <a:t>Trusted Source Support</a:t>
            </a:r>
          </a:p>
        </p:txBody>
      </p:sp>
      <p:sp>
        <p:nvSpPr>
          <p:cNvPr id="28" name="TextBox 27"/>
          <p:cNvSpPr txBox="1"/>
          <p:nvPr/>
        </p:nvSpPr>
        <p:spPr>
          <a:xfrm>
            <a:off x="2103120" y="4956048"/>
            <a:ext cx="3291840" cy="411480"/>
          </a:xfrm>
          <a:prstGeom prst="rect">
            <a:avLst/>
          </a:prstGeom>
          <a:noFill/>
        </p:spPr>
        <p:txBody>
          <a:bodyPr wrap="square">
            <a:spAutoFit/>
          </a:bodyPr>
          <a:lstStyle/>
          <a:p>
            <a:pPr algn="l"/>
            <a:r>
              <a:rPr sz="1200" b="0">
                <a:solidFill>
                  <a:srgbClr val="444F60"/>
                </a:solidFill>
                <a:latin typeface="IBM Plex Sans Thai"/>
              </a:rPr>
              <a:t>เพิ่มคะแนน (max 100)</a:t>
            </a:r>
          </a:p>
        </p:txBody>
      </p:sp>
      <p:sp>
        <p:nvSpPr>
          <p:cNvPr id="29" name="TextBox 28"/>
          <p:cNvSpPr txBox="1"/>
          <p:nvPr/>
        </p:nvSpPr>
        <p:spPr>
          <a:xfrm>
            <a:off x="3108960" y="5349240"/>
            <a:ext cx="1280160" cy="411480"/>
          </a:xfrm>
          <a:prstGeom prst="rect">
            <a:avLst/>
          </a:prstGeom>
          <a:noFill/>
        </p:spPr>
        <p:txBody>
          <a:bodyPr wrap="square">
            <a:spAutoFit/>
          </a:bodyPr>
          <a:lstStyle/>
          <a:p>
            <a:pPr algn="ctr"/>
            <a:r>
              <a:rPr sz="2200" b="1">
                <a:solidFill>
                  <a:srgbClr val="16A34A"/>
                </a:solidFill>
                <a:latin typeface="IBM Plex Sans Thai"/>
              </a:rPr>
              <a:t>+8</a:t>
            </a:r>
          </a:p>
        </p:txBody>
      </p:sp>
      <p:sp>
        <p:nvSpPr>
          <p:cNvPr id="30" name="Rectangle 29"/>
          <p:cNvSpPr/>
          <p:nvPr/>
        </p:nvSpPr>
        <p:spPr>
          <a:xfrm>
            <a:off x="5715000" y="4480560"/>
            <a:ext cx="3474720" cy="1371600"/>
          </a:xfrm>
          <a:prstGeom prst="rect">
            <a:avLst/>
          </a:prstGeom>
          <a:solidFill>
            <a:srgbClr val="FFFFFF"/>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715000" y="4480560"/>
            <a:ext cx="3474720" cy="36576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06440" y="4526280"/>
            <a:ext cx="3291840" cy="292608"/>
          </a:xfrm>
          <a:prstGeom prst="rect">
            <a:avLst/>
          </a:prstGeom>
          <a:noFill/>
        </p:spPr>
        <p:txBody>
          <a:bodyPr wrap="square">
            <a:spAutoFit/>
          </a:bodyPr>
          <a:lstStyle/>
          <a:p>
            <a:pPr algn="l"/>
            <a:r>
              <a:rPr sz="1200" b="1">
                <a:solidFill>
                  <a:srgbClr val="FFFFFF"/>
                </a:solidFill>
                <a:latin typeface="IBM Plex Sans Thai"/>
              </a:rPr>
              <a:t>Trusted Source Oppose</a:t>
            </a:r>
          </a:p>
        </p:txBody>
      </p:sp>
      <p:sp>
        <p:nvSpPr>
          <p:cNvPr id="33" name="TextBox 32"/>
          <p:cNvSpPr txBox="1"/>
          <p:nvPr/>
        </p:nvSpPr>
        <p:spPr>
          <a:xfrm>
            <a:off x="5806440" y="4956048"/>
            <a:ext cx="3291840" cy="411480"/>
          </a:xfrm>
          <a:prstGeom prst="rect">
            <a:avLst/>
          </a:prstGeom>
          <a:noFill/>
        </p:spPr>
        <p:txBody>
          <a:bodyPr wrap="square">
            <a:spAutoFit/>
          </a:bodyPr>
          <a:lstStyle/>
          <a:p>
            <a:pPr algn="l"/>
            <a:r>
              <a:rPr sz="1200" b="0">
                <a:solidFill>
                  <a:srgbClr val="444F60"/>
                </a:solidFill>
                <a:latin typeface="IBM Plex Sans Thai"/>
              </a:rPr>
              <a:t>ลดคะแนน (min 0)</a:t>
            </a:r>
          </a:p>
        </p:txBody>
      </p:sp>
      <p:sp>
        <p:nvSpPr>
          <p:cNvPr id="34" name="TextBox 33"/>
          <p:cNvSpPr txBox="1"/>
          <p:nvPr/>
        </p:nvSpPr>
        <p:spPr>
          <a:xfrm>
            <a:off x="6812280" y="5349240"/>
            <a:ext cx="1280160" cy="411480"/>
          </a:xfrm>
          <a:prstGeom prst="rect">
            <a:avLst/>
          </a:prstGeom>
          <a:noFill/>
        </p:spPr>
        <p:txBody>
          <a:bodyPr wrap="square">
            <a:spAutoFit/>
          </a:bodyPr>
          <a:lstStyle/>
          <a:p>
            <a:pPr algn="ctr"/>
            <a:r>
              <a:rPr sz="2200" b="1">
                <a:solidFill>
                  <a:srgbClr val="EA580C"/>
                </a:solidFill>
                <a:latin typeface="IBM Plex Sans Thai"/>
              </a:rPr>
              <a:t>−8</a:t>
            </a:r>
          </a:p>
        </p:txBody>
      </p:sp>
      <p:sp>
        <p:nvSpPr>
          <p:cNvPr id="35" name="Rectangle 34"/>
          <p:cNvSpPr/>
          <p:nvPr/>
        </p:nvSpPr>
        <p:spPr>
          <a:xfrm>
            <a:off x="320040" y="5989320"/>
            <a:ext cx="2286000" cy="6858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20040" y="6007608"/>
            <a:ext cx="2286000" cy="621792"/>
          </a:xfrm>
          <a:prstGeom prst="rect">
            <a:avLst/>
          </a:prstGeom>
          <a:noFill/>
        </p:spPr>
        <p:txBody>
          <a:bodyPr wrap="square">
            <a:spAutoFit/>
          </a:bodyPr>
          <a:lstStyle/>
          <a:p>
            <a:pPr algn="ctr"/>
            <a:r>
              <a:rPr sz="1200" b="1">
                <a:solidFill>
                  <a:srgbClr val="FFFFFF"/>
                </a:solidFill>
                <a:latin typeface="IBM Plex Sans Thai"/>
              </a:rPr>
              <a:t>0–20
อันตราย</a:t>
            </a:r>
          </a:p>
        </p:txBody>
      </p:sp>
      <p:sp>
        <p:nvSpPr>
          <p:cNvPr id="37" name="Rectangle 36"/>
          <p:cNvSpPr/>
          <p:nvPr/>
        </p:nvSpPr>
        <p:spPr>
          <a:xfrm>
            <a:off x="2651760" y="5989320"/>
            <a:ext cx="2286000" cy="6858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651760" y="6007608"/>
            <a:ext cx="2286000" cy="621792"/>
          </a:xfrm>
          <a:prstGeom prst="rect">
            <a:avLst/>
          </a:prstGeom>
          <a:noFill/>
        </p:spPr>
        <p:txBody>
          <a:bodyPr wrap="square">
            <a:spAutoFit/>
          </a:bodyPr>
          <a:lstStyle/>
          <a:p>
            <a:pPr algn="ctr"/>
            <a:r>
              <a:rPr sz="1200" b="1">
                <a:solidFill>
                  <a:srgbClr val="FFFFFF"/>
                </a:solidFill>
                <a:latin typeface="IBM Plex Sans Thai"/>
              </a:rPr>
              <a:t>21–40
น่าสงสัย</a:t>
            </a:r>
          </a:p>
        </p:txBody>
      </p:sp>
      <p:sp>
        <p:nvSpPr>
          <p:cNvPr id="39" name="Rectangle 38"/>
          <p:cNvSpPr/>
          <p:nvPr/>
        </p:nvSpPr>
        <p:spPr>
          <a:xfrm>
            <a:off x="4983479" y="5989320"/>
            <a:ext cx="2286000" cy="68580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983479" y="6007608"/>
            <a:ext cx="2286000" cy="621792"/>
          </a:xfrm>
          <a:prstGeom prst="rect">
            <a:avLst/>
          </a:prstGeom>
          <a:noFill/>
        </p:spPr>
        <p:txBody>
          <a:bodyPr wrap="square">
            <a:spAutoFit/>
          </a:bodyPr>
          <a:lstStyle/>
          <a:p>
            <a:pPr algn="ctr"/>
            <a:r>
              <a:rPr sz="1200" b="1">
                <a:solidFill>
                  <a:srgbClr val="FFFFFF"/>
                </a:solidFill>
                <a:latin typeface="IBM Plex Sans Thai"/>
              </a:rPr>
              <a:t>41–60
ไม่แน่ใจ</a:t>
            </a:r>
          </a:p>
        </p:txBody>
      </p:sp>
      <p:sp>
        <p:nvSpPr>
          <p:cNvPr id="41" name="Rectangle 40"/>
          <p:cNvSpPr/>
          <p:nvPr/>
        </p:nvSpPr>
        <p:spPr>
          <a:xfrm>
            <a:off x="7315199" y="5989320"/>
            <a:ext cx="2286000" cy="685800"/>
          </a:xfrm>
          <a:prstGeom prst="rect">
            <a:avLst/>
          </a:prstGeom>
          <a:solidFill>
            <a:srgbClr val="65A3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199" y="6007608"/>
            <a:ext cx="2286000" cy="621792"/>
          </a:xfrm>
          <a:prstGeom prst="rect">
            <a:avLst/>
          </a:prstGeom>
          <a:noFill/>
        </p:spPr>
        <p:txBody>
          <a:bodyPr wrap="square">
            <a:spAutoFit/>
          </a:bodyPr>
          <a:lstStyle/>
          <a:p>
            <a:pPr algn="ctr"/>
            <a:r>
              <a:rPr sz="1200" b="1">
                <a:solidFill>
                  <a:srgbClr val="FFFFFF"/>
                </a:solidFill>
                <a:latin typeface="IBM Plex Sans Thai"/>
              </a:rPr>
              <a:t>61–80
ค่อนข้างจริง</a:t>
            </a:r>
          </a:p>
        </p:txBody>
      </p:sp>
      <p:sp>
        <p:nvSpPr>
          <p:cNvPr id="43" name="Rectangle 42"/>
          <p:cNvSpPr/>
          <p:nvPr/>
        </p:nvSpPr>
        <p:spPr>
          <a:xfrm>
            <a:off x="9646919" y="5989320"/>
            <a:ext cx="2286000" cy="6858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46919" y="6007608"/>
            <a:ext cx="2286000" cy="621792"/>
          </a:xfrm>
          <a:prstGeom prst="rect">
            <a:avLst/>
          </a:prstGeom>
          <a:noFill/>
        </p:spPr>
        <p:txBody>
          <a:bodyPr wrap="square">
            <a:spAutoFit/>
          </a:bodyPr>
          <a:lstStyle/>
          <a:p>
            <a:pPr algn="ctr"/>
            <a:r>
              <a:rPr sz="1200" b="1">
                <a:solidFill>
                  <a:srgbClr val="FFFFFF"/>
                </a:solidFill>
                <a:latin typeface="IBM Plex Sans Thai"/>
              </a:rPr>
              <a:t>81–100
ยืนยันแล้ว</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IBM Plex Sans Thai"/>
              </a:rPr>
              <a:t>AI Image Analysis — Gemini Integration</a:t>
            </a:r>
          </a:p>
        </p:txBody>
      </p:sp>
      <p:sp>
        <p:nvSpPr>
          <p:cNvPr id="5" name="TextBox 4"/>
          <p:cNvSpPr txBox="1"/>
          <p:nvPr/>
        </p:nvSpPr>
        <p:spPr>
          <a:xfrm>
            <a:off x="365760" y="868680"/>
            <a:ext cx="11430000" cy="502920"/>
          </a:xfrm>
          <a:prstGeom prst="rect">
            <a:avLst/>
          </a:prstGeom>
          <a:noFill/>
        </p:spPr>
        <p:txBody>
          <a:bodyPr wrap="square">
            <a:spAutoFit/>
          </a:bodyPr>
          <a:lstStyle/>
          <a:p>
            <a:pPr algn="l"/>
            <a:r>
              <a:rPr sz="1400" b="0">
                <a:solidFill>
                  <a:srgbClr val="DBEAFE"/>
                </a:solidFill>
                <a:latin typeface="IBM Plex Sans Thai"/>
              </a:rPr>
              <a:t>gemini-2.5-flash</a:t>
            </a:r>
          </a:p>
        </p:txBody>
      </p:sp>
      <p:sp>
        <p:nvSpPr>
          <p:cNvPr id="6" name="Rectangle 5"/>
          <p:cNvSpPr/>
          <p:nvPr/>
        </p:nvSpPr>
        <p:spPr>
          <a:xfrm>
            <a:off x="0" y="146304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37960"/>
            <a:ext cx="11612880" cy="274320"/>
          </a:xfrm>
          <a:prstGeom prst="rect">
            <a:avLst/>
          </a:prstGeom>
          <a:noFill/>
        </p:spPr>
        <p:txBody>
          <a:bodyPr wrap="square">
            <a:spAutoFit/>
          </a:bodyPr>
          <a:lstStyle/>
          <a:p>
            <a:pPr algn="r"/>
            <a:r>
              <a:rPr sz="1000" b="0">
                <a:solidFill>
                  <a:srgbClr val="AAAAAA"/>
                </a:solidFill>
                <a:latin typeface="IBM Plex Sans Thai"/>
              </a:rPr>
              <a:t>ชัวร์ก่อนแชร์  •  11/18</a:t>
            </a:r>
          </a:p>
        </p:txBody>
      </p:sp>
      <p:sp>
        <p:nvSpPr>
          <p:cNvPr id="8" name="Rectangle 7"/>
          <p:cNvSpPr/>
          <p:nvPr/>
        </p:nvSpPr>
        <p:spPr>
          <a:xfrm>
            <a:off x="274320" y="1828800"/>
            <a:ext cx="1828800" cy="2926080"/>
          </a:xfrm>
          <a:prstGeom prst="rect">
            <a:avLst/>
          </a:prstGeom>
          <a:solidFill>
            <a:srgbClr val="FFFFFF"/>
          </a:solidFill>
          <a:ln w="12700">
            <a:solidFill>
              <a:srgbClr val="245C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828800"/>
            <a:ext cx="1828800" cy="411480"/>
          </a:xfrm>
          <a:prstGeom prst="rect">
            <a:avLst/>
          </a:prstGeom>
          <a:solidFill>
            <a:srgbClr val="24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874519"/>
            <a:ext cx="1737360" cy="347472"/>
          </a:xfrm>
          <a:prstGeom prst="rect">
            <a:avLst/>
          </a:prstGeom>
          <a:noFill/>
        </p:spPr>
        <p:txBody>
          <a:bodyPr wrap="square">
            <a:spAutoFit/>
          </a:bodyPr>
          <a:lstStyle/>
          <a:p>
            <a:pPr algn="ctr"/>
            <a:r>
              <a:rPr sz="1300" b="1">
                <a:solidFill>
                  <a:srgbClr val="FFFFFF"/>
                </a:solidFill>
                <a:latin typeface="IBM Plex Sans Thai"/>
              </a:rPr>
              <a:t>1. Upload</a:t>
            </a:r>
          </a:p>
        </p:txBody>
      </p:sp>
      <p:sp>
        <p:nvSpPr>
          <p:cNvPr id="11" name="TextBox 10"/>
          <p:cNvSpPr txBox="1"/>
          <p:nvPr/>
        </p:nvSpPr>
        <p:spPr>
          <a:xfrm>
            <a:off x="365760" y="2331720"/>
            <a:ext cx="1645920" cy="2286000"/>
          </a:xfrm>
          <a:prstGeom prst="rect">
            <a:avLst/>
          </a:prstGeom>
          <a:noFill/>
        </p:spPr>
        <p:txBody>
          <a:bodyPr wrap="square">
            <a:spAutoFit/>
          </a:bodyPr>
          <a:lstStyle/>
          <a:p>
            <a:pPr algn="ctr"/>
            <a:r>
              <a:rPr sz="1300" b="0">
                <a:solidFill>
                  <a:srgbClr val="444F60"/>
                </a:solidFill>
                <a:latin typeface="IBM Plex Sans Thai"/>
              </a:rPr>
              <a:t>ผู้ใช้เลือกไฟล์
(JPEG/PNG/WEBP
max 10MB)</a:t>
            </a:r>
          </a:p>
        </p:txBody>
      </p:sp>
      <p:sp>
        <p:nvSpPr>
          <p:cNvPr id="12" name="TextBox 11"/>
          <p:cNvSpPr txBox="1"/>
          <p:nvPr/>
        </p:nvSpPr>
        <p:spPr>
          <a:xfrm>
            <a:off x="2103120" y="3063240"/>
            <a:ext cx="274320" cy="457200"/>
          </a:xfrm>
          <a:prstGeom prst="rect">
            <a:avLst/>
          </a:prstGeom>
          <a:noFill/>
        </p:spPr>
        <p:txBody>
          <a:bodyPr wrap="square">
            <a:spAutoFit/>
          </a:bodyPr>
          <a:lstStyle/>
          <a:p>
            <a:pPr algn="ctr"/>
            <a:r>
              <a:rPr sz="1800" b="0">
                <a:solidFill>
                  <a:srgbClr val="444F60"/>
                </a:solidFill>
                <a:latin typeface="IBM Plex Sans Thai"/>
              </a:rPr>
              <a:t>→</a:t>
            </a:r>
          </a:p>
        </p:txBody>
      </p:sp>
      <p:sp>
        <p:nvSpPr>
          <p:cNvPr id="13" name="Rectangle 12"/>
          <p:cNvSpPr/>
          <p:nvPr/>
        </p:nvSpPr>
        <p:spPr>
          <a:xfrm>
            <a:off x="2267712" y="1828800"/>
            <a:ext cx="1828800" cy="2926080"/>
          </a:xfrm>
          <a:prstGeom prst="rect">
            <a:avLst/>
          </a:prstGeom>
          <a:solidFill>
            <a:srgbClr val="FFFFFF"/>
          </a:solidFill>
          <a:ln w="12700">
            <a:solidFill>
              <a:srgbClr val="245C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267712" y="1828800"/>
            <a:ext cx="1828800" cy="411480"/>
          </a:xfrm>
          <a:prstGeom prst="rect">
            <a:avLst/>
          </a:prstGeom>
          <a:solidFill>
            <a:srgbClr val="24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13432" y="1874519"/>
            <a:ext cx="1737360" cy="347472"/>
          </a:xfrm>
          <a:prstGeom prst="rect">
            <a:avLst/>
          </a:prstGeom>
          <a:noFill/>
        </p:spPr>
        <p:txBody>
          <a:bodyPr wrap="square">
            <a:spAutoFit/>
          </a:bodyPr>
          <a:lstStyle/>
          <a:p>
            <a:pPr algn="ctr"/>
            <a:r>
              <a:rPr sz="1300" b="1">
                <a:solidFill>
                  <a:srgbClr val="FFFFFF"/>
                </a:solidFill>
                <a:latin typeface="IBM Plex Sans Thai"/>
              </a:rPr>
              <a:t>2. Validate</a:t>
            </a:r>
          </a:p>
        </p:txBody>
      </p:sp>
      <p:sp>
        <p:nvSpPr>
          <p:cNvPr id="16" name="TextBox 15"/>
          <p:cNvSpPr txBox="1"/>
          <p:nvPr/>
        </p:nvSpPr>
        <p:spPr>
          <a:xfrm>
            <a:off x="2359152" y="2331720"/>
            <a:ext cx="1645920" cy="2286000"/>
          </a:xfrm>
          <a:prstGeom prst="rect">
            <a:avLst/>
          </a:prstGeom>
          <a:noFill/>
        </p:spPr>
        <p:txBody>
          <a:bodyPr wrap="square">
            <a:spAutoFit/>
          </a:bodyPr>
          <a:lstStyle/>
          <a:p>
            <a:pPr algn="ctr"/>
            <a:r>
              <a:rPr sz="1300" b="0">
                <a:solidFill>
                  <a:srgbClr val="444F60"/>
                </a:solidFill>
                <a:latin typeface="IBM Plex Sans Thai"/>
              </a:rPr>
              <a:t>ตรวจ size/type
Zod schema
ก่อนส่งต่อ</a:t>
            </a:r>
          </a:p>
        </p:txBody>
      </p:sp>
      <p:sp>
        <p:nvSpPr>
          <p:cNvPr id="17" name="TextBox 16"/>
          <p:cNvSpPr txBox="1"/>
          <p:nvPr/>
        </p:nvSpPr>
        <p:spPr>
          <a:xfrm>
            <a:off x="4096512" y="3063240"/>
            <a:ext cx="274320" cy="457200"/>
          </a:xfrm>
          <a:prstGeom prst="rect">
            <a:avLst/>
          </a:prstGeom>
          <a:noFill/>
        </p:spPr>
        <p:txBody>
          <a:bodyPr wrap="square">
            <a:spAutoFit/>
          </a:bodyPr>
          <a:lstStyle/>
          <a:p>
            <a:pPr algn="ctr"/>
            <a:r>
              <a:rPr sz="1800" b="0">
                <a:solidFill>
                  <a:srgbClr val="444F60"/>
                </a:solidFill>
                <a:latin typeface="IBM Plex Sans Thai"/>
              </a:rPr>
              <a:t>→</a:t>
            </a:r>
          </a:p>
        </p:txBody>
      </p:sp>
      <p:sp>
        <p:nvSpPr>
          <p:cNvPr id="18" name="Rectangle 17"/>
          <p:cNvSpPr/>
          <p:nvPr/>
        </p:nvSpPr>
        <p:spPr>
          <a:xfrm>
            <a:off x="4261104" y="1828800"/>
            <a:ext cx="1828800" cy="2926080"/>
          </a:xfrm>
          <a:prstGeom prst="rect">
            <a:avLst/>
          </a:prstGeom>
          <a:solidFill>
            <a:srgbClr val="FFFFFF"/>
          </a:solidFill>
          <a:ln w="12700">
            <a:solidFill>
              <a:srgbClr val="245C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61104" y="1828800"/>
            <a:ext cx="1828800" cy="411480"/>
          </a:xfrm>
          <a:prstGeom prst="rect">
            <a:avLst/>
          </a:prstGeom>
          <a:solidFill>
            <a:srgbClr val="24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06824" y="1874519"/>
            <a:ext cx="1737360" cy="347472"/>
          </a:xfrm>
          <a:prstGeom prst="rect">
            <a:avLst/>
          </a:prstGeom>
          <a:noFill/>
        </p:spPr>
        <p:txBody>
          <a:bodyPr wrap="square">
            <a:spAutoFit/>
          </a:bodyPr>
          <a:lstStyle/>
          <a:p>
            <a:pPr algn="ctr"/>
            <a:r>
              <a:rPr sz="1300" b="1">
                <a:solidFill>
                  <a:srgbClr val="FFFFFF"/>
                </a:solidFill>
                <a:latin typeface="IBM Plex Sans Thai"/>
              </a:rPr>
              <a:t>3. EXIF</a:t>
            </a:r>
          </a:p>
        </p:txBody>
      </p:sp>
      <p:sp>
        <p:nvSpPr>
          <p:cNvPr id="21" name="TextBox 20"/>
          <p:cNvSpPr txBox="1"/>
          <p:nvPr/>
        </p:nvSpPr>
        <p:spPr>
          <a:xfrm>
            <a:off x="4352544" y="2331720"/>
            <a:ext cx="1645920" cy="2286000"/>
          </a:xfrm>
          <a:prstGeom prst="rect">
            <a:avLst/>
          </a:prstGeom>
          <a:noFill/>
        </p:spPr>
        <p:txBody>
          <a:bodyPr wrap="square">
            <a:spAutoFit/>
          </a:bodyPr>
          <a:lstStyle/>
          <a:p>
            <a:pPr algn="ctr"/>
            <a:r>
              <a:rPr sz="1300" b="0">
                <a:solidFill>
                  <a:srgbClr val="444F60"/>
                </a:solidFill>
                <a:latin typeface="IBM Plex Sans Thai"/>
              </a:rPr>
              <a:t>อ่าน metadata
วันที่, GPS,
กล้องต้นทาง</a:t>
            </a:r>
          </a:p>
        </p:txBody>
      </p:sp>
      <p:sp>
        <p:nvSpPr>
          <p:cNvPr id="22" name="TextBox 21"/>
          <p:cNvSpPr txBox="1"/>
          <p:nvPr/>
        </p:nvSpPr>
        <p:spPr>
          <a:xfrm>
            <a:off x="6089904" y="3063240"/>
            <a:ext cx="274320" cy="457200"/>
          </a:xfrm>
          <a:prstGeom prst="rect">
            <a:avLst/>
          </a:prstGeom>
          <a:noFill/>
        </p:spPr>
        <p:txBody>
          <a:bodyPr wrap="square">
            <a:spAutoFit/>
          </a:bodyPr>
          <a:lstStyle/>
          <a:p>
            <a:pPr algn="ctr"/>
            <a:r>
              <a:rPr sz="1800" b="0">
                <a:solidFill>
                  <a:srgbClr val="444F60"/>
                </a:solidFill>
                <a:latin typeface="IBM Plex Sans Thai"/>
              </a:rPr>
              <a:t>→</a:t>
            </a:r>
          </a:p>
        </p:txBody>
      </p:sp>
      <p:sp>
        <p:nvSpPr>
          <p:cNvPr id="23" name="Rectangle 22"/>
          <p:cNvSpPr/>
          <p:nvPr/>
        </p:nvSpPr>
        <p:spPr>
          <a:xfrm>
            <a:off x="6254496" y="1828800"/>
            <a:ext cx="1828800" cy="2926080"/>
          </a:xfrm>
          <a:prstGeom prst="rect">
            <a:avLst/>
          </a:prstGeom>
          <a:solidFill>
            <a:srgbClr val="FFFFFF"/>
          </a:solidFill>
          <a:ln w="1270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54496" y="1828800"/>
            <a:ext cx="1828800" cy="41148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0216" y="1874519"/>
            <a:ext cx="1737360" cy="347472"/>
          </a:xfrm>
          <a:prstGeom prst="rect">
            <a:avLst/>
          </a:prstGeom>
          <a:noFill/>
        </p:spPr>
        <p:txBody>
          <a:bodyPr wrap="square">
            <a:spAutoFit/>
          </a:bodyPr>
          <a:lstStyle/>
          <a:p>
            <a:pPr algn="ctr"/>
            <a:r>
              <a:rPr sz="1300" b="1">
                <a:solidFill>
                  <a:srgbClr val="FFFFFF"/>
                </a:solidFill>
                <a:latin typeface="IBM Plex Sans Thai"/>
              </a:rPr>
              <a:t>4. Gemini</a:t>
            </a:r>
          </a:p>
        </p:txBody>
      </p:sp>
      <p:sp>
        <p:nvSpPr>
          <p:cNvPr id="26" name="TextBox 25"/>
          <p:cNvSpPr txBox="1"/>
          <p:nvPr/>
        </p:nvSpPr>
        <p:spPr>
          <a:xfrm>
            <a:off x="6345936" y="2331720"/>
            <a:ext cx="1645920" cy="2286000"/>
          </a:xfrm>
          <a:prstGeom prst="rect">
            <a:avLst/>
          </a:prstGeom>
          <a:noFill/>
        </p:spPr>
        <p:txBody>
          <a:bodyPr wrap="square">
            <a:spAutoFit/>
          </a:bodyPr>
          <a:lstStyle/>
          <a:p>
            <a:pPr algn="ctr"/>
            <a:r>
              <a:rPr sz="1300" b="0">
                <a:solidFill>
                  <a:srgbClr val="444F60"/>
                </a:solidFill>
                <a:latin typeface="IBM Plex Sans Thai"/>
              </a:rPr>
              <a:t>ส่ง base64 +
structured JSON
prompt</a:t>
            </a:r>
          </a:p>
        </p:txBody>
      </p:sp>
      <p:sp>
        <p:nvSpPr>
          <p:cNvPr id="27" name="TextBox 26"/>
          <p:cNvSpPr txBox="1"/>
          <p:nvPr/>
        </p:nvSpPr>
        <p:spPr>
          <a:xfrm>
            <a:off x="8083296" y="3063240"/>
            <a:ext cx="274320" cy="457200"/>
          </a:xfrm>
          <a:prstGeom prst="rect">
            <a:avLst/>
          </a:prstGeom>
          <a:noFill/>
        </p:spPr>
        <p:txBody>
          <a:bodyPr wrap="square">
            <a:spAutoFit/>
          </a:bodyPr>
          <a:lstStyle/>
          <a:p>
            <a:pPr algn="ctr"/>
            <a:r>
              <a:rPr sz="1800" b="0">
                <a:solidFill>
                  <a:srgbClr val="444F60"/>
                </a:solidFill>
                <a:latin typeface="IBM Plex Sans Thai"/>
              </a:rPr>
              <a:t>→</a:t>
            </a:r>
          </a:p>
        </p:txBody>
      </p:sp>
      <p:sp>
        <p:nvSpPr>
          <p:cNvPr id="28" name="Rectangle 27"/>
          <p:cNvSpPr/>
          <p:nvPr/>
        </p:nvSpPr>
        <p:spPr>
          <a:xfrm>
            <a:off x="8247888" y="1828800"/>
            <a:ext cx="1828800" cy="2926080"/>
          </a:xfrm>
          <a:prstGeom prst="rect">
            <a:avLst/>
          </a:prstGeom>
          <a:solidFill>
            <a:srgbClr val="FFFFFF"/>
          </a:solidFill>
          <a:ln w="1270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47888" y="1828800"/>
            <a:ext cx="1828800" cy="41148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93608" y="1874519"/>
            <a:ext cx="1737360" cy="347472"/>
          </a:xfrm>
          <a:prstGeom prst="rect">
            <a:avLst/>
          </a:prstGeom>
          <a:noFill/>
        </p:spPr>
        <p:txBody>
          <a:bodyPr wrap="square">
            <a:spAutoFit/>
          </a:bodyPr>
          <a:lstStyle/>
          <a:p>
            <a:pPr algn="ctr"/>
            <a:r>
              <a:rPr sz="1300" b="1">
                <a:solidFill>
                  <a:srgbClr val="FFFFFF"/>
                </a:solidFill>
                <a:latin typeface="IBM Plex Sans Thai"/>
              </a:rPr>
              <a:t>5. Parse</a:t>
            </a:r>
          </a:p>
        </p:txBody>
      </p:sp>
      <p:sp>
        <p:nvSpPr>
          <p:cNvPr id="31" name="TextBox 30"/>
          <p:cNvSpPr txBox="1"/>
          <p:nvPr/>
        </p:nvSpPr>
        <p:spPr>
          <a:xfrm>
            <a:off x="8339327" y="2331720"/>
            <a:ext cx="1645920" cy="2286000"/>
          </a:xfrm>
          <a:prstGeom prst="rect">
            <a:avLst/>
          </a:prstGeom>
          <a:noFill/>
        </p:spPr>
        <p:txBody>
          <a:bodyPr wrap="square">
            <a:spAutoFit/>
          </a:bodyPr>
          <a:lstStyle/>
          <a:p>
            <a:pPr algn="ctr"/>
            <a:r>
              <a:rPr sz="1300" b="0">
                <a:solidFill>
                  <a:srgbClr val="444F60"/>
                </a:solidFill>
                <a:latin typeface="IBM Plex Sans Thai"/>
              </a:rPr>
              <a:t>รับ aiProbability
detectedModel
bullets ไทย</a:t>
            </a:r>
          </a:p>
        </p:txBody>
      </p:sp>
      <p:sp>
        <p:nvSpPr>
          <p:cNvPr id="32" name="TextBox 31"/>
          <p:cNvSpPr txBox="1"/>
          <p:nvPr/>
        </p:nvSpPr>
        <p:spPr>
          <a:xfrm>
            <a:off x="10076688" y="3063240"/>
            <a:ext cx="274320" cy="457200"/>
          </a:xfrm>
          <a:prstGeom prst="rect">
            <a:avLst/>
          </a:prstGeom>
          <a:noFill/>
        </p:spPr>
        <p:txBody>
          <a:bodyPr wrap="square">
            <a:spAutoFit/>
          </a:bodyPr>
          <a:lstStyle/>
          <a:p>
            <a:pPr algn="ctr"/>
            <a:r>
              <a:rPr sz="1800" b="0">
                <a:solidFill>
                  <a:srgbClr val="444F60"/>
                </a:solidFill>
                <a:latin typeface="IBM Plex Sans Thai"/>
              </a:rPr>
              <a:t>→</a:t>
            </a:r>
          </a:p>
        </p:txBody>
      </p:sp>
      <p:sp>
        <p:nvSpPr>
          <p:cNvPr id="33" name="Rectangle 32"/>
          <p:cNvSpPr/>
          <p:nvPr/>
        </p:nvSpPr>
        <p:spPr>
          <a:xfrm>
            <a:off x="10241280" y="1828800"/>
            <a:ext cx="1828800" cy="2926080"/>
          </a:xfrm>
          <a:prstGeom prst="rect">
            <a:avLst/>
          </a:prstGeom>
          <a:solidFill>
            <a:srgbClr val="FFFFFF"/>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241280" y="1828800"/>
            <a:ext cx="1828800" cy="4114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287000" y="1874519"/>
            <a:ext cx="1737360" cy="347472"/>
          </a:xfrm>
          <a:prstGeom prst="rect">
            <a:avLst/>
          </a:prstGeom>
          <a:noFill/>
        </p:spPr>
        <p:txBody>
          <a:bodyPr wrap="square">
            <a:spAutoFit/>
          </a:bodyPr>
          <a:lstStyle/>
          <a:p>
            <a:pPr algn="ctr"/>
            <a:r>
              <a:rPr sz="1300" b="1">
                <a:solidFill>
                  <a:srgbClr val="FFFFFF"/>
                </a:solidFill>
                <a:latin typeface="IBM Plex Sans Thai"/>
              </a:rPr>
              <a:t>6. Fallback</a:t>
            </a:r>
          </a:p>
        </p:txBody>
      </p:sp>
      <p:sp>
        <p:nvSpPr>
          <p:cNvPr id="36" name="TextBox 35"/>
          <p:cNvSpPr txBox="1"/>
          <p:nvPr/>
        </p:nvSpPr>
        <p:spPr>
          <a:xfrm>
            <a:off x="10332719" y="2331720"/>
            <a:ext cx="1645920" cy="2286000"/>
          </a:xfrm>
          <a:prstGeom prst="rect">
            <a:avLst/>
          </a:prstGeom>
          <a:noFill/>
        </p:spPr>
        <p:txBody>
          <a:bodyPr wrap="square">
            <a:spAutoFit/>
          </a:bodyPr>
          <a:lstStyle/>
          <a:p>
            <a:pPr algn="ctr"/>
            <a:r>
              <a:rPr sz="1300" b="0">
                <a:solidFill>
                  <a:srgbClr val="444F60"/>
                </a:solidFill>
                <a:latin typeface="IBM Plex Sans Thai"/>
              </a:rPr>
              <a:t>ถ้า Gemini ล้ม
return 200
กับ fallback data</a:t>
            </a:r>
          </a:p>
        </p:txBody>
      </p:sp>
      <p:sp>
        <p:nvSpPr>
          <p:cNvPr id="37" name="Rectangle 36"/>
          <p:cNvSpPr/>
          <p:nvPr/>
        </p:nvSpPr>
        <p:spPr>
          <a:xfrm>
            <a:off x="274320" y="4983480"/>
            <a:ext cx="11612880" cy="1508760"/>
          </a:xfrm>
          <a:prstGeom prst="rect">
            <a:avLst/>
          </a:prstGeom>
          <a:solidFill>
            <a:srgbClr val="E8FFE8"/>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5074920"/>
            <a:ext cx="11247120" cy="1280160"/>
          </a:xfrm>
          <a:prstGeom prst="rect">
            <a:avLst/>
          </a:prstGeom>
          <a:noFill/>
        </p:spPr>
        <p:txBody>
          <a:bodyPr wrap="square">
            <a:spAutoFit/>
          </a:bodyPr>
          <a:lstStyle/>
          <a:p>
            <a:pPr algn="l"/>
            <a:r>
              <a:rPr sz="1200" b="0">
                <a:solidFill>
                  <a:srgbClr val="16A34A"/>
                </a:solidFill>
                <a:latin typeface="IBM Plex Sans Thai"/>
              </a:rPr>
              <a:t>Output: { aiProbability: 0.87, detectedModel: "DALL-E 3", reasoning: ["ขอบภาพไม่เป็นธรรมชาติ", "แสงไม่สอดคล้องกัน", "..." ], confidence: 0.92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IBM Plex Sans Thai"/>
              </a:rPr>
              <a:t>Privacy by Design</a:t>
            </a:r>
          </a:p>
        </p:txBody>
      </p:sp>
      <p:sp>
        <p:nvSpPr>
          <p:cNvPr id="5" name="TextBox 4"/>
          <p:cNvSpPr txBox="1"/>
          <p:nvPr/>
        </p:nvSpPr>
        <p:spPr>
          <a:xfrm>
            <a:off x="365760" y="868680"/>
            <a:ext cx="11430000" cy="502920"/>
          </a:xfrm>
          <a:prstGeom prst="rect">
            <a:avLst/>
          </a:prstGeom>
          <a:noFill/>
        </p:spPr>
        <p:txBody>
          <a:bodyPr wrap="square">
            <a:spAutoFit/>
          </a:bodyPr>
          <a:lstStyle/>
          <a:p>
            <a:pPr algn="l"/>
            <a:r>
              <a:rPr sz="1400" b="0">
                <a:solidFill>
                  <a:srgbClr val="DBEAFE"/>
                </a:solidFill>
                <a:latin typeface="IBM Plex Sans Thai"/>
              </a:rPr>
              <a:t>4 การตัดสินใจด้านความเป็นส่วนตัว</a:t>
            </a:r>
          </a:p>
        </p:txBody>
      </p:sp>
      <p:sp>
        <p:nvSpPr>
          <p:cNvPr id="6" name="Rectangle 5"/>
          <p:cNvSpPr/>
          <p:nvPr/>
        </p:nvSpPr>
        <p:spPr>
          <a:xfrm>
            <a:off x="0" y="146304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37960"/>
            <a:ext cx="11612880" cy="274320"/>
          </a:xfrm>
          <a:prstGeom prst="rect">
            <a:avLst/>
          </a:prstGeom>
          <a:noFill/>
        </p:spPr>
        <p:txBody>
          <a:bodyPr wrap="square">
            <a:spAutoFit/>
          </a:bodyPr>
          <a:lstStyle/>
          <a:p>
            <a:pPr algn="r"/>
            <a:r>
              <a:rPr sz="1000" b="0">
                <a:solidFill>
                  <a:srgbClr val="AAAAAA"/>
                </a:solidFill>
                <a:latin typeface="IBM Plex Sans Thai"/>
              </a:rPr>
              <a:t>ชัวร์ก่อนแชร์  •  12/18</a:t>
            </a:r>
          </a:p>
        </p:txBody>
      </p:sp>
      <p:sp>
        <p:nvSpPr>
          <p:cNvPr id="8" name="Rectangle 7"/>
          <p:cNvSpPr/>
          <p:nvPr/>
        </p:nvSpPr>
        <p:spPr>
          <a:xfrm>
            <a:off x="274320" y="1737360"/>
            <a:ext cx="5577840" cy="2103120"/>
          </a:xfrm>
          <a:prstGeom prst="rect">
            <a:avLst/>
          </a:prstGeom>
          <a:solidFill>
            <a:srgbClr val="FFFFFF"/>
          </a:solidFill>
          <a:ln w="12700">
            <a:solidFill>
              <a:srgbClr val="6B21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737360"/>
            <a:ext cx="5577840" cy="45720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79" y="1801368"/>
            <a:ext cx="5303520" cy="347472"/>
          </a:xfrm>
          <a:prstGeom prst="rect">
            <a:avLst/>
          </a:prstGeom>
          <a:noFill/>
        </p:spPr>
        <p:txBody>
          <a:bodyPr wrap="square">
            <a:spAutoFit/>
          </a:bodyPr>
          <a:lstStyle/>
          <a:p>
            <a:pPr algn="l"/>
            <a:r>
              <a:rPr sz="1400" b="1">
                <a:solidFill>
                  <a:srgbClr val="FFFFFF"/>
                </a:solidFill>
                <a:latin typeface="IBM Plex Sans Thai"/>
              </a:rPr>
              <a:t>🗄️  localStorage Only</a:t>
            </a:r>
          </a:p>
        </p:txBody>
      </p:sp>
      <p:sp>
        <p:nvSpPr>
          <p:cNvPr id="11" name="TextBox 10"/>
          <p:cNvSpPr txBox="1"/>
          <p:nvPr/>
        </p:nvSpPr>
        <p:spPr>
          <a:xfrm>
            <a:off x="411479" y="2331720"/>
            <a:ext cx="5303520" cy="1371600"/>
          </a:xfrm>
          <a:prstGeom prst="rect">
            <a:avLst/>
          </a:prstGeom>
          <a:noFill/>
        </p:spPr>
        <p:txBody>
          <a:bodyPr wrap="square">
            <a:spAutoFit/>
          </a:bodyPr>
          <a:lstStyle/>
          <a:p>
            <a:pPr algn="l"/>
            <a:r>
              <a:rPr sz="1300" b="0">
                <a:solidFill>
                  <a:srgbClr val="444F60"/>
                </a:solidFill>
                <a:latin typeface="IBM Plex Sans Thai"/>
              </a:rPr>
              <a:t>ประวัติการตรวจสอบเก็บไว้ใน browser
ของผู้ใช้เท่านั้น ไม่มี server-side storage</a:t>
            </a:r>
          </a:p>
        </p:txBody>
      </p:sp>
      <p:sp>
        <p:nvSpPr>
          <p:cNvPr id="12" name="Rectangle 11"/>
          <p:cNvSpPr/>
          <p:nvPr/>
        </p:nvSpPr>
        <p:spPr>
          <a:xfrm>
            <a:off x="6217920" y="1737360"/>
            <a:ext cx="5577840" cy="2103120"/>
          </a:xfrm>
          <a:prstGeom prst="rect">
            <a:avLst/>
          </a:prstGeom>
          <a:solidFill>
            <a:srgbClr val="FFFFFF"/>
          </a:solidFill>
          <a:ln w="12700">
            <a:solidFill>
              <a:srgbClr val="245C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737360"/>
            <a:ext cx="5577840" cy="457200"/>
          </a:xfrm>
          <a:prstGeom prst="rect">
            <a:avLst/>
          </a:prstGeom>
          <a:solidFill>
            <a:srgbClr val="24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801368"/>
            <a:ext cx="5303520" cy="347472"/>
          </a:xfrm>
          <a:prstGeom prst="rect">
            <a:avLst/>
          </a:prstGeom>
          <a:noFill/>
        </p:spPr>
        <p:txBody>
          <a:bodyPr wrap="square">
            <a:spAutoFit/>
          </a:bodyPr>
          <a:lstStyle/>
          <a:p>
            <a:pPr algn="l"/>
            <a:r>
              <a:rPr sz="1400" b="1">
                <a:solidFill>
                  <a:srgbClr val="FFFFFF"/>
                </a:solidFill>
                <a:latin typeface="IBM Plex Sans Thai"/>
              </a:rPr>
              <a:t>🔐  SHA-256 Query Hashing</a:t>
            </a:r>
          </a:p>
        </p:txBody>
      </p:sp>
      <p:sp>
        <p:nvSpPr>
          <p:cNvPr id="15" name="TextBox 14"/>
          <p:cNvSpPr txBox="1"/>
          <p:nvPr/>
        </p:nvSpPr>
        <p:spPr>
          <a:xfrm>
            <a:off x="6355080" y="2331720"/>
            <a:ext cx="5303520" cy="1371600"/>
          </a:xfrm>
          <a:prstGeom prst="rect">
            <a:avLst/>
          </a:prstGeom>
          <a:noFill/>
        </p:spPr>
        <p:txBody>
          <a:bodyPr wrap="square">
            <a:spAutoFit/>
          </a:bodyPr>
          <a:lstStyle/>
          <a:p>
            <a:pPr algn="l"/>
            <a:r>
              <a:rPr sz="1300" b="0">
                <a:solidFill>
                  <a:srgbClr val="444F60"/>
                </a:solidFill>
                <a:latin typeface="IBM Plex Sans Thai"/>
              </a:rPr>
              <a:t>คำค้นหาถูก hash ก่อนบันทึกใน trending
ข้อความต้นฉบับไม่เคยถูกเก็บลง DB</a:t>
            </a:r>
          </a:p>
        </p:txBody>
      </p:sp>
      <p:sp>
        <p:nvSpPr>
          <p:cNvPr id="16" name="Rectangle 15"/>
          <p:cNvSpPr/>
          <p:nvPr/>
        </p:nvSpPr>
        <p:spPr>
          <a:xfrm>
            <a:off x="274320" y="4069079"/>
            <a:ext cx="5577840" cy="2103120"/>
          </a:xfrm>
          <a:prstGeom prst="rect">
            <a:avLst/>
          </a:prstGeom>
          <a:solidFill>
            <a:srgbClr val="FFFFFF"/>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4069079"/>
            <a:ext cx="5577840" cy="4572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79" y="4133087"/>
            <a:ext cx="5303520" cy="347472"/>
          </a:xfrm>
          <a:prstGeom prst="rect">
            <a:avLst/>
          </a:prstGeom>
          <a:noFill/>
        </p:spPr>
        <p:txBody>
          <a:bodyPr wrap="square">
            <a:spAutoFit/>
          </a:bodyPr>
          <a:lstStyle/>
          <a:p>
            <a:pPr algn="l"/>
            <a:r>
              <a:rPr sz="1400" b="1">
                <a:solidFill>
                  <a:srgbClr val="FFFFFF"/>
                </a:solidFill>
                <a:latin typeface="IBM Plex Sans Thai"/>
              </a:rPr>
              <a:t>⏱️  Rate Limiting (IP Only)</a:t>
            </a:r>
          </a:p>
        </p:txBody>
      </p:sp>
      <p:sp>
        <p:nvSpPr>
          <p:cNvPr id="19" name="TextBox 18"/>
          <p:cNvSpPr txBox="1"/>
          <p:nvPr/>
        </p:nvSpPr>
        <p:spPr>
          <a:xfrm>
            <a:off x="411479" y="4663440"/>
            <a:ext cx="5303520" cy="1371600"/>
          </a:xfrm>
          <a:prstGeom prst="rect">
            <a:avLst/>
          </a:prstGeom>
          <a:noFill/>
        </p:spPr>
        <p:txBody>
          <a:bodyPr wrap="square">
            <a:spAutoFit/>
          </a:bodyPr>
          <a:lstStyle/>
          <a:p>
            <a:pPr algn="l"/>
            <a:r>
              <a:rPr sz="1300" b="0">
                <a:solidFill>
                  <a:srgbClr val="444F60"/>
                </a:solidFill>
                <a:latin typeface="IBM Plex Sans Thai"/>
              </a:rPr>
              <a:t>ใช้ IP เพื่อ rate limiting เท่านั้น
ไม่มีการบันทึก IP ลง DB ถาวร</a:t>
            </a:r>
          </a:p>
        </p:txBody>
      </p:sp>
      <p:sp>
        <p:nvSpPr>
          <p:cNvPr id="20" name="Rectangle 19"/>
          <p:cNvSpPr/>
          <p:nvPr/>
        </p:nvSpPr>
        <p:spPr>
          <a:xfrm>
            <a:off x="6217920" y="4069079"/>
            <a:ext cx="5577840" cy="2103120"/>
          </a:xfrm>
          <a:prstGeom prst="rect">
            <a:avLst/>
          </a:prstGeom>
          <a:solidFill>
            <a:srgbClr val="FFFFFF"/>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4069079"/>
            <a:ext cx="5577840" cy="4572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133087"/>
            <a:ext cx="5303520" cy="347472"/>
          </a:xfrm>
          <a:prstGeom prst="rect">
            <a:avLst/>
          </a:prstGeom>
          <a:noFill/>
        </p:spPr>
        <p:txBody>
          <a:bodyPr wrap="square">
            <a:spAutoFit/>
          </a:bodyPr>
          <a:lstStyle/>
          <a:p>
            <a:pPr algn="l"/>
            <a:r>
              <a:rPr sz="1400" b="1">
                <a:solidFill>
                  <a:srgbClr val="FFFFFF"/>
                </a:solidFill>
                <a:latin typeface="IBM Plex Sans Thai"/>
              </a:rPr>
              <a:t>🚫  Zero Personal Data</a:t>
            </a:r>
          </a:p>
        </p:txBody>
      </p:sp>
      <p:sp>
        <p:nvSpPr>
          <p:cNvPr id="23" name="TextBox 22"/>
          <p:cNvSpPr txBox="1"/>
          <p:nvPr/>
        </p:nvSpPr>
        <p:spPr>
          <a:xfrm>
            <a:off x="6355080" y="4663440"/>
            <a:ext cx="5303520" cy="1371600"/>
          </a:xfrm>
          <a:prstGeom prst="rect">
            <a:avLst/>
          </a:prstGeom>
          <a:noFill/>
        </p:spPr>
        <p:txBody>
          <a:bodyPr wrap="square">
            <a:spAutoFit/>
          </a:bodyPr>
          <a:lstStyle/>
          <a:p>
            <a:pPr algn="l"/>
            <a:r>
              <a:rPr sz="1300" b="0">
                <a:solidFill>
                  <a:srgbClr val="444F60"/>
                </a:solidFill>
                <a:latin typeface="IBM Plex Sans Thai"/>
              </a:rPr>
              <a:t>ไม่มี cookies, ไม่มี sessions
ไม่มีข้อมูลส่วนตัวใดๆ บน server</a:t>
            </a:r>
          </a:p>
        </p:txBody>
      </p:sp>
      <p:sp>
        <p:nvSpPr>
          <p:cNvPr id="24" name="Rectangle 23"/>
          <p:cNvSpPr/>
          <p:nvPr/>
        </p:nvSpPr>
        <p:spPr>
          <a:xfrm>
            <a:off x="274320" y="6172200"/>
            <a:ext cx="11612880" cy="5486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6217920"/>
            <a:ext cx="11247120" cy="457200"/>
          </a:xfrm>
          <a:prstGeom prst="rect">
            <a:avLst/>
          </a:prstGeom>
          <a:noFill/>
        </p:spPr>
        <p:txBody>
          <a:bodyPr wrap="square">
            <a:spAutoFit/>
          </a:bodyPr>
          <a:lstStyle/>
          <a:p>
            <a:pPr algn="ctr"/>
            <a:r>
              <a:rPr sz="1500" b="1">
                <a:solidFill>
                  <a:srgbClr val="FFFFFF"/>
                </a:solidFill>
                <a:latin typeface="IBM Plex Sans Thai"/>
              </a:rPr>
              <a:t>🔒  "ข้อมูลเก็บในเครื่องคุณเท่านั้น ไม่ส่งไป server"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IBM Plex Sans Thai"/>
              </a:rPr>
              <a:t>Tech Stack Summary</a:t>
            </a:r>
          </a:p>
        </p:txBody>
      </p:sp>
      <p:sp>
        <p:nvSpPr>
          <p:cNvPr id="5" name="TextBox 4"/>
          <p:cNvSpPr txBox="1"/>
          <p:nvPr/>
        </p:nvSpPr>
        <p:spPr>
          <a:xfrm>
            <a:off x="365760" y="868680"/>
            <a:ext cx="11430000" cy="502920"/>
          </a:xfrm>
          <a:prstGeom prst="rect">
            <a:avLst/>
          </a:prstGeom>
          <a:noFill/>
        </p:spPr>
        <p:txBody>
          <a:bodyPr wrap="square">
            <a:spAutoFit/>
          </a:bodyPr>
          <a:lstStyle/>
          <a:p>
            <a:pPr algn="l"/>
            <a:r>
              <a:rPr sz="1400" b="0">
                <a:solidFill>
                  <a:srgbClr val="DBEAFE"/>
                </a:solidFill>
                <a:latin typeface="IBM Plex Sans Thai"/>
              </a:rPr>
              <a:t>Layer → Technology → Why</a:t>
            </a:r>
          </a:p>
        </p:txBody>
      </p:sp>
      <p:sp>
        <p:nvSpPr>
          <p:cNvPr id="6" name="Rectangle 5"/>
          <p:cNvSpPr/>
          <p:nvPr/>
        </p:nvSpPr>
        <p:spPr>
          <a:xfrm>
            <a:off x="0" y="146304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37960"/>
            <a:ext cx="11612880" cy="274320"/>
          </a:xfrm>
          <a:prstGeom prst="rect">
            <a:avLst/>
          </a:prstGeom>
          <a:noFill/>
        </p:spPr>
        <p:txBody>
          <a:bodyPr wrap="square">
            <a:spAutoFit/>
          </a:bodyPr>
          <a:lstStyle/>
          <a:p>
            <a:pPr algn="r"/>
            <a:r>
              <a:rPr sz="1000" b="0">
                <a:solidFill>
                  <a:srgbClr val="AAAAAA"/>
                </a:solidFill>
                <a:latin typeface="IBM Plex Sans Thai"/>
              </a:rPr>
              <a:t>ชัวร์ก่อนแชร์  •  13/18</a:t>
            </a:r>
          </a:p>
        </p:txBody>
      </p:sp>
      <p:sp>
        <p:nvSpPr>
          <p:cNvPr id="8" name="Rectangle 7"/>
          <p:cNvSpPr/>
          <p:nvPr/>
        </p:nvSpPr>
        <p:spPr>
          <a:xfrm>
            <a:off x="274320" y="1691640"/>
            <a:ext cx="2011680" cy="4114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 y="1719072"/>
            <a:ext cx="1883664" cy="347472"/>
          </a:xfrm>
          <a:prstGeom prst="rect">
            <a:avLst/>
          </a:prstGeom>
          <a:noFill/>
        </p:spPr>
        <p:txBody>
          <a:bodyPr wrap="square">
            <a:spAutoFit/>
          </a:bodyPr>
          <a:lstStyle/>
          <a:p>
            <a:pPr algn="l"/>
            <a:r>
              <a:rPr sz="1300" b="1">
                <a:solidFill>
                  <a:srgbClr val="FFFFFF"/>
                </a:solidFill>
                <a:latin typeface="IBM Plex Sans Thai"/>
              </a:rPr>
              <a:t>Layer</a:t>
            </a:r>
          </a:p>
        </p:txBody>
      </p:sp>
      <p:sp>
        <p:nvSpPr>
          <p:cNvPr id="10" name="Rectangle 9"/>
          <p:cNvSpPr/>
          <p:nvPr/>
        </p:nvSpPr>
        <p:spPr>
          <a:xfrm>
            <a:off x="2331720" y="1691640"/>
            <a:ext cx="3840480" cy="4114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95727" y="1719072"/>
            <a:ext cx="3712464" cy="347472"/>
          </a:xfrm>
          <a:prstGeom prst="rect">
            <a:avLst/>
          </a:prstGeom>
          <a:noFill/>
        </p:spPr>
        <p:txBody>
          <a:bodyPr wrap="square">
            <a:spAutoFit/>
          </a:bodyPr>
          <a:lstStyle/>
          <a:p>
            <a:pPr algn="l"/>
            <a:r>
              <a:rPr sz="1300" b="1">
                <a:solidFill>
                  <a:srgbClr val="FFFFFF"/>
                </a:solidFill>
                <a:latin typeface="IBM Plex Sans Thai"/>
              </a:rPr>
              <a:t>Technology</a:t>
            </a:r>
          </a:p>
        </p:txBody>
      </p:sp>
      <p:sp>
        <p:nvSpPr>
          <p:cNvPr id="12" name="Rectangle 11"/>
          <p:cNvSpPr/>
          <p:nvPr/>
        </p:nvSpPr>
        <p:spPr>
          <a:xfrm>
            <a:off x="6217920" y="1691640"/>
            <a:ext cx="5486400" cy="4114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81928" y="1719072"/>
            <a:ext cx="5358384" cy="347472"/>
          </a:xfrm>
          <a:prstGeom prst="rect">
            <a:avLst/>
          </a:prstGeom>
          <a:noFill/>
        </p:spPr>
        <p:txBody>
          <a:bodyPr wrap="square">
            <a:spAutoFit/>
          </a:bodyPr>
          <a:lstStyle/>
          <a:p>
            <a:pPr algn="l"/>
            <a:r>
              <a:rPr sz="1300" b="1">
                <a:solidFill>
                  <a:srgbClr val="FFFFFF"/>
                </a:solidFill>
                <a:latin typeface="IBM Plex Sans Thai"/>
              </a:rPr>
              <a:t>Why Chosen</a:t>
            </a:r>
          </a:p>
        </p:txBody>
      </p:sp>
      <p:sp>
        <p:nvSpPr>
          <p:cNvPr id="14" name="Rectangle 13"/>
          <p:cNvSpPr/>
          <p:nvPr/>
        </p:nvSpPr>
        <p:spPr>
          <a:xfrm>
            <a:off x="274320" y="2139696"/>
            <a:ext cx="2011680" cy="41148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8328" y="2185415"/>
            <a:ext cx="1883664" cy="320040"/>
          </a:xfrm>
          <a:prstGeom prst="rect">
            <a:avLst/>
          </a:prstGeom>
          <a:noFill/>
        </p:spPr>
        <p:txBody>
          <a:bodyPr wrap="square">
            <a:spAutoFit/>
          </a:bodyPr>
          <a:lstStyle/>
          <a:p>
            <a:pPr algn="l"/>
            <a:r>
              <a:rPr sz="1100" b="0">
                <a:solidFill>
                  <a:srgbClr val="1E3A5F"/>
                </a:solidFill>
                <a:latin typeface="IBM Plex Sans Thai"/>
              </a:rPr>
              <a:t>Framework</a:t>
            </a:r>
          </a:p>
        </p:txBody>
      </p:sp>
      <p:sp>
        <p:nvSpPr>
          <p:cNvPr id="16" name="Rectangle 15"/>
          <p:cNvSpPr/>
          <p:nvPr/>
        </p:nvSpPr>
        <p:spPr>
          <a:xfrm>
            <a:off x="2331720" y="2139696"/>
            <a:ext cx="3840480" cy="41148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95727" y="2185415"/>
            <a:ext cx="3712464" cy="320040"/>
          </a:xfrm>
          <a:prstGeom prst="rect">
            <a:avLst/>
          </a:prstGeom>
          <a:noFill/>
        </p:spPr>
        <p:txBody>
          <a:bodyPr wrap="square">
            <a:spAutoFit/>
          </a:bodyPr>
          <a:lstStyle/>
          <a:p>
            <a:pPr algn="l"/>
            <a:r>
              <a:rPr sz="1100" b="0">
                <a:solidFill>
                  <a:srgbClr val="224488"/>
                </a:solidFill>
                <a:latin typeface="IBM Plex Sans Thai"/>
              </a:rPr>
              <a:t>Next.js 14 (App Router)</a:t>
            </a:r>
          </a:p>
        </p:txBody>
      </p:sp>
      <p:sp>
        <p:nvSpPr>
          <p:cNvPr id="18" name="Rectangle 17"/>
          <p:cNvSpPr/>
          <p:nvPr/>
        </p:nvSpPr>
        <p:spPr>
          <a:xfrm>
            <a:off x="6217920" y="2139696"/>
            <a:ext cx="5486400" cy="41148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81928" y="2185415"/>
            <a:ext cx="5358384" cy="320040"/>
          </a:xfrm>
          <a:prstGeom prst="rect">
            <a:avLst/>
          </a:prstGeom>
          <a:noFill/>
        </p:spPr>
        <p:txBody>
          <a:bodyPr wrap="square">
            <a:spAutoFit/>
          </a:bodyPr>
          <a:lstStyle/>
          <a:p>
            <a:pPr algn="l"/>
            <a:r>
              <a:rPr sz="1100" b="0">
                <a:solidFill>
                  <a:srgbClr val="444F60"/>
                </a:solidFill>
                <a:latin typeface="IBM Plex Sans Thai"/>
              </a:rPr>
              <a:t>SSR + API routes ในที่เดียว, TypeScript strict mode</a:t>
            </a:r>
          </a:p>
        </p:txBody>
      </p:sp>
      <p:sp>
        <p:nvSpPr>
          <p:cNvPr id="20" name="Rectangle 19"/>
          <p:cNvSpPr/>
          <p:nvPr/>
        </p:nvSpPr>
        <p:spPr>
          <a:xfrm>
            <a:off x="274320" y="2551176"/>
            <a:ext cx="2011680" cy="411480"/>
          </a:xfrm>
          <a:prstGeom prst="rect">
            <a:avLst/>
          </a:prstGeom>
          <a:solidFill>
            <a:srgbClr val="F5F7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8328" y="2596896"/>
            <a:ext cx="1883664" cy="320040"/>
          </a:xfrm>
          <a:prstGeom prst="rect">
            <a:avLst/>
          </a:prstGeom>
          <a:noFill/>
        </p:spPr>
        <p:txBody>
          <a:bodyPr wrap="square">
            <a:spAutoFit/>
          </a:bodyPr>
          <a:lstStyle/>
          <a:p>
            <a:pPr algn="l"/>
            <a:r>
              <a:rPr sz="1100" b="0">
                <a:solidFill>
                  <a:srgbClr val="1E3A5F"/>
                </a:solidFill>
                <a:latin typeface="IBM Plex Sans Thai"/>
              </a:rPr>
              <a:t>Language</a:t>
            </a:r>
          </a:p>
        </p:txBody>
      </p:sp>
      <p:sp>
        <p:nvSpPr>
          <p:cNvPr id="22" name="Rectangle 21"/>
          <p:cNvSpPr/>
          <p:nvPr/>
        </p:nvSpPr>
        <p:spPr>
          <a:xfrm>
            <a:off x="2331720" y="2551176"/>
            <a:ext cx="3840480" cy="411480"/>
          </a:xfrm>
          <a:prstGeom prst="rect">
            <a:avLst/>
          </a:prstGeom>
          <a:solidFill>
            <a:srgbClr val="F5F7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95727" y="2596896"/>
            <a:ext cx="3712464" cy="320040"/>
          </a:xfrm>
          <a:prstGeom prst="rect">
            <a:avLst/>
          </a:prstGeom>
          <a:noFill/>
        </p:spPr>
        <p:txBody>
          <a:bodyPr wrap="square">
            <a:spAutoFit/>
          </a:bodyPr>
          <a:lstStyle/>
          <a:p>
            <a:pPr algn="l"/>
            <a:r>
              <a:rPr sz="1100" b="0">
                <a:solidFill>
                  <a:srgbClr val="224488"/>
                </a:solidFill>
                <a:latin typeface="IBM Plex Sans Thai"/>
              </a:rPr>
              <a:t>TypeScript (strict)</a:t>
            </a:r>
          </a:p>
        </p:txBody>
      </p:sp>
      <p:sp>
        <p:nvSpPr>
          <p:cNvPr id="24" name="Rectangle 23"/>
          <p:cNvSpPr/>
          <p:nvPr/>
        </p:nvSpPr>
        <p:spPr>
          <a:xfrm>
            <a:off x="6217920" y="2551176"/>
            <a:ext cx="5486400" cy="411480"/>
          </a:xfrm>
          <a:prstGeom prst="rect">
            <a:avLst/>
          </a:prstGeom>
          <a:solidFill>
            <a:srgbClr val="F5F7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81928" y="2596896"/>
            <a:ext cx="5358384" cy="320040"/>
          </a:xfrm>
          <a:prstGeom prst="rect">
            <a:avLst/>
          </a:prstGeom>
          <a:noFill/>
        </p:spPr>
        <p:txBody>
          <a:bodyPr wrap="square">
            <a:spAutoFit/>
          </a:bodyPr>
          <a:lstStyle/>
          <a:p>
            <a:pPr algn="l"/>
            <a:r>
              <a:rPr sz="1100" b="0">
                <a:solidFill>
                  <a:srgbClr val="444F60"/>
                </a:solidFill>
                <a:latin typeface="IBM Plex Sans Thai"/>
              </a:rPr>
              <a:t>Type safety, ลด runtime error</a:t>
            </a:r>
          </a:p>
        </p:txBody>
      </p:sp>
      <p:sp>
        <p:nvSpPr>
          <p:cNvPr id="26" name="Rectangle 25"/>
          <p:cNvSpPr/>
          <p:nvPr/>
        </p:nvSpPr>
        <p:spPr>
          <a:xfrm>
            <a:off x="274320" y="2962656"/>
            <a:ext cx="2011680" cy="41148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8328" y="3008376"/>
            <a:ext cx="1883664" cy="320040"/>
          </a:xfrm>
          <a:prstGeom prst="rect">
            <a:avLst/>
          </a:prstGeom>
          <a:noFill/>
        </p:spPr>
        <p:txBody>
          <a:bodyPr wrap="square">
            <a:spAutoFit/>
          </a:bodyPr>
          <a:lstStyle/>
          <a:p>
            <a:pPr algn="l"/>
            <a:r>
              <a:rPr sz="1100" b="0">
                <a:solidFill>
                  <a:srgbClr val="1E3A5F"/>
                </a:solidFill>
                <a:latin typeface="IBM Plex Sans Thai"/>
              </a:rPr>
              <a:t>Styling</a:t>
            </a:r>
          </a:p>
        </p:txBody>
      </p:sp>
      <p:sp>
        <p:nvSpPr>
          <p:cNvPr id="28" name="Rectangle 27"/>
          <p:cNvSpPr/>
          <p:nvPr/>
        </p:nvSpPr>
        <p:spPr>
          <a:xfrm>
            <a:off x="2331720" y="2962656"/>
            <a:ext cx="3840480" cy="41148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95727" y="3008376"/>
            <a:ext cx="3712464" cy="320040"/>
          </a:xfrm>
          <a:prstGeom prst="rect">
            <a:avLst/>
          </a:prstGeom>
          <a:noFill/>
        </p:spPr>
        <p:txBody>
          <a:bodyPr wrap="square">
            <a:spAutoFit/>
          </a:bodyPr>
          <a:lstStyle/>
          <a:p>
            <a:pPr algn="l"/>
            <a:r>
              <a:rPr sz="1100" b="0">
                <a:solidFill>
                  <a:srgbClr val="224488"/>
                </a:solidFill>
                <a:latin typeface="IBM Plex Sans Thai"/>
              </a:rPr>
              <a:t>TailwindCSS + shadcn/ui</a:t>
            </a:r>
          </a:p>
        </p:txBody>
      </p:sp>
      <p:sp>
        <p:nvSpPr>
          <p:cNvPr id="30" name="Rectangle 29"/>
          <p:cNvSpPr/>
          <p:nvPr/>
        </p:nvSpPr>
        <p:spPr>
          <a:xfrm>
            <a:off x="6217920" y="2962656"/>
            <a:ext cx="5486400" cy="41148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81928" y="3008376"/>
            <a:ext cx="5358384" cy="320040"/>
          </a:xfrm>
          <a:prstGeom prst="rect">
            <a:avLst/>
          </a:prstGeom>
          <a:noFill/>
        </p:spPr>
        <p:txBody>
          <a:bodyPr wrap="square">
            <a:spAutoFit/>
          </a:bodyPr>
          <a:lstStyle/>
          <a:p>
            <a:pPr algn="l"/>
            <a:r>
              <a:rPr sz="1100" b="0">
                <a:solidFill>
                  <a:srgbClr val="444F60"/>
                </a:solidFill>
                <a:latin typeface="IBM Plex Sans Thai"/>
              </a:rPr>
              <a:t>Rapid UI, design system พร้อมใช้</a:t>
            </a:r>
          </a:p>
        </p:txBody>
      </p:sp>
      <p:sp>
        <p:nvSpPr>
          <p:cNvPr id="32" name="Rectangle 31"/>
          <p:cNvSpPr/>
          <p:nvPr/>
        </p:nvSpPr>
        <p:spPr>
          <a:xfrm>
            <a:off x="274320" y="3374136"/>
            <a:ext cx="2011680" cy="411480"/>
          </a:xfrm>
          <a:prstGeom prst="rect">
            <a:avLst/>
          </a:prstGeom>
          <a:solidFill>
            <a:srgbClr val="F5F7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8328" y="3419856"/>
            <a:ext cx="1883664" cy="320040"/>
          </a:xfrm>
          <a:prstGeom prst="rect">
            <a:avLst/>
          </a:prstGeom>
          <a:noFill/>
        </p:spPr>
        <p:txBody>
          <a:bodyPr wrap="square">
            <a:spAutoFit/>
          </a:bodyPr>
          <a:lstStyle/>
          <a:p>
            <a:pPr algn="l"/>
            <a:r>
              <a:rPr sz="1100" b="0">
                <a:solidFill>
                  <a:srgbClr val="1E3A5F"/>
                </a:solidFill>
                <a:latin typeface="IBM Plex Sans Thai"/>
              </a:rPr>
              <a:t>ORM</a:t>
            </a:r>
          </a:p>
        </p:txBody>
      </p:sp>
      <p:sp>
        <p:nvSpPr>
          <p:cNvPr id="34" name="Rectangle 33"/>
          <p:cNvSpPr/>
          <p:nvPr/>
        </p:nvSpPr>
        <p:spPr>
          <a:xfrm>
            <a:off x="2331720" y="3374136"/>
            <a:ext cx="3840480" cy="411480"/>
          </a:xfrm>
          <a:prstGeom prst="rect">
            <a:avLst/>
          </a:prstGeom>
          <a:solidFill>
            <a:srgbClr val="F5F7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95727" y="3419856"/>
            <a:ext cx="3712464" cy="320040"/>
          </a:xfrm>
          <a:prstGeom prst="rect">
            <a:avLst/>
          </a:prstGeom>
          <a:noFill/>
        </p:spPr>
        <p:txBody>
          <a:bodyPr wrap="square">
            <a:spAutoFit/>
          </a:bodyPr>
          <a:lstStyle/>
          <a:p>
            <a:pPr algn="l"/>
            <a:r>
              <a:rPr sz="1100" b="0">
                <a:solidFill>
                  <a:srgbClr val="224488"/>
                </a:solidFill>
                <a:latin typeface="IBM Plex Sans Thai"/>
              </a:rPr>
              <a:t>Prisma</a:t>
            </a:r>
          </a:p>
        </p:txBody>
      </p:sp>
      <p:sp>
        <p:nvSpPr>
          <p:cNvPr id="36" name="Rectangle 35"/>
          <p:cNvSpPr/>
          <p:nvPr/>
        </p:nvSpPr>
        <p:spPr>
          <a:xfrm>
            <a:off x="6217920" y="3374136"/>
            <a:ext cx="5486400" cy="411480"/>
          </a:xfrm>
          <a:prstGeom prst="rect">
            <a:avLst/>
          </a:prstGeom>
          <a:solidFill>
            <a:srgbClr val="F5F7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81928" y="3419856"/>
            <a:ext cx="5358384" cy="320040"/>
          </a:xfrm>
          <a:prstGeom prst="rect">
            <a:avLst/>
          </a:prstGeom>
          <a:noFill/>
        </p:spPr>
        <p:txBody>
          <a:bodyPr wrap="square">
            <a:spAutoFit/>
          </a:bodyPr>
          <a:lstStyle/>
          <a:p>
            <a:pPr algn="l"/>
            <a:r>
              <a:rPr sz="1100" b="0">
                <a:solidFill>
                  <a:srgbClr val="444F60"/>
                </a:solidFill>
                <a:latin typeface="IBM Plex Sans Thai"/>
              </a:rPr>
              <a:t>Type-safe DB queries, migration ง่าย</a:t>
            </a:r>
          </a:p>
        </p:txBody>
      </p:sp>
      <p:sp>
        <p:nvSpPr>
          <p:cNvPr id="38" name="Rectangle 37"/>
          <p:cNvSpPr/>
          <p:nvPr/>
        </p:nvSpPr>
        <p:spPr>
          <a:xfrm>
            <a:off x="274320" y="3785616"/>
            <a:ext cx="2011680" cy="41148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38328" y="3831336"/>
            <a:ext cx="1883664" cy="320040"/>
          </a:xfrm>
          <a:prstGeom prst="rect">
            <a:avLst/>
          </a:prstGeom>
          <a:noFill/>
        </p:spPr>
        <p:txBody>
          <a:bodyPr wrap="square">
            <a:spAutoFit/>
          </a:bodyPr>
          <a:lstStyle/>
          <a:p>
            <a:pPr algn="l"/>
            <a:r>
              <a:rPr sz="1100" b="0">
                <a:solidFill>
                  <a:srgbClr val="1E3A5F"/>
                </a:solidFill>
                <a:latin typeface="IBM Plex Sans Thai"/>
              </a:rPr>
              <a:t>Database</a:t>
            </a:r>
          </a:p>
        </p:txBody>
      </p:sp>
      <p:sp>
        <p:nvSpPr>
          <p:cNvPr id="40" name="Rectangle 39"/>
          <p:cNvSpPr/>
          <p:nvPr/>
        </p:nvSpPr>
        <p:spPr>
          <a:xfrm>
            <a:off x="2331720" y="3785616"/>
            <a:ext cx="3840480" cy="41148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395727" y="3831336"/>
            <a:ext cx="3712464" cy="320040"/>
          </a:xfrm>
          <a:prstGeom prst="rect">
            <a:avLst/>
          </a:prstGeom>
          <a:noFill/>
        </p:spPr>
        <p:txBody>
          <a:bodyPr wrap="square">
            <a:spAutoFit/>
          </a:bodyPr>
          <a:lstStyle/>
          <a:p>
            <a:pPr algn="l"/>
            <a:r>
              <a:rPr sz="1100" b="0">
                <a:solidFill>
                  <a:srgbClr val="224488"/>
                </a:solidFill>
                <a:latin typeface="IBM Plex Sans Thai"/>
              </a:rPr>
              <a:t>PostgreSQL 15</a:t>
            </a:r>
          </a:p>
        </p:txBody>
      </p:sp>
      <p:sp>
        <p:nvSpPr>
          <p:cNvPr id="42" name="Rectangle 41"/>
          <p:cNvSpPr/>
          <p:nvPr/>
        </p:nvSpPr>
        <p:spPr>
          <a:xfrm>
            <a:off x="6217920" y="3785616"/>
            <a:ext cx="5486400" cy="41148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81928" y="3831336"/>
            <a:ext cx="5358384" cy="320040"/>
          </a:xfrm>
          <a:prstGeom prst="rect">
            <a:avLst/>
          </a:prstGeom>
          <a:noFill/>
        </p:spPr>
        <p:txBody>
          <a:bodyPr wrap="square">
            <a:spAutoFit/>
          </a:bodyPr>
          <a:lstStyle/>
          <a:p>
            <a:pPr algn="l"/>
            <a:r>
              <a:rPr sz="1100" b="0">
                <a:solidFill>
                  <a:srgbClr val="444F60"/>
                </a:solidFill>
                <a:latin typeface="IBM Plex Sans Thai"/>
              </a:rPr>
              <a:t>Relational, JSONB support, free tier</a:t>
            </a:r>
          </a:p>
        </p:txBody>
      </p:sp>
      <p:sp>
        <p:nvSpPr>
          <p:cNvPr id="44" name="Rectangle 43"/>
          <p:cNvSpPr/>
          <p:nvPr/>
        </p:nvSpPr>
        <p:spPr>
          <a:xfrm>
            <a:off x="274320" y="4197096"/>
            <a:ext cx="2011680" cy="411480"/>
          </a:xfrm>
          <a:prstGeom prst="rect">
            <a:avLst/>
          </a:prstGeom>
          <a:solidFill>
            <a:srgbClr val="F5F7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38328" y="4242816"/>
            <a:ext cx="1883664" cy="320040"/>
          </a:xfrm>
          <a:prstGeom prst="rect">
            <a:avLst/>
          </a:prstGeom>
          <a:noFill/>
        </p:spPr>
        <p:txBody>
          <a:bodyPr wrap="square">
            <a:spAutoFit/>
          </a:bodyPr>
          <a:lstStyle/>
          <a:p>
            <a:pPr algn="l"/>
            <a:r>
              <a:rPr sz="1100" b="0">
                <a:solidFill>
                  <a:srgbClr val="1E3A5F"/>
                </a:solidFill>
                <a:latin typeface="IBM Plex Sans Thai"/>
              </a:rPr>
              <a:t>State</a:t>
            </a:r>
          </a:p>
        </p:txBody>
      </p:sp>
      <p:sp>
        <p:nvSpPr>
          <p:cNvPr id="46" name="Rectangle 45"/>
          <p:cNvSpPr/>
          <p:nvPr/>
        </p:nvSpPr>
        <p:spPr>
          <a:xfrm>
            <a:off x="2331720" y="4197096"/>
            <a:ext cx="3840480" cy="411480"/>
          </a:xfrm>
          <a:prstGeom prst="rect">
            <a:avLst/>
          </a:prstGeom>
          <a:solidFill>
            <a:srgbClr val="F5F7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395727" y="4242816"/>
            <a:ext cx="3712464" cy="320040"/>
          </a:xfrm>
          <a:prstGeom prst="rect">
            <a:avLst/>
          </a:prstGeom>
          <a:noFill/>
        </p:spPr>
        <p:txBody>
          <a:bodyPr wrap="square">
            <a:spAutoFit/>
          </a:bodyPr>
          <a:lstStyle/>
          <a:p>
            <a:pPr algn="l"/>
            <a:r>
              <a:rPr sz="1100" b="0">
                <a:solidFill>
                  <a:srgbClr val="224488"/>
                </a:solidFill>
                <a:latin typeface="IBM Plex Sans Thai"/>
              </a:rPr>
              <a:t>Zustand</a:t>
            </a:r>
          </a:p>
        </p:txBody>
      </p:sp>
      <p:sp>
        <p:nvSpPr>
          <p:cNvPr id="48" name="Rectangle 47"/>
          <p:cNvSpPr/>
          <p:nvPr/>
        </p:nvSpPr>
        <p:spPr>
          <a:xfrm>
            <a:off x="6217920" y="4197096"/>
            <a:ext cx="5486400" cy="411480"/>
          </a:xfrm>
          <a:prstGeom prst="rect">
            <a:avLst/>
          </a:prstGeom>
          <a:solidFill>
            <a:srgbClr val="F5F7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81928" y="4242816"/>
            <a:ext cx="5358384" cy="320040"/>
          </a:xfrm>
          <a:prstGeom prst="rect">
            <a:avLst/>
          </a:prstGeom>
          <a:noFill/>
        </p:spPr>
        <p:txBody>
          <a:bodyPr wrap="square">
            <a:spAutoFit/>
          </a:bodyPr>
          <a:lstStyle/>
          <a:p>
            <a:pPr algn="l"/>
            <a:r>
              <a:rPr sz="1100" b="0">
                <a:solidFill>
                  <a:srgbClr val="444F60"/>
                </a:solidFill>
                <a:latin typeface="IBM Plex Sans Thai"/>
              </a:rPr>
              <a:t>Lightweight, ไม่ boilerplate เหมือน Redux</a:t>
            </a:r>
          </a:p>
        </p:txBody>
      </p:sp>
      <p:sp>
        <p:nvSpPr>
          <p:cNvPr id="50" name="Rectangle 49"/>
          <p:cNvSpPr/>
          <p:nvPr/>
        </p:nvSpPr>
        <p:spPr>
          <a:xfrm>
            <a:off x="274320" y="4608576"/>
            <a:ext cx="2011680" cy="41148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38328" y="4654296"/>
            <a:ext cx="1883664" cy="320040"/>
          </a:xfrm>
          <a:prstGeom prst="rect">
            <a:avLst/>
          </a:prstGeom>
          <a:noFill/>
        </p:spPr>
        <p:txBody>
          <a:bodyPr wrap="square">
            <a:spAutoFit/>
          </a:bodyPr>
          <a:lstStyle/>
          <a:p>
            <a:pPr algn="l"/>
            <a:r>
              <a:rPr sz="1100" b="0">
                <a:solidFill>
                  <a:srgbClr val="1E3A5F"/>
                </a:solidFill>
                <a:latin typeface="IBM Plex Sans Thai"/>
              </a:rPr>
              <a:t>Data Fetching</a:t>
            </a:r>
          </a:p>
        </p:txBody>
      </p:sp>
      <p:sp>
        <p:nvSpPr>
          <p:cNvPr id="52" name="Rectangle 51"/>
          <p:cNvSpPr/>
          <p:nvPr/>
        </p:nvSpPr>
        <p:spPr>
          <a:xfrm>
            <a:off x="2331720" y="4608576"/>
            <a:ext cx="3840480" cy="41148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395727" y="4654296"/>
            <a:ext cx="3712464" cy="320040"/>
          </a:xfrm>
          <a:prstGeom prst="rect">
            <a:avLst/>
          </a:prstGeom>
          <a:noFill/>
        </p:spPr>
        <p:txBody>
          <a:bodyPr wrap="square">
            <a:spAutoFit/>
          </a:bodyPr>
          <a:lstStyle/>
          <a:p>
            <a:pPr algn="l"/>
            <a:r>
              <a:rPr sz="1100" b="0">
                <a:solidFill>
                  <a:srgbClr val="224488"/>
                </a:solidFill>
                <a:latin typeface="IBM Plex Sans Thai"/>
              </a:rPr>
              <a:t>TanStack Query</a:t>
            </a:r>
          </a:p>
        </p:txBody>
      </p:sp>
      <p:sp>
        <p:nvSpPr>
          <p:cNvPr id="54" name="Rectangle 53"/>
          <p:cNvSpPr/>
          <p:nvPr/>
        </p:nvSpPr>
        <p:spPr>
          <a:xfrm>
            <a:off x="6217920" y="4608576"/>
            <a:ext cx="5486400" cy="41148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281928" y="4654296"/>
            <a:ext cx="5358384" cy="320040"/>
          </a:xfrm>
          <a:prstGeom prst="rect">
            <a:avLst/>
          </a:prstGeom>
          <a:noFill/>
        </p:spPr>
        <p:txBody>
          <a:bodyPr wrap="square">
            <a:spAutoFit/>
          </a:bodyPr>
          <a:lstStyle/>
          <a:p>
            <a:pPr algn="l"/>
            <a:r>
              <a:rPr sz="1100" b="0">
                <a:solidFill>
                  <a:srgbClr val="444F60"/>
                </a:solidFill>
                <a:latin typeface="IBM Plex Sans Thai"/>
              </a:rPr>
              <a:t>Caching, background refetch, loading states</a:t>
            </a:r>
          </a:p>
        </p:txBody>
      </p:sp>
      <p:sp>
        <p:nvSpPr>
          <p:cNvPr id="56" name="Rectangle 55"/>
          <p:cNvSpPr/>
          <p:nvPr/>
        </p:nvSpPr>
        <p:spPr>
          <a:xfrm>
            <a:off x="274320" y="5020056"/>
            <a:ext cx="2011680" cy="411480"/>
          </a:xfrm>
          <a:prstGeom prst="rect">
            <a:avLst/>
          </a:prstGeom>
          <a:solidFill>
            <a:srgbClr val="F5F7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38328" y="5065776"/>
            <a:ext cx="1883664" cy="320040"/>
          </a:xfrm>
          <a:prstGeom prst="rect">
            <a:avLst/>
          </a:prstGeom>
          <a:noFill/>
        </p:spPr>
        <p:txBody>
          <a:bodyPr wrap="square">
            <a:spAutoFit/>
          </a:bodyPr>
          <a:lstStyle/>
          <a:p>
            <a:pPr algn="l"/>
            <a:r>
              <a:rPr sz="1100" b="0">
                <a:solidFill>
                  <a:srgbClr val="1E3A5F"/>
                </a:solidFill>
                <a:latin typeface="IBM Plex Sans Thai"/>
              </a:rPr>
              <a:t>Validation</a:t>
            </a:r>
          </a:p>
        </p:txBody>
      </p:sp>
      <p:sp>
        <p:nvSpPr>
          <p:cNvPr id="58" name="Rectangle 57"/>
          <p:cNvSpPr/>
          <p:nvPr/>
        </p:nvSpPr>
        <p:spPr>
          <a:xfrm>
            <a:off x="2331720" y="5020056"/>
            <a:ext cx="3840480" cy="411480"/>
          </a:xfrm>
          <a:prstGeom prst="rect">
            <a:avLst/>
          </a:prstGeom>
          <a:solidFill>
            <a:srgbClr val="F5F7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95727" y="5065776"/>
            <a:ext cx="3712464" cy="320040"/>
          </a:xfrm>
          <a:prstGeom prst="rect">
            <a:avLst/>
          </a:prstGeom>
          <a:noFill/>
        </p:spPr>
        <p:txBody>
          <a:bodyPr wrap="square">
            <a:spAutoFit/>
          </a:bodyPr>
          <a:lstStyle/>
          <a:p>
            <a:pPr algn="l"/>
            <a:r>
              <a:rPr sz="1100" b="0">
                <a:solidFill>
                  <a:srgbClr val="224488"/>
                </a:solidFill>
                <a:latin typeface="IBM Plex Sans Thai"/>
              </a:rPr>
              <a:t>Zod</a:t>
            </a:r>
          </a:p>
        </p:txBody>
      </p:sp>
      <p:sp>
        <p:nvSpPr>
          <p:cNvPr id="60" name="Rectangle 59"/>
          <p:cNvSpPr/>
          <p:nvPr/>
        </p:nvSpPr>
        <p:spPr>
          <a:xfrm>
            <a:off x="6217920" y="5020056"/>
            <a:ext cx="5486400" cy="411480"/>
          </a:xfrm>
          <a:prstGeom prst="rect">
            <a:avLst/>
          </a:prstGeom>
          <a:solidFill>
            <a:srgbClr val="F5F7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281928" y="5065776"/>
            <a:ext cx="5358384" cy="320040"/>
          </a:xfrm>
          <a:prstGeom prst="rect">
            <a:avLst/>
          </a:prstGeom>
          <a:noFill/>
        </p:spPr>
        <p:txBody>
          <a:bodyPr wrap="square">
            <a:spAutoFit/>
          </a:bodyPr>
          <a:lstStyle/>
          <a:p>
            <a:pPr algn="l"/>
            <a:r>
              <a:rPr sz="1100" b="0">
                <a:solidFill>
                  <a:srgbClr val="444F60"/>
                </a:solidFill>
                <a:latin typeface="IBM Plex Sans Thai"/>
              </a:rPr>
              <a:t>Runtime + compile-time type safety</a:t>
            </a:r>
          </a:p>
        </p:txBody>
      </p:sp>
      <p:sp>
        <p:nvSpPr>
          <p:cNvPr id="62" name="Rectangle 61"/>
          <p:cNvSpPr/>
          <p:nvPr/>
        </p:nvSpPr>
        <p:spPr>
          <a:xfrm>
            <a:off x="274320" y="5431536"/>
            <a:ext cx="2011680" cy="41148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8328" y="5477256"/>
            <a:ext cx="1883664" cy="320040"/>
          </a:xfrm>
          <a:prstGeom prst="rect">
            <a:avLst/>
          </a:prstGeom>
          <a:noFill/>
        </p:spPr>
        <p:txBody>
          <a:bodyPr wrap="square">
            <a:spAutoFit/>
          </a:bodyPr>
          <a:lstStyle/>
          <a:p>
            <a:pPr algn="l"/>
            <a:r>
              <a:rPr sz="1100" b="0">
                <a:solidFill>
                  <a:srgbClr val="1E3A5F"/>
                </a:solidFill>
                <a:latin typeface="IBM Plex Sans Thai"/>
              </a:rPr>
              <a:t>i18n</a:t>
            </a:r>
          </a:p>
        </p:txBody>
      </p:sp>
      <p:sp>
        <p:nvSpPr>
          <p:cNvPr id="64" name="Rectangle 63"/>
          <p:cNvSpPr/>
          <p:nvPr/>
        </p:nvSpPr>
        <p:spPr>
          <a:xfrm>
            <a:off x="2331720" y="5431536"/>
            <a:ext cx="3840480" cy="41148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395727" y="5477256"/>
            <a:ext cx="3712464" cy="320040"/>
          </a:xfrm>
          <a:prstGeom prst="rect">
            <a:avLst/>
          </a:prstGeom>
          <a:noFill/>
        </p:spPr>
        <p:txBody>
          <a:bodyPr wrap="square">
            <a:spAutoFit/>
          </a:bodyPr>
          <a:lstStyle/>
          <a:p>
            <a:pPr algn="l"/>
            <a:r>
              <a:rPr sz="1100" b="0">
                <a:solidFill>
                  <a:srgbClr val="224488"/>
                </a:solidFill>
                <a:latin typeface="IBM Plex Sans Thai"/>
              </a:rPr>
              <a:t>next-intl</a:t>
            </a:r>
          </a:p>
        </p:txBody>
      </p:sp>
      <p:sp>
        <p:nvSpPr>
          <p:cNvPr id="66" name="Rectangle 65"/>
          <p:cNvSpPr/>
          <p:nvPr/>
        </p:nvSpPr>
        <p:spPr>
          <a:xfrm>
            <a:off x="6217920" y="5431536"/>
            <a:ext cx="5486400" cy="41148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281928" y="5477256"/>
            <a:ext cx="5358384" cy="320040"/>
          </a:xfrm>
          <a:prstGeom prst="rect">
            <a:avLst/>
          </a:prstGeom>
          <a:noFill/>
        </p:spPr>
        <p:txBody>
          <a:bodyPr wrap="square">
            <a:spAutoFit/>
          </a:bodyPr>
          <a:lstStyle/>
          <a:p>
            <a:pPr algn="l"/>
            <a:r>
              <a:rPr sz="1100" b="0">
                <a:solidFill>
                  <a:srgbClr val="444F60"/>
                </a:solidFill>
                <a:latin typeface="IBM Plex Sans Thai"/>
              </a:rPr>
              <a:t>Thai default, English support</a:t>
            </a:r>
          </a:p>
        </p:txBody>
      </p:sp>
      <p:sp>
        <p:nvSpPr>
          <p:cNvPr id="68" name="Rectangle 67"/>
          <p:cNvSpPr/>
          <p:nvPr/>
        </p:nvSpPr>
        <p:spPr>
          <a:xfrm>
            <a:off x="274320" y="5843016"/>
            <a:ext cx="2011680" cy="411480"/>
          </a:xfrm>
          <a:prstGeom prst="rect">
            <a:avLst/>
          </a:prstGeom>
          <a:solidFill>
            <a:srgbClr val="F5F7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38328" y="5888736"/>
            <a:ext cx="1883664" cy="320040"/>
          </a:xfrm>
          <a:prstGeom prst="rect">
            <a:avLst/>
          </a:prstGeom>
          <a:noFill/>
        </p:spPr>
        <p:txBody>
          <a:bodyPr wrap="square">
            <a:spAutoFit/>
          </a:bodyPr>
          <a:lstStyle/>
          <a:p>
            <a:pPr algn="l"/>
            <a:r>
              <a:rPr sz="1100" b="0">
                <a:solidFill>
                  <a:srgbClr val="1E3A5F"/>
                </a:solidFill>
                <a:latin typeface="IBM Plex Sans Thai"/>
              </a:rPr>
              <a:t>AI</a:t>
            </a:r>
          </a:p>
        </p:txBody>
      </p:sp>
      <p:sp>
        <p:nvSpPr>
          <p:cNvPr id="70" name="Rectangle 69"/>
          <p:cNvSpPr/>
          <p:nvPr/>
        </p:nvSpPr>
        <p:spPr>
          <a:xfrm>
            <a:off x="2331720" y="5843016"/>
            <a:ext cx="3840480" cy="411480"/>
          </a:xfrm>
          <a:prstGeom prst="rect">
            <a:avLst/>
          </a:prstGeom>
          <a:solidFill>
            <a:srgbClr val="F5F7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395727" y="5888736"/>
            <a:ext cx="3712464" cy="320040"/>
          </a:xfrm>
          <a:prstGeom prst="rect">
            <a:avLst/>
          </a:prstGeom>
          <a:noFill/>
        </p:spPr>
        <p:txBody>
          <a:bodyPr wrap="square">
            <a:spAutoFit/>
          </a:bodyPr>
          <a:lstStyle/>
          <a:p>
            <a:pPr algn="l"/>
            <a:r>
              <a:rPr sz="1100" b="0">
                <a:solidFill>
                  <a:srgbClr val="224488"/>
                </a:solidFill>
                <a:latin typeface="IBM Plex Sans Thai"/>
              </a:rPr>
              <a:t>Google Gemini (gemini-2.5-flash)</a:t>
            </a:r>
          </a:p>
        </p:txBody>
      </p:sp>
      <p:sp>
        <p:nvSpPr>
          <p:cNvPr id="72" name="Rectangle 71"/>
          <p:cNvSpPr/>
          <p:nvPr/>
        </p:nvSpPr>
        <p:spPr>
          <a:xfrm>
            <a:off x="6217920" y="5843016"/>
            <a:ext cx="5486400" cy="411480"/>
          </a:xfrm>
          <a:prstGeom prst="rect">
            <a:avLst/>
          </a:prstGeom>
          <a:solidFill>
            <a:srgbClr val="F5F7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281928" y="5888736"/>
            <a:ext cx="5358384" cy="320040"/>
          </a:xfrm>
          <a:prstGeom prst="rect">
            <a:avLst/>
          </a:prstGeom>
          <a:noFill/>
        </p:spPr>
        <p:txBody>
          <a:bodyPr wrap="square">
            <a:spAutoFit/>
          </a:bodyPr>
          <a:lstStyle/>
          <a:p>
            <a:pPr algn="l"/>
            <a:r>
              <a:rPr sz="1100" b="0">
                <a:solidFill>
                  <a:srgbClr val="444F60"/>
                </a:solidFill>
                <a:latin typeface="IBM Plex Sans Thai"/>
              </a:rPr>
              <a:t>Image analysis, structured JSON output</a:t>
            </a:r>
          </a:p>
        </p:txBody>
      </p:sp>
      <p:sp>
        <p:nvSpPr>
          <p:cNvPr id="74" name="Rectangle 73"/>
          <p:cNvSpPr/>
          <p:nvPr/>
        </p:nvSpPr>
        <p:spPr>
          <a:xfrm>
            <a:off x="274320" y="6254496"/>
            <a:ext cx="2011680" cy="41148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38328" y="6300216"/>
            <a:ext cx="1883664" cy="320040"/>
          </a:xfrm>
          <a:prstGeom prst="rect">
            <a:avLst/>
          </a:prstGeom>
          <a:noFill/>
        </p:spPr>
        <p:txBody>
          <a:bodyPr wrap="square">
            <a:spAutoFit/>
          </a:bodyPr>
          <a:lstStyle/>
          <a:p>
            <a:pPr algn="l"/>
            <a:r>
              <a:rPr sz="1100" b="0">
                <a:solidFill>
                  <a:srgbClr val="1E3A5F"/>
                </a:solidFill>
                <a:latin typeface="IBM Plex Sans Thai"/>
              </a:rPr>
              <a:t>Testing</a:t>
            </a:r>
          </a:p>
        </p:txBody>
      </p:sp>
      <p:sp>
        <p:nvSpPr>
          <p:cNvPr id="76" name="Rectangle 75"/>
          <p:cNvSpPr/>
          <p:nvPr/>
        </p:nvSpPr>
        <p:spPr>
          <a:xfrm>
            <a:off x="2331720" y="6254496"/>
            <a:ext cx="3840480" cy="41148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395727" y="6300216"/>
            <a:ext cx="3712464" cy="320040"/>
          </a:xfrm>
          <a:prstGeom prst="rect">
            <a:avLst/>
          </a:prstGeom>
          <a:noFill/>
        </p:spPr>
        <p:txBody>
          <a:bodyPr wrap="square">
            <a:spAutoFit/>
          </a:bodyPr>
          <a:lstStyle/>
          <a:p>
            <a:pPr algn="l"/>
            <a:r>
              <a:rPr sz="1100" b="0">
                <a:solidFill>
                  <a:srgbClr val="224488"/>
                </a:solidFill>
                <a:latin typeface="IBM Plex Sans Thai"/>
              </a:rPr>
              <a:t>Vitest + Playwright</a:t>
            </a:r>
          </a:p>
        </p:txBody>
      </p:sp>
      <p:sp>
        <p:nvSpPr>
          <p:cNvPr id="78" name="Rectangle 77"/>
          <p:cNvSpPr/>
          <p:nvPr/>
        </p:nvSpPr>
        <p:spPr>
          <a:xfrm>
            <a:off x="6217920" y="6254496"/>
            <a:ext cx="5486400" cy="41148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281928" y="6300216"/>
            <a:ext cx="5358384" cy="320040"/>
          </a:xfrm>
          <a:prstGeom prst="rect">
            <a:avLst/>
          </a:prstGeom>
          <a:noFill/>
        </p:spPr>
        <p:txBody>
          <a:bodyPr wrap="square">
            <a:spAutoFit/>
          </a:bodyPr>
          <a:lstStyle/>
          <a:p>
            <a:pPr algn="l"/>
            <a:r>
              <a:rPr sz="1100" b="0">
                <a:solidFill>
                  <a:srgbClr val="444F60"/>
                </a:solidFill>
                <a:latin typeface="IBM Plex Sans Thai"/>
              </a:rPr>
              <a:t>Unit (fast) + E2E happy path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IBM Plex Sans Thai"/>
              </a:rPr>
              <a:t>MVP Scope &amp; Limitations</a:t>
            </a:r>
          </a:p>
        </p:txBody>
      </p:sp>
      <p:sp>
        <p:nvSpPr>
          <p:cNvPr id="5" name="TextBox 4"/>
          <p:cNvSpPr txBox="1"/>
          <p:nvPr/>
        </p:nvSpPr>
        <p:spPr>
          <a:xfrm>
            <a:off x="365760" y="868680"/>
            <a:ext cx="11430000" cy="502920"/>
          </a:xfrm>
          <a:prstGeom prst="rect">
            <a:avLst/>
          </a:prstGeom>
          <a:noFill/>
        </p:spPr>
        <p:txBody>
          <a:bodyPr wrap="square">
            <a:spAutoFit/>
          </a:bodyPr>
          <a:lstStyle/>
          <a:p>
            <a:pPr algn="l"/>
            <a:r>
              <a:rPr sz="1400" b="0">
                <a:solidFill>
                  <a:srgbClr val="DBEAFE"/>
                </a:solidFill>
                <a:latin typeface="IBM Plex Sans Thai"/>
              </a:rPr>
              <a:t>Real vs Mock vs Out of Scope</a:t>
            </a:r>
          </a:p>
        </p:txBody>
      </p:sp>
      <p:sp>
        <p:nvSpPr>
          <p:cNvPr id="6" name="Rectangle 5"/>
          <p:cNvSpPr/>
          <p:nvPr/>
        </p:nvSpPr>
        <p:spPr>
          <a:xfrm>
            <a:off x="0" y="146304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37960"/>
            <a:ext cx="11612880" cy="274320"/>
          </a:xfrm>
          <a:prstGeom prst="rect">
            <a:avLst/>
          </a:prstGeom>
          <a:noFill/>
        </p:spPr>
        <p:txBody>
          <a:bodyPr wrap="square">
            <a:spAutoFit/>
          </a:bodyPr>
          <a:lstStyle/>
          <a:p>
            <a:pPr algn="r"/>
            <a:r>
              <a:rPr sz="1000" b="0">
                <a:solidFill>
                  <a:srgbClr val="AAAAAA"/>
                </a:solidFill>
                <a:latin typeface="IBM Plex Sans Thai"/>
              </a:rPr>
              <a:t>ชัวร์ก่อนแชร์  •  14/18</a:t>
            </a:r>
          </a:p>
        </p:txBody>
      </p:sp>
      <p:sp>
        <p:nvSpPr>
          <p:cNvPr id="8" name="Rectangle 7"/>
          <p:cNvSpPr/>
          <p:nvPr/>
        </p:nvSpPr>
        <p:spPr>
          <a:xfrm>
            <a:off x="274320" y="1691640"/>
            <a:ext cx="3749039" cy="4754880"/>
          </a:xfrm>
          <a:prstGeom prst="rect">
            <a:avLst/>
          </a:prstGeom>
          <a:solidFill>
            <a:srgbClr val="FFFFFF"/>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691640"/>
            <a:ext cx="3749039" cy="502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737360"/>
            <a:ext cx="3566160" cy="411480"/>
          </a:xfrm>
          <a:prstGeom prst="rect">
            <a:avLst/>
          </a:prstGeom>
          <a:noFill/>
        </p:spPr>
        <p:txBody>
          <a:bodyPr wrap="square">
            <a:spAutoFit/>
          </a:bodyPr>
          <a:lstStyle/>
          <a:p>
            <a:pPr algn="l"/>
            <a:r>
              <a:rPr sz="1300" b="1">
                <a:solidFill>
                  <a:srgbClr val="FFFFFF"/>
                </a:solidFill>
                <a:latin typeface="IBM Plex Sans Thai"/>
              </a:rPr>
              <a:t>Real — ทำจริงใน MVP</a:t>
            </a:r>
          </a:p>
        </p:txBody>
      </p:sp>
      <p:sp>
        <p:nvSpPr>
          <p:cNvPr id="11" name="TextBox 10"/>
          <p:cNvSpPr txBox="1"/>
          <p:nvPr/>
        </p:nvSpPr>
        <p:spPr>
          <a:xfrm>
            <a:off x="384048" y="2331720"/>
            <a:ext cx="3566160" cy="3931920"/>
          </a:xfrm>
          <a:prstGeom prst="rect">
            <a:avLst/>
          </a:prstGeom>
          <a:noFill/>
        </p:spPr>
        <p:txBody>
          <a:bodyPr wrap="square">
            <a:spAutoFit/>
          </a:bodyPr>
          <a:lstStyle/>
          <a:p>
            <a:pPr>
              <a:spcBef>
                <a:spcPts val="400"/>
              </a:spcBef>
            </a:pPr>
            <a:r>
              <a:rPr sz="1300">
                <a:solidFill>
                  <a:srgbClr val="444F60"/>
                </a:solidFill>
                <a:latin typeface="IBM Plex Sans Thai"/>
              </a:rPr>
              <a:t>✅ Text &amp; URL analysis (DB lookup + scoring)</a:t>
            </a:r>
          </a:p>
          <a:p>
            <a:pPr>
              <a:spcBef>
                <a:spcPts val="400"/>
              </a:spcBef>
            </a:pPr>
            <a:r>
              <a:rPr sz="1300">
                <a:solidFill>
                  <a:srgbClr val="444F60"/>
                </a:solidFill>
                <a:latin typeface="IBM Plex Sans Thai"/>
              </a:rPr>
              <a:t>✅ Domain analysis (age, SSL, WHOIS, phishing)</a:t>
            </a:r>
          </a:p>
          <a:p>
            <a:pPr>
              <a:spcBef>
                <a:spcPts val="400"/>
              </a:spcBef>
            </a:pPr>
            <a:r>
              <a:rPr sz="1300">
                <a:solidFill>
                  <a:srgbClr val="444F60"/>
                </a:solidFill>
                <a:latin typeface="IBM Plex Sans Thai"/>
              </a:rPr>
              <a:t>✅ Gemini AI image detection + EXIF</a:t>
            </a:r>
          </a:p>
          <a:p>
            <a:pPr>
              <a:spcBef>
                <a:spcPts val="400"/>
              </a:spcBef>
            </a:pPr>
            <a:r>
              <a:rPr sz="1300">
                <a:solidFill>
                  <a:srgbClr val="444F60"/>
                </a:solidFill>
                <a:latin typeface="IBM Plex Sans Thai"/>
              </a:rPr>
              <a:t>✅ Trending (anonymized, SHA-256)</a:t>
            </a:r>
          </a:p>
          <a:p>
            <a:pPr>
              <a:spcBef>
                <a:spcPts val="400"/>
              </a:spcBef>
            </a:pPr>
            <a:r>
              <a:rPr sz="1300">
                <a:solidFill>
                  <a:srgbClr val="444F60"/>
                </a:solidFill>
                <a:latin typeface="IBM Plex Sans Thai"/>
              </a:rPr>
              <a:t>✅ History (localStorage)</a:t>
            </a:r>
          </a:p>
          <a:p>
            <a:pPr>
              <a:spcBef>
                <a:spcPts val="400"/>
              </a:spcBef>
            </a:pPr>
            <a:r>
              <a:rPr sz="1300">
                <a:solidFill>
                  <a:srgbClr val="444F60"/>
                </a:solidFill>
                <a:latin typeface="IBM Plex Sans Thai"/>
              </a:rPr>
              <a:t>✅ i18n Thai/English</a:t>
            </a:r>
          </a:p>
        </p:txBody>
      </p:sp>
      <p:sp>
        <p:nvSpPr>
          <p:cNvPr id="12" name="Rectangle 11"/>
          <p:cNvSpPr/>
          <p:nvPr/>
        </p:nvSpPr>
        <p:spPr>
          <a:xfrm>
            <a:off x="4251959" y="1691640"/>
            <a:ext cx="3749039" cy="4754880"/>
          </a:xfrm>
          <a:prstGeom prst="rect">
            <a:avLst/>
          </a:prstGeom>
          <a:solidFill>
            <a:srgbClr val="FFFFFF"/>
          </a:solidFill>
          <a:ln w="12700">
            <a:solidFill>
              <a:srgbClr val="CA8A0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51959" y="1691640"/>
            <a:ext cx="3749039" cy="50292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61688" y="1737360"/>
            <a:ext cx="3566160" cy="411480"/>
          </a:xfrm>
          <a:prstGeom prst="rect">
            <a:avLst/>
          </a:prstGeom>
          <a:noFill/>
        </p:spPr>
        <p:txBody>
          <a:bodyPr wrap="square">
            <a:spAutoFit/>
          </a:bodyPr>
          <a:lstStyle/>
          <a:p>
            <a:pPr algn="l"/>
            <a:r>
              <a:rPr sz="1300" b="1">
                <a:solidFill>
                  <a:srgbClr val="FFFFFF"/>
                </a:solidFill>
                <a:latin typeface="IBM Plex Sans Thai"/>
              </a:rPr>
              <a:t>Mock — Demo ด้วยข้อมูลทดสอบ</a:t>
            </a:r>
          </a:p>
        </p:txBody>
      </p:sp>
      <p:sp>
        <p:nvSpPr>
          <p:cNvPr id="15" name="TextBox 14"/>
          <p:cNvSpPr txBox="1"/>
          <p:nvPr/>
        </p:nvSpPr>
        <p:spPr>
          <a:xfrm>
            <a:off x="4361688" y="2331720"/>
            <a:ext cx="3566160" cy="3931920"/>
          </a:xfrm>
          <a:prstGeom prst="rect">
            <a:avLst/>
          </a:prstGeom>
          <a:noFill/>
        </p:spPr>
        <p:txBody>
          <a:bodyPr wrap="square">
            <a:spAutoFit/>
          </a:bodyPr>
          <a:lstStyle/>
          <a:p>
            <a:pPr>
              <a:spcBef>
                <a:spcPts val="400"/>
              </a:spcBef>
            </a:pPr>
            <a:r>
              <a:rPr sz="1300">
                <a:solidFill>
                  <a:srgbClr val="444F60"/>
                </a:solidFill>
                <a:latin typeface="IBM Plex Sans Thai"/>
              </a:rPr>
              <a:t>🟡 Social account analysis (mock data)</a:t>
            </a:r>
          </a:p>
          <a:p>
            <a:pPr>
              <a:spcBef>
                <a:spcPts val="400"/>
              </a:spcBef>
            </a:pPr>
            <a:r>
              <a:rPr sz="1300">
                <a:solidFill>
                  <a:srgbClr val="444F60"/>
                </a:solidFill>
                <a:latin typeface="IBM Plex Sans Thai"/>
              </a:rPr>
              <a:t>🟡 Coordinated behavior detection (seeded demo)</a:t>
            </a:r>
          </a:p>
          <a:p>
            <a:pPr>
              <a:spcBef>
                <a:spcPts val="400"/>
              </a:spcBef>
            </a:pPr>
            <a:r>
              <a:rPr sz="1300">
                <a:solidFill>
                  <a:srgbClr val="444F60"/>
                </a:solidFill>
                <a:latin typeface="IBM Plex Sans Thai"/>
              </a:rPr>
              <a:t>🟡 Reverse image search (mock results)</a:t>
            </a:r>
          </a:p>
        </p:txBody>
      </p:sp>
      <p:sp>
        <p:nvSpPr>
          <p:cNvPr id="16" name="Rectangle 15"/>
          <p:cNvSpPr/>
          <p:nvPr/>
        </p:nvSpPr>
        <p:spPr>
          <a:xfrm>
            <a:off x="8229600" y="1691640"/>
            <a:ext cx="3749039" cy="4754880"/>
          </a:xfrm>
          <a:prstGeom prst="rect">
            <a:avLst/>
          </a:prstGeom>
          <a:solidFill>
            <a:srgbClr val="FFFFFF"/>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1691640"/>
            <a:ext cx="3749039" cy="5029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9327" y="1737360"/>
            <a:ext cx="3566160" cy="411480"/>
          </a:xfrm>
          <a:prstGeom prst="rect">
            <a:avLst/>
          </a:prstGeom>
          <a:noFill/>
        </p:spPr>
        <p:txBody>
          <a:bodyPr wrap="square">
            <a:spAutoFit/>
          </a:bodyPr>
          <a:lstStyle/>
          <a:p>
            <a:pPr algn="l"/>
            <a:r>
              <a:rPr sz="1300" b="1">
                <a:solidFill>
                  <a:srgbClr val="FFFFFF"/>
                </a:solidFill>
                <a:latin typeface="IBM Plex Sans Thai"/>
              </a:rPr>
              <a:t>Out of Scope</a:t>
            </a:r>
          </a:p>
        </p:txBody>
      </p:sp>
      <p:sp>
        <p:nvSpPr>
          <p:cNvPr id="19" name="TextBox 18"/>
          <p:cNvSpPr txBox="1"/>
          <p:nvPr/>
        </p:nvSpPr>
        <p:spPr>
          <a:xfrm>
            <a:off x="8339327" y="2331720"/>
            <a:ext cx="3566160" cy="3931920"/>
          </a:xfrm>
          <a:prstGeom prst="rect">
            <a:avLst/>
          </a:prstGeom>
          <a:noFill/>
        </p:spPr>
        <p:txBody>
          <a:bodyPr wrap="square">
            <a:spAutoFit/>
          </a:bodyPr>
          <a:lstStyle/>
          <a:p>
            <a:pPr>
              <a:spcBef>
                <a:spcPts val="400"/>
              </a:spcBef>
            </a:pPr>
            <a:r>
              <a:rPr sz="1300">
                <a:solidFill>
                  <a:srgbClr val="444F60"/>
                </a:solidFill>
                <a:latin typeface="IBM Plex Sans Thai"/>
              </a:rPr>
              <a:t>❌ Authentication / User accounts</a:t>
            </a:r>
          </a:p>
          <a:p>
            <a:pPr>
              <a:spcBef>
                <a:spcPts val="400"/>
              </a:spcBef>
            </a:pPr>
            <a:r>
              <a:rPr sz="1300">
                <a:solidFill>
                  <a:srgbClr val="444F60"/>
                </a:solidFill>
                <a:latin typeface="IBM Plex Sans Thai"/>
              </a:rPr>
              <a:t>❌ Production deployment</a:t>
            </a:r>
          </a:p>
          <a:p>
            <a:pPr>
              <a:spcBef>
                <a:spcPts val="400"/>
              </a:spcBef>
            </a:pPr>
            <a:r>
              <a:rPr sz="1300">
                <a:solidFill>
                  <a:srgbClr val="444F60"/>
                </a:solidFill>
                <a:latin typeface="IBM Plex Sans Thai"/>
              </a:rPr>
              <a:t>❌ Real-time updates (WebSocket)</a:t>
            </a:r>
          </a:p>
          <a:p>
            <a:pPr>
              <a:spcBef>
                <a:spcPts val="400"/>
              </a:spcBef>
            </a:pPr>
            <a:r>
              <a:rPr sz="1300">
                <a:solidFill>
                  <a:srgbClr val="444F60"/>
                </a:solidFill>
                <a:latin typeface="IBM Plex Sans Thai"/>
              </a:rPr>
              <a:t>❌ Browser extension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IBM Plex Sans Thai"/>
              </a:rPr>
              <a:t>Testing Strategy</a:t>
            </a:r>
          </a:p>
        </p:txBody>
      </p:sp>
      <p:sp>
        <p:nvSpPr>
          <p:cNvPr id="5" name="TextBox 4"/>
          <p:cNvSpPr txBox="1"/>
          <p:nvPr/>
        </p:nvSpPr>
        <p:spPr>
          <a:xfrm>
            <a:off x="365760" y="868680"/>
            <a:ext cx="11430000" cy="502920"/>
          </a:xfrm>
          <a:prstGeom prst="rect">
            <a:avLst/>
          </a:prstGeom>
          <a:noFill/>
        </p:spPr>
        <p:txBody>
          <a:bodyPr wrap="square">
            <a:spAutoFit/>
          </a:bodyPr>
          <a:lstStyle/>
          <a:p>
            <a:pPr algn="l"/>
            <a:r>
              <a:rPr sz="1400" b="0">
                <a:solidFill>
                  <a:srgbClr val="DBEAFE"/>
                </a:solidFill>
                <a:latin typeface="IBM Plex Sans Thai"/>
              </a:rPr>
              <a:t>Vitest Unit Tests + Playwright E2E</a:t>
            </a:r>
          </a:p>
        </p:txBody>
      </p:sp>
      <p:sp>
        <p:nvSpPr>
          <p:cNvPr id="6" name="Rectangle 5"/>
          <p:cNvSpPr/>
          <p:nvPr/>
        </p:nvSpPr>
        <p:spPr>
          <a:xfrm>
            <a:off x="0" y="146304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37960"/>
            <a:ext cx="11612880" cy="274320"/>
          </a:xfrm>
          <a:prstGeom prst="rect">
            <a:avLst/>
          </a:prstGeom>
          <a:noFill/>
        </p:spPr>
        <p:txBody>
          <a:bodyPr wrap="square">
            <a:spAutoFit/>
          </a:bodyPr>
          <a:lstStyle/>
          <a:p>
            <a:pPr algn="r"/>
            <a:r>
              <a:rPr sz="1000" b="0">
                <a:solidFill>
                  <a:srgbClr val="AAAAAA"/>
                </a:solidFill>
                <a:latin typeface="IBM Plex Sans Thai"/>
              </a:rPr>
              <a:t>ชัวร์ก่อนแชร์  •  15/18</a:t>
            </a:r>
          </a:p>
        </p:txBody>
      </p:sp>
      <p:sp>
        <p:nvSpPr>
          <p:cNvPr id="8" name="Rectangle 7"/>
          <p:cNvSpPr/>
          <p:nvPr/>
        </p:nvSpPr>
        <p:spPr>
          <a:xfrm>
            <a:off x="274320" y="1691640"/>
            <a:ext cx="3749039" cy="4663440"/>
          </a:xfrm>
          <a:prstGeom prst="rect">
            <a:avLst/>
          </a:prstGeom>
          <a:solidFill>
            <a:srgbClr val="FFFFFF"/>
          </a:solidFill>
          <a:ln w="12700">
            <a:solidFill>
              <a:srgbClr val="245C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691640"/>
            <a:ext cx="3749039" cy="457200"/>
          </a:xfrm>
          <a:prstGeom prst="rect">
            <a:avLst/>
          </a:prstGeom>
          <a:solidFill>
            <a:srgbClr val="24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737360"/>
            <a:ext cx="3566160" cy="365760"/>
          </a:xfrm>
          <a:prstGeom prst="rect">
            <a:avLst/>
          </a:prstGeom>
          <a:noFill/>
        </p:spPr>
        <p:txBody>
          <a:bodyPr wrap="square">
            <a:spAutoFit/>
          </a:bodyPr>
          <a:lstStyle/>
          <a:p>
            <a:pPr algn="l"/>
            <a:r>
              <a:rPr sz="1300" b="1">
                <a:solidFill>
                  <a:srgbClr val="FFFFFF"/>
                </a:solidFill>
                <a:latin typeface="IBM Plex Sans Thai"/>
              </a:rPr>
              <a:t>🧪 Unit Tests — Vitest</a:t>
            </a:r>
          </a:p>
        </p:txBody>
      </p:sp>
      <p:sp>
        <p:nvSpPr>
          <p:cNvPr id="11" name="TextBox 10"/>
          <p:cNvSpPr txBox="1"/>
          <p:nvPr/>
        </p:nvSpPr>
        <p:spPr>
          <a:xfrm>
            <a:off x="384048" y="2286000"/>
            <a:ext cx="3566160" cy="3840480"/>
          </a:xfrm>
          <a:prstGeom prst="rect">
            <a:avLst/>
          </a:prstGeom>
          <a:noFill/>
        </p:spPr>
        <p:txBody>
          <a:bodyPr wrap="square">
            <a:spAutoFit/>
          </a:bodyPr>
          <a:lstStyle/>
          <a:p>
            <a:pPr>
              <a:spcBef>
                <a:spcPts val="400"/>
              </a:spcBef>
            </a:pPr>
            <a:r>
              <a:rPr sz="1200">
                <a:solidFill>
                  <a:srgbClr val="444F60"/>
                </a:solidFill>
                <a:latin typeface="IBM Plex Sans Thai"/>
              </a:rPr>
              <a:t>• textAnalyzer service — min 5 tests</a:t>
            </a:r>
          </a:p>
          <a:p>
            <a:pPr>
              <a:spcBef>
                <a:spcPts val="400"/>
              </a:spcBef>
            </a:pPr>
            <a:r>
              <a:rPr sz="1200">
                <a:solidFill>
                  <a:srgbClr val="444F60"/>
                </a:solidFill>
                <a:latin typeface="IBM Plex Sans Thai"/>
              </a:rPr>
              <a:t>• imageAnalyzer service — min 5 tests</a:t>
            </a:r>
          </a:p>
          <a:p>
            <a:pPr>
              <a:spcBef>
                <a:spcPts val="400"/>
              </a:spcBef>
            </a:pPr>
            <a:r>
              <a:rPr sz="1200">
                <a:solidFill>
                  <a:srgbClr val="444F60"/>
                </a:solidFill>
                <a:latin typeface="IBM Plex Sans Thai"/>
              </a:rPr>
              <a:t>• sourceAnalyzer service — min 5 tests</a:t>
            </a:r>
          </a:p>
          <a:p>
            <a:pPr>
              <a:spcBef>
                <a:spcPts val="400"/>
              </a:spcBef>
            </a:pPr>
            <a:r>
              <a:rPr sz="1200">
                <a:solidFill>
                  <a:srgbClr val="444F60"/>
                </a:solidFill>
                <a:latin typeface="IBM Plex Sans Thai"/>
              </a:rPr>
              <a:t>• useLocalHistory hook — min 5 tests</a:t>
            </a:r>
          </a:p>
          <a:p>
            <a:pPr>
              <a:spcBef>
                <a:spcPts val="400"/>
              </a:spcBef>
            </a:pPr>
            <a:r>
              <a:rPr sz="1200">
                <a:solidFill>
                  <a:srgbClr val="444F60"/>
                </a:solidFill>
                <a:latin typeface="IBM Plex Sans Thai"/>
              </a:rPr>
              <a:t>• Zod schemas validation — min 5 tests</a:t>
            </a:r>
          </a:p>
          <a:p>
            <a:pPr>
              <a:spcBef>
                <a:spcPts val="400"/>
              </a:spcBef>
            </a:pPr>
            <a:r>
              <a:rPr sz="1200">
                <a:solidFill>
                  <a:srgbClr val="444F60"/>
                </a:solidFill>
                <a:latin typeface="IBM Plex Sans Thai"/>
              </a:rPr>
              <a:t>• Mock: vi.mock('../lib/prisma')</a:t>
            </a:r>
          </a:p>
          <a:p>
            <a:pPr>
              <a:spcBef>
                <a:spcPts val="400"/>
              </a:spcBef>
            </a:pPr>
            <a:r>
              <a:rPr sz="1200">
                <a:solidFill>
                  <a:srgbClr val="444F60"/>
                </a:solidFill>
                <a:latin typeface="IBM Plex Sans Thai"/>
              </a:rPr>
              <a:t>• Mock: vi.mock('../lib/gemini')</a:t>
            </a:r>
          </a:p>
        </p:txBody>
      </p:sp>
      <p:sp>
        <p:nvSpPr>
          <p:cNvPr id="12" name="Rectangle 11"/>
          <p:cNvSpPr/>
          <p:nvPr/>
        </p:nvSpPr>
        <p:spPr>
          <a:xfrm>
            <a:off x="4251959" y="1691640"/>
            <a:ext cx="3749039" cy="4663440"/>
          </a:xfrm>
          <a:prstGeom prst="rect">
            <a:avLst/>
          </a:prstGeom>
          <a:solidFill>
            <a:srgbClr val="FFFFFF"/>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51959" y="1691640"/>
            <a:ext cx="3749039" cy="4572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61688" y="1737360"/>
            <a:ext cx="3566160" cy="365760"/>
          </a:xfrm>
          <a:prstGeom prst="rect">
            <a:avLst/>
          </a:prstGeom>
          <a:noFill/>
        </p:spPr>
        <p:txBody>
          <a:bodyPr wrap="square">
            <a:spAutoFit/>
          </a:bodyPr>
          <a:lstStyle/>
          <a:p>
            <a:pPr algn="l"/>
            <a:r>
              <a:rPr sz="1300" b="1">
                <a:solidFill>
                  <a:srgbClr val="FFFFFF"/>
                </a:solidFill>
                <a:latin typeface="IBM Plex Sans Thai"/>
              </a:rPr>
              <a:t>🎭 E2E Tests — Playwright</a:t>
            </a:r>
          </a:p>
        </p:txBody>
      </p:sp>
      <p:sp>
        <p:nvSpPr>
          <p:cNvPr id="15" name="TextBox 14"/>
          <p:cNvSpPr txBox="1"/>
          <p:nvPr/>
        </p:nvSpPr>
        <p:spPr>
          <a:xfrm>
            <a:off x="4361688" y="2286000"/>
            <a:ext cx="3566160" cy="3840480"/>
          </a:xfrm>
          <a:prstGeom prst="rect">
            <a:avLst/>
          </a:prstGeom>
          <a:noFill/>
        </p:spPr>
        <p:txBody>
          <a:bodyPr wrap="square">
            <a:spAutoFit/>
          </a:bodyPr>
          <a:lstStyle/>
          <a:p>
            <a:pPr>
              <a:spcBef>
                <a:spcPts val="400"/>
              </a:spcBef>
            </a:pPr>
            <a:r>
              <a:rPr sz="1200">
                <a:solidFill>
                  <a:srgbClr val="444F60"/>
                </a:solidFill>
                <a:latin typeface="IBM Plex Sans Thai"/>
              </a:rPr>
              <a:t>• Happy path: submit text → result page</a:t>
            </a:r>
          </a:p>
          <a:p>
            <a:pPr>
              <a:spcBef>
                <a:spcPts val="400"/>
              </a:spcBef>
            </a:pPr>
            <a:r>
              <a:rPr sz="1200">
                <a:solidFill>
                  <a:srgbClr val="444F60"/>
                </a:solidFill>
                <a:latin typeface="IBM Plex Sans Thai"/>
              </a:rPr>
              <a:t>• Verify verdict card แสดงผล</a:t>
            </a:r>
          </a:p>
          <a:p>
            <a:pPr>
              <a:spcBef>
                <a:spcPts val="400"/>
              </a:spcBef>
            </a:pPr>
            <a:r>
              <a:rPr sz="1200">
                <a:solidFill>
                  <a:srgbClr val="444F60"/>
                </a:solidFill>
                <a:latin typeface="IBM Plex Sans Thai"/>
              </a:rPr>
              <a:t>• Verify evidence stats แสดงผล</a:t>
            </a:r>
          </a:p>
          <a:p>
            <a:pPr>
              <a:spcBef>
                <a:spcPts val="400"/>
              </a:spcBef>
            </a:pPr>
            <a:r>
              <a:rPr sz="1200">
                <a:solidFill>
                  <a:srgbClr val="444F60"/>
                </a:solidFill>
                <a:latin typeface="IBM Plex Sans Thai"/>
              </a:rPr>
              <a:t>• Verify reasoning accordion แสดงผล</a:t>
            </a:r>
          </a:p>
          <a:p>
            <a:pPr>
              <a:spcBef>
                <a:spcPts val="400"/>
              </a:spcBef>
            </a:pPr>
            <a:r>
              <a:rPr sz="1200">
                <a:solidFill>
                  <a:srgbClr val="444F60"/>
                </a:solidFill>
                <a:latin typeface="IBM Plex Sans Thai"/>
              </a:rPr>
              <a:t>• Verify URL ถูก navigate ไป /result/[id]</a:t>
            </a:r>
          </a:p>
        </p:txBody>
      </p:sp>
      <p:sp>
        <p:nvSpPr>
          <p:cNvPr id="16" name="Rectangle 15"/>
          <p:cNvSpPr/>
          <p:nvPr/>
        </p:nvSpPr>
        <p:spPr>
          <a:xfrm>
            <a:off x="8229600" y="1691640"/>
            <a:ext cx="3749039" cy="4663440"/>
          </a:xfrm>
          <a:prstGeom prst="rect">
            <a:avLst/>
          </a:prstGeom>
          <a:solidFill>
            <a:srgbClr val="FFFFFF"/>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1691640"/>
            <a:ext cx="3749039" cy="4572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9327" y="1737360"/>
            <a:ext cx="3566160" cy="365760"/>
          </a:xfrm>
          <a:prstGeom prst="rect">
            <a:avLst/>
          </a:prstGeom>
          <a:noFill/>
        </p:spPr>
        <p:txBody>
          <a:bodyPr wrap="square">
            <a:spAutoFit/>
          </a:bodyPr>
          <a:lstStyle/>
          <a:p>
            <a:pPr algn="l"/>
            <a:r>
              <a:rPr sz="1300" b="1">
                <a:solidFill>
                  <a:srgbClr val="FFFFFF"/>
                </a:solidFill>
                <a:latin typeface="IBM Plex Sans Thai"/>
              </a:rPr>
              <a:t>🔧 Mock Strategy</a:t>
            </a:r>
          </a:p>
        </p:txBody>
      </p:sp>
      <p:sp>
        <p:nvSpPr>
          <p:cNvPr id="19" name="TextBox 18"/>
          <p:cNvSpPr txBox="1"/>
          <p:nvPr/>
        </p:nvSpPr>
        <p:spPr>
          <a:xfrm>
            <a:off x="8339327" y="2286000"/>
            <a:ext cx="3566160" cy="3840480"/>
          </a:xfrm>
          <a:prstGeom prst="rect">
            <a:avLst/>
          </a:prstGeom>
          <a:noFill/>
        </p:spPr>
        <p:txBody>
          <a:bodyPr wrap="square">
            <a:spAutoFit/>
          </a:bodyPr>
          <a:lstStyle/>
          <a:p>
            <a:pPr>
              <a:spcBef>
                <a:spcPts val="400"/>
              </a:spcBef>
            </a:pPr>
            <a:r>
              <a:rPr sz="1200">
                <a:solidFill>
                  <a:srgbClr val="444F60"/>
                </a:solidFill>
                <a:latin typeface="IBM Plex Sans Thai"/>
              </a:rPr>
              <a:t>• Prisma client ถูก mock ทุก service test</a:t>
            </a:r>
          </a:p>
          <a:p>
            <a:pPr>
              <a:spcBef>
                <a:spcPts val="400"/>
              </a:spcBef>
            </a:pPr>
            <a:r>
              <a:rPr sz="1200">
                <a:solidFill>
                  <a:srgbClr val="444F60"/>
                </a:solidFill>
                <a:latin typeface="IBM Plex Sans Thai"/>
              </a:rPr>
              <a:t>• Gemini client ถูก mock ใน image tests</a:t>
            </a:r>
          </a:p>
          <a:p>
            <a:pPr>
              <a:spcBef>
                <a:spcPts val="400"/>
              </a:spcBef>
            </a:pPr>
            <a:r>
              <a:rPr sz="1200">
                <a:solidFill>
                  <a:srgbClr val="444F60"/>
                </a:solidFill>
                <a:latin typeface="IBM Plex Sans Thai"/>
              </a:rPr>
              <a:t>• Rate limiter ถูก mock ใน API tests</a:t>
            </a:r>
          </a:p>
          <a:p>
            <a:pPr>
              <a:spcBef>
                <a:spcPts val="400"/>
              </a:spcBef>
            </a:pPr>
            <a:r>
              <a:rPr sz="1200">
                <a:solidFill>
                  <a:srgbClr val="444F60"/>
                </a:solidFill>
                <a:latin typeface="IBM Plex Sans Thai"/>
              </a:rPr>
              <a:t>• ไม่ hit real DB หรือ external API ใน unit test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IBM Plex Sans Thai"/>
              </a:rPr>
              <a:t>Setup &amp; Running</a:t>
            </a:r>
          </a:p>
        </p:txBody>
      </p:sp>
      <p:sp>
        <p:nvSpPr>
          <p:cNvPr id="5" name="TextBox 4"/>
          <p:cNvSpPr txBox="1"/>
          <p:nvPr/>
        </p:nvSpPr>
        <p:spPr>
          <a:xfrm>
            <a:off x="365760" y="868680"/>
            <a:ext cx="11430000" cy="502920"/>
          </a:xfrm>
          <a:prstGeom prst="rect">
            <a:avLst/>
          </a:prstGeom>
          <a:noFill/>
        </p:spPr>
        <p:txBody>
          <a:bodyPr wrap="square">
            <a:spAutoFit/>
          </a:bodyPr>
          <a:lstStyle/>
          <a:p>
            <a:pPr algn="l"/>
            <a:r>
              <a:rPr sz="1400" b="0">
                <a:solidFill>
                  <a:srgbClr val="DBEAFE"/>
                </a:solidFill>
                <a:latin typeface="IBM Plex Sans Thai"/>
              </a:rPr>
              <a:t>3 commands to get started</a:t>
            </a:r>
          </a:p>
        </p:txBody>
      </p:sp>
      <p:sp>
        <p:nvSpPr>
          <p:cNvPr id="6" name="Rectangle 5"/>
          <p:cNvSpPr/>
          <p:nvPr/>
        </p:nvSpPr>
        <p:spPr>
          <a:xfrm>
            <a:off x="0" y="146304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37960"/>
            <a:ext cx="11612880" cy="274320"/>
          </a:xfrm>
          <a:prstGeom prst="rect">
            <a:avLst/>
          </a:prstGeom>
          <a:noFill/>
        </p:spPr>
        <p:txBody>
          <a:bodyPr wrap="square">
            <a:spAutoFit/>
          </a:bodyPr>
          <a:lstStyle/>
          <a:p>
            <a:pPr algn="r"/>
            <a:r>
              <a:rPr sz="1000" b="0">
                <a:solidFill>
                  <a:srgbClr val="AAAAAA"/>
                </a:solidFill>
                <a:latin typeface="IBM Plex Sans Thai"/>
              </a:rPr>
              <a:t>ชัวร์ก่อนแชร์  •  16/18</a:t>
            </a:r>
          </a:p>
        </p:txBody>
      </p:sp>
      <p:sp>
        <p:nvSpPr>
          <p:cNvPr id="8" name="Rectangle 7"/>
          <p:cNvSpPr/>
          <p:nvPr/>
        </p:nvSpPr>
        <p:spPr>
          <a:xfrm>
            <a:off x="274320" y="1828800"/>
            <a:ext cx="640080" cy="1371600"/>
          </a:xfrm>
          <a:prstGeom prst="rect">
            <a:avLst/>
          </a:prstGeom>
          <a:solidFill>
            <a:srgbClr val="24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2194560"/>
            <a:ext cx="640080" cy="640080"/>
          </a:xfrm>
          <a:prstGeom prst="rect">
            <a:avLst/>
          </a:prstGeom>
          <a:noFill/>
        </p:spPr>
        <p:txBody>
          <a:bodyPr wrap="square">
            <a:spAutoFit/>
          </a:bodyPr>
          <a:lstStyle/>
          <a:p>
            <a:pPr algn="ctr"/>
            <a:r>
              <a:rPr sz="2400" b="1">
                <a:solidFill>
                  <a:srgbClr val="FFFFFF"/>
                </a:solidFill>
                <a:latin typeface="IBM Plex Sans Thai"/>
              </a:rPr>
              <a:t>1</a:t>
            </a:r>
          </a:p>
        </p:txBody>
      </p:sp>
      <p:sp>
        <p:nvSpPr>
          <p:cNvPr id="10" name="Rectangle 9"/>
          <p:cNvSpPr/>
          <p:nvPr/>
        </p:nvSpPr>
        <p:spPr>
          <a:xfrm>
            <a:off x="1005840" y="1828800"/>
            <a:ext cx="10881360" cy="13716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1938528"/>
            <a:ext cx="10607040" cy="502920"/>
          </a:xfrm>
          <a:prstGeom prst="rect">
            <a:avLst/>
          </a:prstGeom>
          <a:noFill/>
        </p:spPr>
        <p:txBody>
          <a:bodyPr wrap="square">
            <a:spAutoFit/>
          </a:bodyPr>
          <a:lstStyle/>
          <a:p>
            <a:pPr algn="l"/>
            <a:r>
              <a:rPr sz="1800" b="1">
                <a:solidFill>
                  <a:srgbClr val="06B6D4"/>
                </a:solidFill>
                <a:latin typeface="Courier New"/>
              </a:rPr>
              <a:t>docker compose up</a:t>
            </a:r>
          </a:p>
        </p:txBody>
      </p:sp>
      <p:sp>
        <p:nvSpPr>
          <p:cNvPr id="12" name="TextBox 11"/>
          <p:cNvSpPr txBox="1"/>
          <p:nvPr/>
        </p:nvSpPr>
        <p:spPr>
          <a:xfrm>
            <a:off x="1143000" y="2468880"/>
            <a:ext cx="10607040" cy="640080"/>
          </a:xfrm>
          <a:prstGeom prst="rect">
            <a:avLst/>
          </a:prstGeom>
          <a:noFill/>
        </p:spPr>
        <p:txBody>
          <a:bodyPr wrap="square">
            <a:spAutoFit/>
          </a:bodyPr>
          <a:lstStyle/>
          <a:p>
            <a:pPr algn="l"/>
            <a:r>
              <a:rPr sz="1200" b="0">
                <a:solidFill>
                  <a:srgbClr val="CCCCCC"/>
                </a:solidFill>
                <a:latin typeface="IBM Plex Sans Thai"/>
              </a:rPr>
              <a:t>เริ่ม Next.js app (port 3000) + PostgreSQL (port 5432)
รอจนเห็น 'Ready on http://localhost:3000'</a:t>
            </a:r>
          </a:p>
        </p:txBody>
      </p:sp>
      <p:sp>
        <p:nvSpPr>
          <p:cNvPr id="13" name="Rectangle 12"/>
          <p:cNvSpPr/>
          <p:nvPr/>
        </p:nvSpPr>
        <p:spPr>
          <a:xfrm>
            <a:off x="274320" y="3383280"/>
            <a:ext cx="640080" cy="1371600"/>
          </a:xfrm>
          <a:prstGeom prst="rect">
            <a:avLst/>
          </a:prstGeom>
          <a:solidFill>
            <a:srgbClr val="24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3749040"/>
            <a:ext cx="640080" cy="640080"/>
          </a:xfrm>
          <a:prstGeom prst="rect">
            <a:avLst/>
          </a:prstGeom>
          <a:noFill/>
        </p:spPr>
        <p:txBody>
          <a:bodyPr wrap="square">
            <a:spAutoFit/>
          </a:bodyPr>
          <a:lstStyle/>
          <a:p>
            <a:pPr algn="ctr"/>
            <a:r>
              <a:rPr sz="2400" b="1">
                <a:solidFill>
                  <a:srgbClr val="FFFFFF"/>
                </a:solidFill>
                <a:latin typeface="IBM Plex Sans Thai"/>
              </a:rPr>
              <a:t>2</a:t>
            </a:r>
          </a:p>
        </p:txBody>
      </p:sp>
      <p:sp>
        <p:nvSpPr>
          <p:cNvPr id="15" name="Rectangle 14"/>
          <p:cNvSpPr/>
          <p:nvPr/>
        </p:nvSpPr>
        <p:spPr>
          <a:xfrm>
            <a:off x="1005840" y="3383280"/>
            <a:ext cx="10881360" cy="13716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3493008"/>
            <a:ext cx="10607040" cy="502920"/>
          </a:xfrm>
          <a:prstGeom prst="rect">
            <a:avLst/>
          </a:prstGeom>
          <a:noFill/>
        </p:spPr>
        <p:txBody>
          <a:bodyPr wrap="square">
            <a:spAutoFit/>
          </a:bodyPr>
          <a:lstStyle/>
          <a:p>
            <a:pPr algn="l"/>
            <a:r>
              <a:rPr sz="1800" b="1">
                <a:solidFill>
                  <a:srgbClr val="06B6D4"/>
                </a:solidFill>
                <a:latin typeface="Courier New"/>
              </a:rPr>
              <a:t>npm run db:seed</a:t>
            </a:r>
          </a:p>
        </p:txBody>
      </p:sp>
      <p:sp>
        <p:nvSpPr>
          <p:cNvPr id="17" name="TextBox 16"/>
          <p:cNvSpPr txBox="1"/>
          <p:nvPr/>
        </p:nvSpPr>
        <p:spPr>
          <a:xfrm>
            <a:off x="1143000" y="4023360"/>
            <a:ext cx="10607040" cy="640080"/>
          </a:xfrm>
          <a:prstGeom prst="rect">
            <a:avLst/>
          </a:prstGeom>
          <a:noFill/>
        </p:spPr>
        <p:txBody>
          <a:bodyPr wrap="square">
            <a:spAutoFit/>
          </a:bodyPr>
          <a:lstStyle/>
          <a:p>
            <a:pPr algn="l"/>
            <a:r>
              <a:rPr sz="1200" b="0">
                <a:solidFill>
                  <a:srgbClr val="CCCCCC"/>
                </a:solidFill>
                <a:latin typeface="IBM Plex Sans Thai"/>
              </a:rPr>
              <a:t>Seed ข้อมูลเริ่มต้น: trusted sources, fake claims, suspicious domains
ต้องรันหลัง docker compose up เสร็จแล้ว</a:t>
            </a:r>
          </a:p>
        </p:txBody>
      </p:sp>
      <p:sp>
        <p:nvSpPr>
          <p:cNvPr id="18" name="Rectangle 17"/>
          <p:cNvSpPr/>
          <p:nvPr/>
        </p:nvSpPr>
        <p:spPr>
          <a:xfrm>
            <a:off x="274320" y="4937760"/>
            <a:ext cx="640080" cy="1371600"/>
          </a:xfrm>
          <a:prstGeom prst="rect">
            <a:avLst/>
          </a:prstGeom>
          <a:solidFill>
            <a:srgbClr val="24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5303520"/>
            <a:ext cx="640080" cy="640080"/>
          </a:xfrm>
          <a:prstGeom prst="rect">
            <a:avLst/>
          </a:prstGeom>
          <a:noFill/>
        </p:spPr>
        <p:txBody>
          <a:bodyPr wrap="square">
            <a:spAutoFit/>
          </a:bodyPr>
          <a:lstStyle/>
          <a:p>
            <a:pPr algn="ctr"/>
            <a:r>
              <a:rPr sz="2400" b="1">
                <a:solidFill>
                  <a:srgbClr val="FFFFFF"/>
                </a:solidFill>
                <a:latin typeface="IBM Plex Sans Thai"/>
              </a:rPr>
              <a:t>3</a:t>
            </a:r>
          </a:p>
        </p:txBody>
      </p:sp>
      <p:sp>
        <p:nvSpPr>
          <p:cNvPr id="20" name="Rectangle 19"/>
          <p:cNvSpPr/>
          <p:nvPr/>
        </p:nvSpPr>
        <p:spPr>
          <a:xfrm>
            <a:off x="1005840" y="4937760"/>
            <a:ext cx="10881360" cy="13716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43000" y="5047488"/>
            <a:ext cx="10607040" cy="502920"/>
          </a:xfrm>
          <a:prstGeom prst="rect">
            <a:avLst/>
          </a:prstGeom>
          <a:noFill/>
        </p:spPr>
        <p:txBody>
          <a:bodyPr wrap="square">
            <a:spAutoFit/>
          </a:bodyPr>
          <a:lstStyle/>
          <a:p>
            <a:pPr algn="l"/>
            <a:r>
              <a:rPr sz="1800" b="1">
                <a:solidFill>
                  <a:srgbClr val="06B6D4"/>
                </a:solidFill>
                <a:latin typeface="Courier New"/>
              </a:rPr>
              <a:t>npm test</a:t>
            </a:r>
          </a:p>
        </p:txBody>
      </p:sp>
      <p:sp>
        <p:nvSpPr>
          <p:cNvPr id="22" name="TextBox 21"/>
          <p:cNvSpPr txBox="1"/>
          <p:nvPr/>
        </p:nvSpPr>
        <p:spPr>
          <a:xfrm>
            <a:off x="1143000" y="5577840"/>
            <a:ext cx="10607040" cy="640080"/>
          </a:xfrm>
          <a:prstGeom prst="rect">
            <a:avLst/>
          </a:prstGeom>
          <a:noFill/>
        </p:spPr>
        <p:txBody>
          <a:bodyPr wrap="square">
            <a:spAutoFit/>
          </a:bodyPr>
          <a:lstStyle/>
          <a:p>
            <a:pPr algn="l"/>
            <a:r>
              <a:rPr sz="1200" b="0">
                <a:solidFill>
                  <a:srgbClr val="CCCCCC"/>
                </a:solidFill>
                <a:latin typeface="IBM Plex Sans Thai"/>
              </a:rPr>
              <a:t>รัน Vitest unit tests ทั้งหมด
ผลลัพธ์แสดง pass/fail แต่ละ test</a:t>
            </a:r>
          </a:p>
        </p:txBody>
      </p:sp>
      <p:sp>
        <p:nvSpPr>
          <p:cNvPr id="23" name="Rectangle 22"/>
          <p:cNvSpPr/>
          <p:nvPr/>
        </p:nvSpPr>
        <p:spPr>
          <a:xfrm>
            <a:off x="274320" y="6446520"/>
            <a:ext cx="11612880" cy="274320"/>
          </a:xfrm>
          <a:prstGeom prst="rect">
            <a:avLst/>
          </a:prstGeom>
          <a:solidFill>
            <a:srgbClr val="FFF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6464808"/>
            <a:ext cx="11338560" cy="228600"/>
          </a:xfrm>
          <a:prstGeom prst="rect">
            <a:avLst/>
          </a:prstGeom>
          <a:noFill/>
        </p:spPr>
        <p:txBody>
          <a:bodyPr wrap="square">
            <a:spAutoFit/>
          </a:bodyPr>
          <a:lstStyle/>
          <a:p>
            <a:pPr algn="l"/>
            <a:r>
              <a:rPr sz="1100" b="1">
                <a:solidFill>
                  <a:srgbClr val="785000"/>
                </a:solidFill>
                <a:latin typeface="IBM Plex Sans Thai"/>
              </a:rPr>
              <a:t>⚠️  .env required: DATABASE_URL  +  GEMINI_API_KEY  (see .env.example)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IBM Plex Sans Thai"/>
              </a:rPr>
              <a:t>Future Roadmap</a:t>
            </a:r>
          </a:p>
        </p:txBody>
      </p:sp>
      <p:sp>
        <p:nvSpPr>
          <p:cNvPr id="5" name="TextBox 4"/>
          <p:cNvSpPr txBox="1"/>
          <p:nvPr/>
        </p:nvSpPr>
        <p:spPr>
          <a:xfrm>
            <a:off x="365760" y="868680"/>
            <a:ext cx="11430000" cy="502920"/>
          </a:xfrm>
          <a:prstGeom prst="rect">
            <a:avLst/>
          </a:prstGeom>
          <a:noFill/>
        </p:spPr>
        <p:txBody>
          <a:bodyPr wrap="square">
            <a:spAutoFit/>
          </a:bodyPr>
          <a:lstStyle/>
          <a:p>
            <a:pPr algn="l"/>
            <a:r>
              <a:rPr sz="1400" b="0">
                <a:solidFill>
                  <a:srgbClr val="DBEAFE"/>
                </a:solidFill>
                <a:latin typeface="IBM Plex Sans Thai"/>
              </a:rPr>
              <a:t>Post-MVP — 5 Next Steps</a:t>
            </a:r>
          </a:p>
        </p:txBody>
      </p:sp>
      <p:sp>
        <p:nvSpPr>
          <p:cNvPr id="6" name="Rectangle 5"/>
          <p:cNvSpPr/>
          <p:nvPr/>
        </p:nvSpPr>
        <p:spPr>
          <a:xfrm>
            <a:off x="0" y="146304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37960"/>
            <a:ext cx="11612880" cy="274320"/>
          </a:xfrm>
          <a:prstGeom prst="rect">
            <a:avLst/>
          </a:prstGeom>
          <a:noFill/>
        </p:spPr>
        <p:txBody>
          <a:bodyPr wrap="square">
            <a:spAutoFit/>
          </a:bodyPr>
          <a:lstStyle/>
          <a:p>
            <a:pPr algn="r"/>
            <a:r>
              <a:rPr sz="1000" b="0">
                <a:solidFill>
                  <a:srgbClr val="AAAAAA"/>
                </a:solidFill>
                <a:latin typeface="IBM Plex Sans Thai"/>
              </a:rPr>
              <a:t>ชัวร์ก่อนแชร์  •  17/18</a:t>
            </a:r>
          </a:p>
        </p:txBody>
      </p:sp>
      <p:sp>
        <p:nvSpPr>
          <p:cNvPr id="8" name="Rectangle 7"/>
          <p:cNvSpPr/>
          <p:nvPr/>
        </p:nvSpPr>
        <p:spPr>
          <a:xfrm>
            <a:off x="274320" y="1737360"/>
            <a:ext cx="2194560" cy="4572000"/>
          </a:xfrm>
          <a:prstGeom prst="rect">
            <a:avLst/>
          </a:prstGeom>
          <a:solidFill>
            <a:srgbClr val="FFFFFF"/>
          </a:solidFill>
          <a:ln w="12700">
            <a:solidFill>
              <a:srgbClr val="245C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737360"/>
            <a:ext cx="2194560" cy="457200"/>
          </a:xfrm>
          <a:prstGeom prst="rect">
            <a:avLst/>
          </a:prstGeom>
          <a:solidFill>
            <a:srgbClr val="24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801368"/>
            <a:ext cx="2103120" cy="347472"/>
          </a:xfrm>
          <a:prstGeom prst="rect">
            <a:avLst/>
          </a:prstGeom>
          <a:noFill/>
        </p:spPr>
        <p:txBody>
          <a:bodyPr wrap="square">
            <a:spAutoFit/>
          </a:bodyPr>
          <a:lstStyle/>
          <a:p>
            <a:pPr algn="ctr"/>
            <a:r>
              <a:rPr sz="1600" b="1">
                <a:solidFill>
                  <a:srgbClr val="FFFFFF"/>
                </a:solidFill>
                <a:latin typeface="IBM Plex Sans Thai"/>
              </a:rPr>
              <a:t>v1.1</a:t>
            </a:r>
          </a:p>
        </p:txBody>
      </p:sp>
      <p:sp>
        <p:nvSpPr>
          <p:cNvPr id="11" name="TextBox 10"/>
          <p:cNvSpPr txBox="1"/>
          <p:nvPr/>
        </p:nvSpPr>
        <p:spPr>
          <a:xfrm>
            <a:off x="365760" y="2304288"/>
            <a:ext cx="2011680" cy="822960"/>
          </a:xfrm>
          <a:prstGeom prst="rect">
            <a:avLst/>
          </a:prstGeom>
          <a:noFill/>
        </p:spPr>
        <p:txBody>
          <a:bodyPr wrap="square">
            <a:spAutoFit/>
          </a:bodyPr>
          <a:lstStyle/>
          <a:p>
            <a:pPr algn="ctr"/>
            <a:r>
              <a:rPr sz="1300" b="1">
                <a:solidFill>
                  <a:srgbClr val="1E3A5F"/>
                </a:solidFill>
                <a:latin typeface="IBM Plex Sans Thai"/>
              </a:rPr>
              <a:t>🔗  Real Reverse Image Search</a:t>
            </a:r>
          </a:p>
        </p:txBody>
      </p:sp>
      <p:sp>
        <p:nvSpPr>
          <p:cNvPr id="12" name="TextBox 11"/>
          <p:cNvSpPr txBox="1"/>
          <p:nvPr/>
        </p:nvSpPr>
        <p:spPr>
          <a:xfrm>
            <a:off x="365760" y="3154680"/>
            <a:ext cx="2011680" cy="2926080"/>
          </a:xfrm>
          <a:prstGeom prst="rect">
            <a:avLst/>
          </a:prstGeom>
          <a:noFill/>
        </p:spPr>
        <p:txBody>
          <a:bodyPr wrap="square">
            <a:spAutoFit/>
          </a:bodyPr>
          <a:lstStyle/>
          <a:p>
            <a:pPr algn="ctr"/>
            <a:r>
              <a:rPr sz="1200" b="0">
                <a:solidFill>
                  <a:srgbClr val="444F60"/>
                </a:solidFill>
                <a:latin typeface="IBM Plex Sans Thai"/>
              </a:rPr>
              <a:t>เชื่อมต่อ Google Lens API หรือ TinEye
แทน mock results</a:t>
            </a:r>
          </a:p>
        </p:txBody>
      </p:sp>
      <p:sp>
        <p:nvSpPr>
          <p:cNvPr id="13" name="Rectangle 12"/>
          <p:cNvSpPr/>
          <p:nvPr/>
        </p:nvSpPr>
        <p:spPr>
          <a:xfrm>
            <a:off x="2633472" y="1737360"/>
            <a:ext cx="2194560" cy="4572000"/>
          </a:xfrm>
          <a:prstGeom prst="rect">
            <a:avLst/>
          </a:prstGeom>
          <a:solidFill>
            <a:srgbClr val="FFFFFF"/>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33472" y="1737360"/>
            <a:ext cx="2194560" cy="4572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79191" y="1801368"/>
            <a:ext cx="2103120" cy="347472"/>
          </a:xfrm>
          <a:prstGeom prst="rect">
            <a:avLst/>
          </a:prstGeom>
          <a:noFill/>
        </p:spPr>
        <p:txBody>
          <a:bodyPr wrap="square">
            <a:spAutoFit/>
          </a:bodyPr>
          <a:lstStyle/>
          <a:p>
            <a:pPr algn="ctr"/>
            <a:r>
              <a:rPr sz="1600" b="1">
                <a:solidFill>
                  <a:srgbClr val="FFFFFF"/>
                </a:solidFill>
                <a:latin typeface="IBM Plex Sans Thai"/>
              </a:rPr>
              <a:t>v1.2</a:t>
            </a:r>
          </a:p>
        </p:txBody>
      </p:sp>
      <p:sp>
        <p:nvSpPr>
          <p:cNvPr id="16" name="TextBox 15"/>
          <p:cNvSpPr txBox="1"/>
          <p:nvPr/>
        </p:nvSpPr>
        <p:spPr>
          <a:xfrm>
            <a:off x="2724912" y="2304288"/>
            <a:ext cx="2011680" cy="822960"/>
          </a:xfrm>
          <a:prstGeom prst="rect">
            <a:avLst/>
          </a:prstGeom>
          <a:noFill/>
        </p:spPr>
        <p:txBody>
          <a:bodyPr wrap="square">
            <a:spAutoFit/>
          </a:bodyPr>
          <a:lstStyle/>
          <a:p>
            <a:pPr algn="ctr"/>
            <a:r>
              <a:rPr sz="1300" b="1">
                <a:solidFill>
                  <a:srgbClr val="1E3A5F"/>
                </a:solidFill>
                <a:latin typeface="IBM Plex Sans Thai"/>
              </a:rPr>
              <a:t>📱  Social Account Analysis</a:t>
            </a:r>
          </a:p>
        </p:txBody>
      </p:sp>
      <p:sp>
        <p:nvSpPr>
          <p:cNvPr id="17" name="TextBox 16"/>
          <p:cNvSpPr txBox="1"/>
          <p:nvPr/>
        </p:nvSpPr>
        <p:spPr>
          <a:xfrm>
            <a:off x="2724912" y="3154680"/>
            <a:ext cx="2011680" cy="2926080"/>
          </a:xfrm>
          <a:prstGeom prst="rect">
            <a:avLst/>
          </a:prstGeom>
          <a:noFill/>
        </p:spPr>
        <p:txBody>
          <a:bodyPr wrap="square">
            <a:spAutoFit/>
          </a:bodyPr>
          <a:lstStyle/>
          <a:p>
            <a:pPr algn="ctr"/>
            <a:r>
              <a:rPr sz="1200" b="0">
                <a:solidFill>
                  <a:srgbClr val="444F60"/>
                </a:solidFill>
                <a:latin typeface="IBM Plex Sans Thai"/>
              </a:rPr>
              <a:t>เชื่อมต่อ API จริงสำหรับตรวจสอบ
บัญชี fake บน Facebook/X</a:t>
            </a:r>
          </a:p>
        </p:txBody>
      </p:sp>
      <p:sp>
        <p:nvSpPr>
          <p:cNvPr id="18" name="Rectangle 17"/>
          <p:cNvSpPr/>
          <p:nvPr/>
        </p:nvSpPr>
        <p:spPr>
          <a:xfrm>
            <a:off x="4992624" y="1737360"/>
            <a:ext cx="2194560" cy="4572000"/>
          </a:xfrm>
          <a:prstGeom prst="rect">
            <a:avLst/>
          </a:prstGeom>
          <a:solidFill>
            <a:srgbClr val="FFFFFF"/>
          </a:solidFill>
          <a:ln w="12700">
            <a:solidFill>
              <a:srgbClr val="6B21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992624" y="1737360"/>
            <a:ext cx="2194560" cy="45720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38344" y="1801368"/>
            <a:ext cx="2103120" cy="347472"/>
          </a:xfrm>
          <a:prstGeom prst="rect">
            <a:avLst/>
          </a:prstGeom>
          <a:noFill/>
        </p:spPr>
        <p:txBody>
          <a:bodyPr wrap="square">
            <a:spAutoFit/>
          </a:bodyPr>
          <a:lstStyle/>
          <a:p>
            <a:pPr algn="ctr"/>
            <a:r>
              <a:rPr sz="1600" b="1">
                <a:solidFill>
                  <a:srgbClr val="FFFFFF"/>
                </a:solidFill>
                <a:latin typeface="IBM Plex Sans Thai"/>
              </a:rPr>
              <a:t>v1.3</a:t>
            </a:r>
          </a:p>
        </p:txBody>
      </p:sp>
      <p:sp>
        <p:nvSpPr>
          <p:cNvPr id="21" name="TextBox 20"/>
          <p:cNvSpPr txBox="1"/>
          <p:nvPr/>
        </p:nvSpPr>
        <p:spPr>
          <a:xfrm>
            <a:off x="5084064" y="2304288"/>
            <a:ext cx="2011680" cy="822960"/>
          </a:xfrm>
          <a:prstGeom prst="rect">
            <a:avLst/>
          </a:prstGeom>
          <a:noFill/>
        </p:spPr>
        <p:txBody>
          <a:bodyPr wrap="square">
            <a:spAutoFit/>
          </a:bodyPr>
          <a:lstStyle/>
          <a:p>
            <a:pPr algn="ctr"/>
            <a:r>
              <a:rPr sz="1300" b="1">
                <a:solidFill>
                  <a:srgbClr val="1E3A5F"/>
                </a:solidFill>
                <a:latin typeface="IBM Plex Sans Thai"/>
              </a:rPr>
              <a:t>🧩  Browser Extension</a:t>
            </a:r>
          </a:p>
        </p:txBody>
      </p:sp>
      <p:sp>
        <p:nvSpPr>
          <p:cNvPr id="22" name="TextBox 21"/>
          <p:cNvSpPr txBox="1"/>
          <p:nvPr/>
        </p:nvSpPr>
        <p:spPr>
          <a:xfrm>
            <a:off x="5084064" y="3154680"/>
            <a:ext cx="2011680" cy="2926080"/>
          </a:xfrm>
          <a:prstGeom prst="rect">
            <a:avLst/>
          </a:prstGeom>
          <a:noFill/>
        </p:spPr>
        <p:txBody>
          <a:bodyPr wrap="square">
            <a:spAutoFit/>
          </a:bodyPr>
          <a:lstStyle/>
          <a:p>
            <a:pPr algn="ctr"/>
            <a:r>
              <a:rPr sz="1200" b="0">
                <a:solidFill>
                  <a:srgbClr val="444F60"/>
                </a:solidFill>
                <a:latin typeface="IBM Plex Sans Thai"/>
              </a:rPr>
              <a:t>Right-click → ตรวจสอบข้อความ/URL/
รูปภาพจากทุกเว็บไซต์</a:t>
            </a:r>
          </a:p>
        </p:txBody>
      </p:sp>
      <p:sp>
        <p:nvSpPr>
          <p:cNvPr id="23" name="Rectangle 22"/>
          <p:cNvSpPr/>
          <p:nvPr/>
        </p:nvSpPr>
        <p:spPr>
          <a:xfrm>
            <a:off x="7351775" y="1737360"/>
            <a:ext cx="2194560" cy="4572000"/>
          </a:xfrm>
          <a:prstGeom prst="rect">
            <a:avLst/>
          </a:prstGeom>
          <a:solidFill>
            <a:srgbClr val="FFFFFF"/>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51775" y="1737360"/>
            <a:ext cx="2194560" cy="4572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97496" y="1801368"/>
            <a:ext cx="2103120" cy="347472"/>
          </a:xfrm>
          <a:prstGeom prst="rect">
            <a:avLst/>
          </a:prstGeom>
          <a:noFill/>
        </p:spPr>
        <p:txBody>
          <a:bodyPr wrap="square">
            <a:spAutoFit/>
          </a:bodyPr>
          <a:lstStyle/>
          <a:p>
            <a:pPr algn="ctr"/>
            <a:r>
              <a:rPr sz="1600" b="1">
                <a:solidFill>
                  <a:srgbClr val="FFFFFF"/>
                </a:solidFill>
                <a:latin typeface="IBM Plex Sans Thai"/>
              </a:rPr>
              <a:t>v2.0</a:t>
            </a:r>
          </a:p>
        </p:txBody>
      </p:sp>
      <p:sp>
        <p:nvSpPr>
          <p:cNvPr id="26" name="TextBox 25"/>
          <p:cNvSpPr txBox="1"/>
          <p:nvPr/>
        </p:nvSpPr>
        <p:spPr>
          <a:xfrm>
            <a:off x="7443215" y="2304288"/>
            <a:ext cx="2011680" cy="822960"/>
          </a:xfrm>
          <a:prstGeom prst="rect">
            <a:avLst/>
          </a:prstGeom>
          <a:noFill/>
        </p:spPr>
        <p:txBody>
          <a:bodyPr wrap="square">
            <a:spAutoFit/>
          </a:bodyPr>
          <a:lstStyle/>
          <a:p>
            <a:pPr algn="ctr"/>
            <a:r>
              <a:rPr sz="1300" b="1">
                <a:solidFill>
                  <a:srgbClr val="1E3A5F"/>
                </a:solidFill>
                <a:latin typeface="IBM Plex Sans Thai"/>
              </a:rPr>
              <a:t>☁️  Public Deployment</a:t>
            </a:r>
          </a:p>
        </p:txBody>
      </p:sp>
      <p:sp>
        <p:nvSpPr>
          <p:cNvPr id="27" name="TextBox 26"/>
          <p:cNvSpPr txBox="1"/>
          <p:nvPr/>
        </p:nvSpPr>
        <p:spPr>
          <a:xfrm>
            <a:off x="7443215" y="3154680"/>
            <a:ext cx="2011680" cy="2926080"/>
          </a:xfrm>
          <a:prstGeom prst="rect">
            <a:avLst/>
          </a:prstGeom>
          <a:noFill/>
        </p:spPr>
        <p:txBody>
          <a:bodyPr wrap="square">
            <a:spAutoFit/>
          </a:bodyPr>
          <a:lstStyle/>
          <a:p>
            <a:pPr algn="ctr"/>
            <a:r>
              <a:rPr sz="1200" b="0">
                <a:solidFill>
                  <a:srgbClr val="444F60"/>
                </a:solidFill>
                <a:latin typeface="IBM Plex Sans Thai"/>
              </a:rPr>
              <a:t>Deploy บน Vercel + Supabase
Optional user accounts</a:t>
            </a:r>
          </a:p>
        </p:txBody>
      </p:sp>
      <p:sp>
        <p:nvSpPr>
          <p:cNvPr id="28" name="Rectangle 27"/>
          <p:cNvSpPr/>
          <p:nvPr/>
        </p:nvSpPr>
        <p:spPr>
          <a:xfrm>
            <a:off x="9710928" y="1737360"/>
            <a:ext cx="2194560" cy="4572000"/>
          </a:xfrm>
          <a:prstGeom prst="rect">
            <a:avLst/>
          </a:prstGeom>
          <a:solidFill>
            <a:srgbClr val="FFFFFF"/>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710928" y="1737360"/>
            <a:ext cx="2194560" cy="4572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56648" y="1801368"/>
            <a:ext cx="2103120" cy="347472"/>
          </a:xfrm>
          <a:prstGeom prst="rect">
            <a:avLst/>
          </a:prstGeom>
          <a:noFill/>
        </p:spPr>
        <p:txBody>
          <a:bodyPr wrap="square">
            <a:spAutoFit/>
          </a:bodyPr>
          <a:lstStyle/>
          <a:p>
            <a:pPr algn="ctr"/>
            <a:r>
              <a:rPr sz="1600" b="1">
                <a:solidFill>
                  <a:srgbClr val="FFFFFF"/>
                </a:solidFill>
                <a:latin typeface="IBM Plex Sans Thai"/>
              </a:rPr>
              <a:t>v2.1</a:t>
            </a:r>
          </a:p>
        </p:txBody>
      </p:sp>
      <p:sp>
        <p:nvSpPr>
          <p:cNvPr id="31" name="TextBox 30"/>
          <p:cNvSpPr txBox="1"/>
          <p:nvPr/>
        </p:nvSpPr>
        <p:spPr>
          <a:xfrm>
            <a:off x="9802367" y="2304288"/>
            <a:ext cx="2011680" cy="822960"/>
          </a:xfrm>
          <a:prstGeom prst="rect">
            <a:avLst/>
          </a:prstGeom>
          <a:noFill/>
        </p:spPr>
        <p:txBody>
          <a:bodyPr wrap="square">
            <a:spAutoFit/>
          </a:bodyPr>
          <a:lstStyle/>
          <a:p>
            <a:pPr algn="ctr"/>
            <a:r>
              <a:rPr sz="1300" b="1">
                <a:solidFill>
                  <a:srgbClr val="1E3A5F"/>
                </a:solidFill>
                <a:latin typeface="IBM Plex Sans Thai"/>
              </a:rPr>
              <a:t>🌐  Community Fact-check DB</a:t>
            </a:r>
          </a:p>
        </p:txBody>
      </p:sp>
      <p:sp>
        <p:nvSpPr>
          <p:cNvPr id="32" name="TextBox 31"/>
          <p:cNvSpPr txBox="1"/>
          <p:nvPr/>
        </p:nvSpPr>
        <p:spPr>
          <a:xfrm>
            <a:off x="9802367" y="3154680"/>
            <a:ext cx="2011680" cy="2926080"/>
          </a:xfrm>
          <a:prstGeom prst="rect">
            <a:avLst/>
          </a:prstGeom>
          <a:noFill/>
        </p:spPr>
        <p:txBody>
          <a:bodyPr wrap="square">
            <a:spAutoFit/>
          </a:bodyPr>
          <a:lstStyle/>
          <a:p>
            <a:pPr algn="ctr"/>
            <a:r>
              <a:rPr sz="1200" b="0">
                <a:solidFill>
                  <a:srgbClr val="444F60"/>
                </a:solidFill>
                <a:latin typeface="IBM Plex Sans Thai"/>
              </a:rPr>
              <a:t>ผู้ใช้ contribute ข้อมูล fake claims
Moderation system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00"/>
            <a:ext cx="12188952" cy="10972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14400"/>
            <a:ext cx="10332720" cy="1097280"/>
          </a:xfrm>
          <a:prstGeom prst="rect">
            <a:avLst/>
          </a:prstGeom>
          <a:noFill/>
        </p:spPr>
        <p:txBody>
          <a:bodyPr wrap="square">
            <a:spAutoFit/>
          </a:bodyPr>
          <a:lstStyle/>
          <a:p>
            <a:pPr algn="ctr"/>
            <a:r>
              <a:rPr sz="4400" b="1">
                <a:solidFill>
                  <a:srgbClr val="FFFFFF"/>
                </a:solidFill>
                <a:latin typeface="IBM Plex Sans Thai"/>
              </a:rPr>
              <a:t>ขอบคุณ / Thank You</a:t>
            </a:r>
          </a:p>
        </p:txBody>
      </p:sp>
      <p:sp>
        <p:nvSpPr>
          <p:cNvPr id="5" name="TextBox 4"/>
          <p:cNvSpPr txBox="1"/>
          <p:nvPr/>
        </p:nvSpPr>
        <p:spPr>
          <a:xfrm>
            <a:off x="914400" y="2194560"/>
            <a:ext cx="10332720" cy="822960"/>
          </a:xfrm>
          <a:prstGeom prst="rect">
            <a:avLst/>
          </a:prstGeom>
          <a:noFill/>
        </p:spPr>
        <p:txBody>
          <a:bodyPr wrap="square">
            <a:spAutoFit/>
          </a:bodyPr>
          <a:lstStyle/>
          <a:p>
            <a:pPr algn="ctr"/>
            <a:r>
              <a:rPr sz="3000" b="1">
                <a:solidFill>
                  <a:srgbClr val="06B6D4"/>
                </a:solidFill>
                <a:latin typeface="IBM Plex Sans Thai"/>
              </a:rPr>
              <a:t>ชัวร์ก่อนแชร์</a:t>
            </a:r>
          </a:p>
        </p:txBody>
      </p:sp>
      <p:sp>
        <p:nvSpPr>
          <p:cNvPr id="6" name="TextBox 5"/>
          <p:cNvSpPr txBox="1"/>
          <p:nvPr/>
        </p:nvSpPr>
        <p:spPr>
          <a:xfrm>
            <a:off x="914400" y="3063240"/>
            <a:ext cx="10332720" cy="594360"/>
          </a:xfrm>
          <a:prstGeom prst="rect">
            <a:avLst/>
          </a:prstGeom>
          <a:noFill/>
        </p:spPr>
        <p:txBody>
          <a:bodyPr wrap="square">
            <a:spAutoFit/>
          </a:bodyPr>
          <a:lstStyle/>
          <a:p>
            <a:pPr algn="ctr"/>
            <a:r>
              <a:rPr sz="1700" b="0">
                <a:solidFill>
                  <a:srgbClr val="DBEAFE"/>
                </a:solidFill>
                <a:latin typeface="IBM Plex Sans Thai"/>
              </a:rPr>
              <a:t>ตรวจสอบข่าวก่อนส่งต่อ — เพราะข่าวปลอมแพร่เร็วกว่าที่คุณคิด</a:t>
            </a:r>
          </a:p>
        </p:txBody>
      </p:sp>
      <p:sp>
        <p:nvSpPr>
          <p:cNvPr id="7" name="Rectangle 6"/>
          <p:cNvSpPr/>
          <p:nvPr/>
        </p:nvSpPr>
        <p:spPr>
          <a:xfrm>
            <a:off x="3200400" y="3931920"/>
            <a:ext cx="5760720" cy="548640"/>
          </a:xfrm>
          <a:prstGeom prst="rect">
            <a:avLst/>
          </a:prstGeom>
          <a:solidFill>
            <a:srgbClr val="24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0" y="3977639"/>
            <a:ext cx="5760720" cy="457200"/>
          </a:xfrm>
          <a:prstGeom prst="rect">
            <a:avLst/>
          </a:prstGeom>
          <a:noFill/>
        </p:spPr>
        <p:txBody>
          <a:bodyPr wrap="square">
            <a:spAutoFit/>
          </a:bodyPr>
          <a:lstStyle/>
          <a:p>
            <a:pPr algn="ctr"/>
            <a:r>
              <a:rPr sz="1400" b="0">
                <a:solidFill>
                  <a:srgbClr val="BBCCDD"/>
                </a:solidFill>
                <a:latin typeface="IBM Plex Sans Thai"/>
              </a:rPr>
              <a:t>GitHub: [repo URL]   •   ติดต่อ: [email]</a:t>
            </a:r>
          </a:p>
        </p:txBody>
      </p:sp>
      <p:sp>
        <p:nvSpPr>
          <p:cNvPr id="9" name="TextBox 8"/>
          <p:cNvSpPr txBox="1"/>
          <p:nvPr/>
        </p:nvSpPr>
        <p:spPr>
          <a:xfrm>
            <a:off x="914400" y="5029200"/>
            <a:ext cx="10332720" cy="731520"/>
          </a:xfrm>
          <a:prstGeom prst="rect">
            <a:avLst/>
          </a:prstGeom>
          <a:noFill/>
        </p:spPr>
        <p:txBody>
          <a:bodyPr wrap="square">
            <a:spAutoFit/>
          </a:bodyPr>
          <a:lstStyle/>
          <a:p>
            <a:pPr algn="ctr"/>
            <a:r>
              <a:rPr sz="2600" b="1">
                <a:solidFill>
                  <a:srgbClr val="FFFFFF"/>
                </a:solidFill>
                <a:latin typeface="IBM Plex Sans Thai"/>
              </a:rPr>
              <a:t>❓  มีคำถามไหมครับ/ค่ะ?</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