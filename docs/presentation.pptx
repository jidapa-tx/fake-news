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7"/>
    <p:restoredTop sz="94681"/>
  </p:normalViewPr>
  <p:slideViewPr>
    <p:cSldViewPr snapToGrid="0" snapToObjects="1">
      <p:cViewPr varScale="1">
        <p:scale>
          <a:sx n="116" d="100"/>
          <a:sy n="116" d="100"/>
        </p:scale>
        <p:origin x="208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506392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ยินดีต้อนรับทุกท่านสู่การนำเสนอโปรเจกต์ ชัวร์ก่อนแชร์ แอปพลิเคชันตรวจสอบข่าวปลอมสำหรับผู้ใช้ภาษาไทย วันนี้เราจะพาทุกท่านไปรู้จักกับปัญหา วิธีแก้ไข และสถาปัตยกรรมทางเทคนิคของโปรเจกต์นี้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ข่าวปลอมเป็นปัญหาระดับชาติที่ส่งผลกระทบต่อสังคมไทยอย่างมาก โดยเฉพาะในช่วงวิกฤต เช่น COVID-19 หรือช่วงการเลือกตั้ง ปัจจุบันยังไม่มีเครื่องมือที่ใช้งานง่าย ฟรี และรักษาความเป็นส่วนตัวของผู้ใช้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ชัวร์ก่อนแชร์ถูกออกแบบมาสำหรับผู้ใช้ทั่วไปที่ต้องการตรวจสอบข้อมูลอย่างรวดเร็ว หลักการสำคัญคือ Privacy First — ไม่มีข้อมูลส่วนตัวออกจากเครื่องของผู้ใช้ และการวิเคราะห์ให้ผลลัพธ์ที่เข้าใจง่ายในภาษาไทย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ฟีเจอร์ทั้ง 7 ถูกออกแบบให้ครอบคลุมการตรวจสอบทุกรูปแบบ ตั้งแต่ข้อความง่ายๆ ไปจนถึงรูปภาพที่อาจถูกสร้างด้วย AI โดยให้ความสำคัญกับความเป็นส่วนตัวและความง่ายในการใช้งาน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หน้าหลักถูกออกแบบให้เรียบง่ายและใช้งานได้ทันที ผู้ใช้สามารถวางข้อความ URL หรืออัปโหลดรูปภาพเพื่อตรวจสอบได้เลย โดยไม่ต้องสมัครสมาชิกหรือรอโหลดนาน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หน้าผลลัพธ์แสดงคะแนนความน่าเชื่อถือในรูปแบบที่เข้าใจง่าย พร้อมเหตุผลประกอบเป็นภาษาไทยและรายการแหล่งอ้างอิง ผู้ใช้สามารถดูรายละเอียดเพิ่มเติมได้ผ่าน accordion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หน้า Trending แสดงหัวข้อที่คนสนใจตรวจสอบมากที่สุด โดยใช้การ hash ด้วย SHA-256 เพื่อปกป้องความเป็นส่วนตัว ไม่มีการเก็บข้อความต้นฉบับของผู้ใช้ไว้ใน server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ประวัติการค้นหาทั้งหมดถูกเก็บไว้ใน localStorage ของ browser ผู้ใช้สามารถส่งออกเป็น JSON เพื่อสำรองข้อมูลหรือนำไปวิเคราะห์เพิ่มเติมได้ ข้อมูลไม่เคยถูกส่งไปยัง server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สถาปัตยกรรมใช้ Docker Compose รวม Next.js App และ PostgreSQL ไว้ด้วยกัน Gemini API เป็น external dependency เดียวที่ใช้สำหรับวิเคราะห์รูปภาพ ทุก API endpoint อยู่ใน Next.js App Router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ทุก API endpoint ผ่านการ validate ด้วย Zod schema ทั้งฝั่ง client และ server รูปแบบ error response เป็นมาตรฐานเดียวกันทั้งหมด ไม่มีการ expose stack trace Rate limiting ใช้ in-memory sliding window 30 req/min ต่อ 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อัลกอริทึมการให้คะแนนเริ่มที่ 50 (neutral) แล้วปรับขึ้นหรือลงตามหลักฐาน การพบ Fake claim ที่รู้จักจะลดคะแนนลงมาก ส่วนแหล่งข่าวน่าเชื่อถือจะเพิ่มหรือลดตาม stance คะแนนสุดท้ายจะถูก map ไปยัง 5 ระดับ verdict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การวิเคราะห์รูปภาพใช้ Gemini 2.5 Flash ซึ่งสามารถตรวจจับรูปภาพที่สร้างด้วย AI ระบบมีการดึง EXIF metadata ก่อนส่งไป Gemini เพื่อให้ข้อมูลเพิ่มเติม มีการออกแบบ graceful fallback เพื่อให้ระบบทำงานได้แม้ Gemini API ล้มเหลว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Privacy by Design ไม่ใช่แค่ feature แต่เป็นหลักการออกแบบหลักของโปรเจกต์นี้ ทุก decision ถูกทำขึ้นเพื่อให้มั่นใจว่าข้อมูลส่วนตัวของผู้ใช้ปลอดภัย โดยไม่กระทบต่อประสิทธิภาพในการวิเคราะห์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Stack ถูกเลือกโดยให้ความสำคัญกับ Developer Experience และ Type Safety Next.js App Router ช่วยให้ทำ SSR และ API routes ได้ในโปรเจกต์เดียว Gemini เป็น external dependency เดียวที่ต้อง API key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MVP มุ่งเน้นฟีเจอร์หลักที่ให้ value จริงแก่ผู้ใช้ ส่วนที่เป็น mock ถูกออกแบบให้ replace ได้ง่ายด้วย real API ในอนาคต การไม่มี production deploy เป็นการตัดสินใจตามขอบเขต MVP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Unit tests ครอบคลุม business logic หลักทั้งหมด E2E tests ตรวจสอบ happy path ตั้งแต่ต้นจนจบ การใช้ mock สำหรับ Prisma และ Gemini ทำให้ tests เร็วและ deterministic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การ setup ใช้เวลาไม่เกิน 2 นาที เพียงมี Docker และ Node.js ค่า env ที่จำเป็นมีแค่ DATABASE_URL และ GEMINI_API_KEY หลัง seed แล้วสามารถเริ่มทดสอบได้ทันที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roadmap ถูกจัดลำดับตามผลกระทบที่มีต่อผู้ใช้ Social API และ Reverse Image Search เป็น quick wins ที่ทำได้ทันที Community database จะยกระดับความแม่นยำอย่างมากในระยะยาว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ขอบคุณทุกท่านที่รับฟังการนำเสนอ ชัวร์ก่อนแชร์เป็น MVP ที่พร้อมขยายต่อในอนาคต ยินดีตอบทุกคำถามเกี่ยวกับสถาปัตยกรรม การออกแบบ หรือการ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686800" y="-914400"/>
            <a:ext cx="4572000" cy="4572000"/>
          </a:xfrm>
          <a:prstGeom prst="ellipse">
            <a:avLst/>
          </a:prstGeom>
          <a:solidFill>
            <a:srgbClr val="4F9CF9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>
                <a:solidFill>
                  <a:srgbClr val="4F9CF9"/>
                </a:solidFill>
              </a:rPr>
              <a:t>ชัวร์ก่อนแชร์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51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6EC6FF"/>
                </a:solidFill>
              </a:rPr>
              <a:t>Sure Before Share — Thai Fake News Detector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3832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7A9CC4"/>
                </a:solidFill>
              </a:rPr>
              <a:t>ตรวจสอบข่าวก่อนส่งต่อ — เพราะข่าวปลอมแพร่เร็วกว่าที่คุณคิด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069080"/>
            <a:ext cx="3657600" cy="25400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42062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7A9CC4"/>
                </a:solidFill>
              </a:rPr>
              <a:t>ทีม: [ชื่อทีม]   |   วันที่: เมษายน 2569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7548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A9CC4"/>
                </a:solidFill>
              </a:rPr>
              <a:t>Stack: Next.js 14 · TypeScript · PostgreSQL · Google Gemini API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E8F1FF"/>
                </a:solidFill>
              </a:rPr>
              <a:t>ปัญหา: ข่าวปลอมในยุคดิจิทัล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7A9CC4"/>
                </a:solidFill>
              </a:rP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6858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900">
                <a:solidFill>
                  <a:srgbClr val="E8F1FF"/>
                </a:solidFill>
              </a:rPr>
              <a:t>• ข่าวปลอมแพร่กระจายเร็วกว่าข่าวจริง 6 เท่า (MIT, 2018)</a:t>
            </a:r>
          </a:p>
          <a:p>
            <a:pPr>
              <a:spcBef>
                <a:spcPts val="400"/>
              </a:spcBef>
            </a:pPr>
            <a:r>
              <a:rPr sz="1900">
                <a:solidFill>
                  <a:srgbClr val="E8F1FF"/>
                </a:solidFill>
              </a:rPr>
              <a:t>• LINE/Facebook เป็นช่องทางหลักในการแชร์ข่าวปลอมในไทย</a:t>
            </a:r>
          </a:p>
          <a:p>
            <a:pPr>
              <a:spcBef>
                <a:spcPts val="400"/>
              </a:spcBef>
            </a:pPr>
            <a:r>
              <a:rPr sz="1900">
                <a:solidFill>
                  <a:srgbClr val="E8F1FF"/>
                </a:solidFill>
              </a:rPr>
              <a:t>• ผู้สูงอายุและผู้ใช้ทั่วไปขาดทักษะตรวจสอบข้อมูล</a:t>
            </a:r>
          </a:p>
          <a:p>
            <a:pPr>
              <a:spcBef>
                <a:spcPts val="400"/>
              </a:spcBef>
            </a:pPr>
            <a:r>
              <a:rPr sz="1900">
                <a:solidFill>
                  <a:srgbClr val="E8F1FF"/>
                </a:solidFill>
              </a:rPr>
              <a:t>• เครื่องมือตรวจสอบที่มีอยู่ต้องการการสมัครสมาชิก</a:t>
            </a:r>
          </a:p>
          <a:p>
            <a:pPr>
              <a:spcBef>
                <a:spcPts val="400"/>
              </a:spcBef>
            </a:pPr>
            <a:r>
              <a:rPr sz="1900">
                <a:solidFill>
                  <a:srgbClr val="E8F1FF"/>
                </a:solidFill>
              </a:rPr>
              <a:t>• ไม่มีเครื่องมือที่ใส่ใจความเป็นส่วนตัวของผู้ใช้</a:t>
            </a:r>
          </a:p>
          <a:p>
            <a:pPr>
              <a:spcBef>
                <a:spcPts val="400"/>
              </a:spcBef>
            </a:pPr>
            <a:r>
              <a:rPr sz="1900">
                <a:solidFill>
                  <a:srgbClr val="E8F1FF"/>
                </a:solidFill>
              </a:rPr>
              <a:t>• ขาดการรองรับภาษาไทยในเครื่องมือระดับสากล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0" y="1371600"/>
            <a:ext cx="3931920" cy="1463040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0" y="1473200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EF4444"/>
                </a:solidFill>
              </a:rPr>
              <a:t>6×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2148840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7A9CC4"/>
                </a:solidFill>
              </a:rPr>
              <a:t>เร็วกว่าข่าวจริง</a:t>
            </a:r>
          </a:p>
        </p:txBody>
      </p:sp>
      <p:sp>
        <p:nvSpPr>
          <p:cNvPr id="9" name="Rectangle 8"/>
          <p:cNvSpPr/>
          <p:nvPr/>
        </p:nvSpPr>
        <p:spPr>
          <a:xfrm>
            <a:off x="7680960" y="3063240"/>
            <a:ext cx="3931920" cy="1463040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0" y="3164840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97316"/>
                </a:solidFill>
              </a:rPr>
              <a:t>82%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3840480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7A9CC4"/>
                </a:solidFill>
              </a:rPr>
              <a:t>ผู้ใช้ไทยพบข่าวปลอม
บน social media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80960" y="4754880"/>
            <a:ext cx="3931920" cy="1463040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0" y="4856480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4F9CF9"/>
                </a:solidFill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5532120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7A9CC4"/>
                </a:solidFill>
              </a:rPr>
              <a:t>เครื่องมือฟรี ไม่ต้องสมัคร
ที่รองรับภาษาไทย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E8F1FF"/>
                </a:solidFill>
              </a:rPr>
              <a:t>วิธีแก้: ชัวร์ก่อนแชร์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7A9CC4"/>
                </a:solidFill>
              </a:rPr>
              <a:t>Solution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E8F1FF"/>
                </a:solidFill>
              </a:rPr>
              <a:t>แอปพลิเคชันเว็บสำหรับตรวจสอบความน่าเชื่อถือของข้อมูล รองรับทั้งข้อความ URL และรูปภาพ โดยไม่ต้องสมัครสมาชิก และไม่เก็บข้อมูลส่วนตัวของผู้ใช้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23160"/>
            <a:ext cx="5394960" cy="1554480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4F9CF9"/>
                </a:solidFill>
              </a:rPr>
              <a:t>🚫 ไม่ต้อง Login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7A9CC4"/>
                </a:solidFill>
              </a:rPr>
              <a:t>เข้าใช้งานได้ทันที ไม่มีกำแพงสมัครสมาชิก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59" y="2423160"/>
            <a:ext cx="5394960" cy="1554480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39" y="256032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4F9CF9"/>
                </a:solidFill>
              </a:rPr>
              <a:t>🔒 ไม่เก็บข้อมูล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39" y="310896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7A9CC4"/>
                </a:solidFill>
              </a:rPr>
              <a:t>ประวัติการค้นหาเก็บในเครื่องของคุณเท่านั้น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251960"/>
            <a:ext cx="5394960" cy="1554480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438912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4F9CF9"/>
                </a:solidFill>
              </a:rPr>
              <a:t>⚡ ตรวจสอบใน วินาที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93776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7A9CC4"/>
                </a:solidFill>
              </a:rPr>
              <a:t>วิเคราะห์ด้วย AI + ฐานข้อมูลแหล่งข่าวน่าเชื่อถือ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59" y="4251960"/>
            <a:ext cx="5394960" cy="1554480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39" y="438912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4F9CF9"/>
                </a:solidFill>
              </a:rPr>
              <a:t>🌐 รองรับภาษาไทย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39" y="493776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7A9CC4"/>
                </a:solidFill>
              </a:rPr>
              <a:t>ผลลัพธ์และเหตุผลเป็นภาษาไทย พร้อม EN fallback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E8F1FF"/>
                </a:solidFill>
              </a:rPr>
              <a:t>ฟีเจอร์หลัก (FR.1–FR.7)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7A9CC4"/>
                </a:solidFill>
              </a:rPr>
              <a:t>Key Features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5486400" cy="1188720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35331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8F1FF"/>
                </a:solidFill>
              </a:rPr>
              <a:t>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353312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F9CF9"/>
                </a:solidFill>
              </a:rPr>
              <a:t>FR.1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6916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8F1FF"/>
                </a:solidFill>
              </a:rPr>
              <a:t>Privacy 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02996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A9CC4"/>
                </a:solidFill>
              </a:rPr>
              <a:t>ไม่ต้อง Login · ประวัติใน localStorage เท่านั้น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280160"/>
            <a:ext cx="5486400" cy="1188720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35331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8F1FF"/>
                </a:solidFill>
              </a:rPr>
              <a:t>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60" y="1353312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F9CF9"/>
                </a:solidFill>
              </a:rPr>
              <a:t>FR.2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6916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8F1FF"/>
                </a:solidFill>
              </a:rPr>
              <a:t>วิเคราะห์หลายรูปแบบ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202996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A9CC4"/>
                </a:solidFill>
              </a:rPr>
              <a:t>ข้อความ / URL / รูปภาพ · คะแนน 0–100 · 5 ระดับ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5486400" cy="1188720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272491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8F1FF"/>
                </a:solidFill>
              </a:rPr>
              <a:t>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724912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F9CF9"/>
                </a:solidFill>
              </a:rPr>
              <a:t>FR.3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0632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8F1FF"/>
                </a:solidFill>
              </a:rPr>
              <a:t>รายการอ้างอิง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340156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A9CC4"/>
                </a:solidFill>
              </a:rPr>
              <a:t>แหล่งข่าวน่าเชื่อถือ 20+ แหล่ง · badge stance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2651760"/>
            <a:ext cx="5486400" cy="1188720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46520" y="272491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8F1FF"/>
                </a:solidFill>
              </a:rPr>
              <a:t>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2724912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F9CF9"/>
                </a:solidFill>
              </a:rPr>
              <a:t>FR.4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0632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8F1FF"/>
                </a:solidFill>
              </a:rPr>
              <a:t>วิเคราะห์โดเมน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340156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A9CC4"/>
                </a:solidFill>
              </a:rPr>
              <a:t>อายุโดเมน · SSL · WHOIS · phishing detection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023360"/>
            <a:ext cx="5486400" cy="1188720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02920" y="409651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8F1FF"/>
                </a:solidFill>
              </a:rPr>
              <a:t>🖼️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096512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F9CF9"/>
                </a:solidFill>
              </a:rPr>
              <a:t>FR.5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4348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8F1FF"/>
                </a:solidFill>
              </a:rPr>
              <a:t>ตรวจรูปภาพ 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477316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A9CC4"/>
                </a:solidFill>
              </a:rPr>
              <a:t>Gemini detect AI-generated · EXIF metadata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4023360"/>
            <a:ext cx="5486400" cy="1188720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46520" y="409651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8F1FF"/>
                </a:solidFill>
              </a:rPr>
              <a:t>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60" y="4096512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F9CF9"/>
                </a:solidFill>
              </a:rPr>
              <a:t>FR.6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95160" y="44348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8F1FF"/>
                </a:solidFill>
              </a:rPr>
              <a:t>Trending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95160" y="477316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A9CC4"/>
                </a:solidFill>
              </a:rPr>
              <a:t>ค้นหายอดนิยม · anonymized · SHA-256 hash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0" y="5394960"/>
            <a:ext cx="5486400" cy="1188720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337560" y="546811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8F1FF"/>
                </a:solidFill>
              </a:rPr>
              <a:t>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86200" y="5468112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F9CF9"/>
                </a:solidFill>
              </a:rPr>
              <a:t>FR.7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86200" y="58064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8F1FF"/>
                </a:solidFill>
              </a:rPr>
              <a:t>ประวัติการค้นหา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86200" y="614476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A9CC4"/>
                </a:solidFill>
              </a:rPr>
              <a:t>บันทึกใน browser · ส่งออก/นำเข้า JSON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A0E5505-EB02-384B-D9F1-F134231FB2D7}"/>
              </a:ext>
            </a:extLst>
          </p:cNvPr>
          <p:cNvSpPr/>
          <p:nvPr/>
        </p:nvSpPr>
        <p:spPr>
          <a:xfrm>
            <a:off x="5838940" y="76200"/>
            <a:ext cx="6349885" cy="6781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screencapture-localhost-3000-2026-04-24-08_42_40.png</a:t>
            </a:r>
            <a:endParaRPr lang="en-TH" dirty="0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E8F1FF"/>
                </a:solidFill>
              </a:rPr>
              <a:t>Demo: หน้าหลัก (Home)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7A9CC4"/>
                </a:solidFill>
              </a:rPr>
              <a:t>Screen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>
                <a:solidFill>
                  <a:srgbClr val="E8F1FF"/>
                </a:solidFill>
              </a:rPr>
              <a:t>• 🏠 Hero Banner — ชื่อแอป + tagline + ไอคอนโล่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E8F1FF"/>
                </a:solidFill>
              </a:rPr>
              <a:t>• 📝 Input Card — 3 แท็บ: ข้อความ / URL / รูปภาพ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E8F1FF"/>
                </a:solidFill>
              </a:rPr>
              <a:t>• 📊 Stats Row — จำนวนการตรวจสอบวันนี้ + ความแม่นยำ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E8F1FF"/>
                </a:solidFill>
              </a:rPr>
              <a:t>• 🕐 Recent Checks — รายการล่าสุดจาก localStorage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E8F1FF"/>
                </a:solidFill>
              </a:rPr>
              <a:t>• 🔥 Trending Bar — ลิงก์ไปหน้า Trending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E8F1FF"/>
                </a:solidFill>
              </a:rPr>
              <a:t>• 🌐 Language Toggle — TH / EN switcher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E8F1FF"/>
                </a:solidFill>
              </a:rPr>
              <a:t>• ปุ่ม Submit ทริกเกอร์ POST /api/analyze/text หรือ /image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7CD3C54-C86D-5BDB-08AD-9BAB2F4403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9694" y="208953"/>
            <a:ext cx="2448375" cy="651188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E8F1FF"/>
                </a:solidFill>
              </a:rPr>
              <a:t>Demo: หน้าผลลัพธ์ (Result)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7A9CC4"/>
                </a:solidFill>
              </a:rPr>
              <a:t>Screen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E8F1FF"/>
                </a:solidFill>
              </a:rPr>
              <a:t>• 🎯 Verdict Card — วงกลมคะแนน + 5-segment bar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E8F1FF"/>
                </a:solidFill>
              </a:rPr>
              <a:t>•    ระดับ: อันตราย / น่าสงสัย / ไม่แน่ใจ / ค่อนข้างจริง / ยืนยันแล้ว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E8F1FF"/>
                </a:solidFill>
              </a:rPr>
              <a:t>• 📊 Evidence Stats — 3 การ์ด: แหล่งสนับสนุน / ต่อต้าน / AI confidence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E8F1FF"/>
                </a:solidFill>
              </a:rPr>
              <a:t>• 📖 Reasoning Accordion — เหตุผล AI เป็น bullet ภาษาไทย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E8F1FF"/>
                </a:solidFill>
              </a:rPr>
              <a:t>• 📰 Reference List — badge stance (สนับสนุน/ต่อต้าน/เป็นกลาง)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E8F1FF"/>
                </a:solidFill>
              </a:rPr>
              <a:t>• 🌐 Source Analysis — ความน่าเชื่อถือโดเมน + SSL + WHOIS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E8F1FF"/>
                </a:solidFill>
              </a:rPr>
              <a:t>• 📤 Action Bar — Copy Link / Share / ตรวจสอบใหม่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47D6B4-D2F9-FC21-BAC7-415BA2429BA5}"/>
              </a:ext>
            </a:extLst>
          </p:cNvPr>
          <p:cNvSpPr/>
          <p:nvPr/>
        </p:nvSpPr>
        <p:spPr>
          <a:xfrm>
            <a:off x="5838940" y="76200"/>
            <a:ext cx="6349885" cy="6781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F865E31-E2B7-DF69-37B3-537581EA27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8682" y="333805"/>
            <a:ext cx="2085322" cy="615842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D73F545-4E95-B4F7-2F13-6D56AAD711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1966" y="381739"/>
            <a:ext cx="2085321" cy="609452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E8F1FF"/>
                </a:solidFill>
              </a:rPr>
              <a:t>Demo: หน้า Trending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7A9CC4"/>
                </a:solidFill>
              </a:rPr>
              <a:t>FR.6 — ค้นหายอดนิยม (Anonymized)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6858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800">
                <a:solidFill>
                  <a:srgbClr val="E8F1FF"/>
                </a:solidFill>
              </a:rPr>
              <a:t>• 🔥 Rank List — 10 อันดับคำค้นหายอดนิยม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E8F1FF"/>
                </a:solidFill>
              </a:rPr>
              <a:t>• 📅 Period Filter — วันนี้ / สัปดาห์นี้ / เดือนนี้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E8F1FF"/>
                </a:solidFill>
              </a:rPr>
              <a:t>• 🔒 Privacy Notice — ข้อความชี้แจงการ hash query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E8F1FF"/>
                </a:solidFill>
              </a:rPr>
              <a:t>• 👆 Clickable — กดรายการเพื่อส่งไปตรวจสอบทันที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E8F1FF"/>
                </a:solidFill>
              </a:rPr>
              <a:t>• 🔍 SHA-256 Hash — ไม่เก็บ raw text ใน DB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94974CF-A249-6CC2-D280-87BAE8CBC9FC}"/>
              </a:ext>
            </a:extLst>
          </p:cNvPr>
          <p:cNvSpPr/>
          <p:nvPr/>
        </p:nvSpPr>
        <p:spPr>
          <a:xfrm>
            <a:off x="5838940" y="76200"/>
            <a:ext cx="6349885" cy="6781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B8CE3D8-4438-BD01-4DDF-AD8EAABB3E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98" y="381918"/>
            <a:ext cx="2848567" cy="61703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ABEBE11B-4BBD-3318-426A-C869B68EEAC6}"/>
              </a:ext>
            </a:extLst>
          </p:cNvPr>
          <p:cNvSpPr/>
          <p:nvPr/>
        </p:nvSpPr>
        <p:spPr>
          <a:xfrm>
            <a:off x="5838940" y="76200"/>
            <a:ext cx="6349885" cy="6781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H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E8F1FF"/>
                </a:solidFill>
              </a:rPr>
              <a:t>Demo: หน้าประวัติ (History)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7A9CC4"/>
                </a:solidFill>
              </a:rPr>
              <a:t>FR.7 — Local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6858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800">
                <a:solidFill>
                  <a:srgbClr val="E8F1FF"/>
                </a:solidFill>
              </a:rPr>
              <a:t>• 📋 History List — รายการจาก localStorage ของ browser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E8F1FF"/>
                </a:solidFill>
              </a:rPr>
              <a:t>• 🔍 Filter Bar — ค้นหา + กรองตามประเภท + ระดับคะแนน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E8F1FF"/>
                </a:solidFill>
              </a:rPr>
              <a:t>• 📤 Export JSON — ดาวน์โหลดประวัติเป็น JSON file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E8F1FF"/>
                </a:solidFill>
              </a:rPr>
              <a:t>• 📥 Import JSON — นำเข้าประวัติจาก file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E8F1FF"/>
                </a:solidFill>
              </a:rPr>
              <a:t>• 🗑️ Clear All — ลบประวัติทั้งหมด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E8F1FF"/>
                </a:solidFill>
              </a:rPr>
              <a:t>• 📭 Empty State — แสดงเมื่อยังไม่มีประวัติ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D3B9B48-9DBC-905A-3239-5A9313C0DE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6775" y="152400"/>
            <a:ext cx="3074214" cy="665914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464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E8F1FF"/>
                </a:solidFill>
              </a:rPr>
              <a:t>สถาปัตยกรรมระบบ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7A9CC4"/>
                </a:solidFill>
              </a:rPr>
              <a:t>Architecture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8686800" cy="5212080"/>
          </a:xfrm>
          <a:prstGeom prst="rect">
            <a:avLst/>
          </a:prstGeom>
          <a:solidFill>
            <a:srgbClr val="0D223A"/>
          </a:solidFill>
          <a:ln w="19050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9CF9"/>
                </a:solidFill>
              </a:rPr>
              <a:t>🐳 Docker Compose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0" y="2286000"/>
            <a:ext cx="2468880" cy="1097280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326880" y="23774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8F1FF"/>
                </a:solidFill>
              </a:rPr>
              <a:t>🌐 Browser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27432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A9CC4"/>
                </a:solidFill>
              </a:rPr>
              <a:t>Next.js Client
React + Zustand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69680" y="2743200"/>
            <a:ext cx="457200" cy="25400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0" y="26060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A9CC4"/>
                </a:solidFill>
              </a:rPr>
              <a:t>HTTP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1645920"/>
            <a:ext cx="4389120" cy="4297680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17373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6EC6FF"/>
                </a:solidFill>
              </a:rPr>
              <a:t>⚡ Next.js App  (port 3000)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331720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E8F1FF"/>
                </a:solidFill>
              </a:rPr>
              <a:t>POST /api/analyze/text   — ข้อความ &amp; URL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E8F1FF"/>
                </a:solidFill>
              </a:rPr>
              <a:t>POST /api/analyze/image  — Gemini AI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E8F1FF"/>
                </a:solidFill>
              </a:rPr>
              <a:t>POST /api/analyze/source — โดเมน risk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E8F1FF"/>
                </a:solidFill>
              </a:rPr>
              <a:t>GET  /api/trending       — trending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E8F1FF"/>
                </a:solidFill>
              </a:rPr>
              <a:t>GET  /api/references/:id — รายการอ้างอิง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0" y="3200400"/>
            <a:ext cx="1097280" cy="25400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49240" y="292608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A9CC4"/>
                </a:solidFill>
              </a:rPr>
              <a:t>Prisma ORM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1645920"/>
            <a:ext cx="2286000" cy="4297680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46520" y="17373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EC6FF"/>
                </a:solidFill>
              </a:rPr>
              <a:t>🗄️ PostgreSQL 15
(port 5432)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377440"/>
            <a:ext cx="2103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E8F1FF"/>
                </a:solidFill>
              </a:rPr>
              <a:t>▪ Analysis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E8F1FF"/>
                </a:solidFill>
              </a:rPr>
              <a:t>▪ Reference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E8F1FF"/>
                </a:solidFill>
              </a:rPr>
              <a:t>▪ TrustedSource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E8F1FF"/>
                </a:solidFill>
              </a:rPr>
              <a:t>▪ KnownFakeClaim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E8F1FF"/>
                </a:solidFill>
              </a:rPr>
              <a:t>▪ SuspiciousDomain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E8F1FF"/>
                </a:solidFill>
              </a:rPr>
              <a:t>▪ TrendingEntry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26880" y="3840480"/>
            <a:ext cx="2468880" cy="1371600"/>
          </a:xfrm>
          <a:prstGeom prst="rect">
            <a:avLst/>
          </a:prstGeom>
          <a:solidFill>
            <a:srgbClr val="1A3528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326880" y="39319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2C55E"/>
                </a:solidFill>
              </a:rPr>
              <a:t>🤖 Google Gemini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43434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A9CC4"/>
                </a:solidFill>
              </a:rPr>
              <a:t>gemini-2.5-flash
(image only)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530352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A9CC4"/>
                </a:solidFill>
              </a:rPr>
              <a:t>External API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E8F1FF"/>
                </a:solidFill>
              </a:rPr>
              <a:t>API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7A9CC4"/>
                </a:solidFill>
              </a:rPr>
              <a:t>5 Endpoints · Zod Validation · Rate Limiting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25880"/>
            <a:ext cx="11247120" cy="749808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389888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C55E"/>
                </a:solidFill>
              </a:rPr>
              <a:t>POST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389888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F1FF"/>
                </a:solidFill>
              </a:rPr>
              <a:t>/api/analyze/text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389888"/>
            <a:ext cx="6583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A9CC4"/>
                </a:solidFill>
              </a:rPr>
              <a:t>วิเคราะห์ข้อความและ URL · scoring logic · reference list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194560"/>
            <a:ext cx="11247120" cy="749808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258568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C55E"/>
                </a:solidFill>
              </a:rPr>
              <a:t>POST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258568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F1FF"/>
                </a:solidFill>
              </a:rPr>
              <a:t>/api/analyze/image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258568"/>
            <a:ext cx="6583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A9CC4"/>
                </a:solidFill>
              </a:rPr>
              <a:t>ส่งรูปไป Gemini · EXIF · AI probability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063239"/>
            <a:ext cx="11247120" cy="749808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3127247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C55E"/>
                </a:solidFill>
              </a:rPr>
              <a:t>POST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127247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F1FF"/>
                </a:solidFill>
              </a:rPr>
              <a:t>/api/analyze/source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127247"/>
            <a:ext cx="6583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A9CC4"/>
                </a:solidFill>
              </a:rPr>
              <a:t>วิเคราะห์โดเมน: อายุ, SSL, WHOIS, phishing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931920"/>
            <a:ext cx="11247120" cy="749808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3995928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9CF9"/>
                </a:solidFill>
              </a:rPr>
              <a:t>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995928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F1FF"/>
                </a:solidFill>
              </a:rPr>
              <a:t>/api/trending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3995928"/>
            <a:ext cx="6583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A9CC4"/>
                </a:solidFill>
              </a:rPr>
              <a:t>ดึง trending queries (hashed, anonymized)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800600"/>
            <a:ext cx="11247120" cy="749808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8640" y="4864608"/>
            <a:ext cx="73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9CF9"/>
                </a:solidFill>
              </a:rPr>
              <a:t>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4864608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F1FF"/>
                </a:solidFill>
              </a:rPr>
              <a:t>/api/references/:id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4864608"/>
            <a:ext cx="6583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A9CC4"/>
                </a:solidFill>
              </a:rPr>
              <a:t>รายการแหล่งอ้างอิงพร้อม stance badge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715000"/>
            <a:ext cx="6858000" cy="822960"/>
          </a:xfrm>
          <a:prstGeom prst="rect">
            <a:avLst/>
          </a:prstGeom>
          <a:solidFill>
            <a:srgbClr val="1A2235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48640" y="5779008"/>
            <a:ext cx="6583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F4444"/>
                </a:solidFill>
              </a:rPr>
              <a:t>🚫 Error: { error: { code, message_th, message_en } }  —  never raw stack traces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06640" y="5715000"/>
            <a:ext cx="4206240" cy="822960"/>
          </a:xfrm>
          <a:prstGeom prst="rect">
            <a:avLst/>
          </a:prstGeom>
          <a:solidFill>
            <a:srgbClr val="1A2235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589520" y="5779008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97316"/>
                </a:solidFill>
              </a:rPr>
              <a:t>⏱️ Rate Limit: 30 req/min per IP (sliding window)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E8F1FF"/>
                </a:solidFill>
              </a:rPr>
              <a:t>Scoring Logic — คะแนนความน่าเชื่อถือ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7A9CC4"/>
                </a:solidFill>
              </a:rPr>
              <a:t>Credibility Score Algorithm (0–100)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2176272" cy="4114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737360"/>
            <a:ext cx="21762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F1FF"/>
                </a:solidFill>
              </a:rPr>
              <a:t>อันตราย
0–20</a:t>
            </a:r>
          </a:p>
        </p:txBody>
      </p:sp>
      <p:sp>
        <p:nvSpPr>
          <p:cNvPr id="7" name="Rectangle 6"/>
          <p:cNvSpPr/>
          <p:nvPr/>
        </p:nvSpPr>
        <p:spPr>
          <a:xfrm>
            <a:off x="2651760" y="1280160"/>
            <a:ext cx="2176272" cy="41148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51760" y="1737360"/>
            <a:ext cx="21762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F1FF"/>
                </a:solidFill>
              </a:rPr>
              <a:t>น่าสงสัย
21–40</a:t>
            </a:r>
          </a:p>
        </p:txBody>
      </p:sp>
      <p:sp>
        <p:nvSpPr>
          <p:cNvPr id="9" name="Rectangle 8"/>
          <p:cNvSpPr/>
          <p:nvPr/>
        </p:nvSpPr>
        <p:spPr>
          <a:xfrm>
            <a:off x="4937760" y="1280160"/>
            <a:ext cx="2176272" cy="411480"/>
          </a:xfrm>
          <a:prstGeom prst="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37760" y="1737360"/>
            <a:ext cx="21762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F1FF"/>
                </a:solidFill>
              </a:rPr>
              <a:t>ไม่แน่ใจ
41–60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23760" y="1280160"/>
            <a:ext cx="2176272" cy="411480"/>
          </a:xfrm>
          <a:prstGeom prst="rect">
            <a:avLst/>
          </a:prstGeom>
          <a:solidFill>
            <a:srgbClr val="84CC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223760" y="1737360"/>
            <a:ext cx="21762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F1FF"/>
                </a:solidFill>
              </a:rPr>
              <a:t>ค่อนข้างจริง
61–80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509760" y="1280160"/>
            <a:ext cx="2176272" cy="41148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509760" y="1737360"/>
            <a:ext cx="21762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F1FF"/>
                </a:solidFill>
              </a:rPr>
              <a:t>ยืนยันแล้ว
81–100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423160"/>
            <a:ext cx="5577840" cy="1143000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25146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8F1FF"/>
                </a:solidFill>
              </a:rPr>
              <a:t>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49631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F1FF"/>
                </a:solidFill>
              </a:rPr>
              <a:t>เริ่มต้น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288036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A9CC4"/>
                </a:solidFill>
              </a:rPr>
              <a:t>Base score = 50 (neutral)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2423160"/>
            <a:ext cx="5577840" cy="1143000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46520" y="25146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8F1FF"/>
                </a:solidFill>
              </a:rPr>
              <a:t>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249631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F4444"/>
                </a:solidFill>
              </a:rPr>
              <a:t>Fake claim match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88036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A9CC4"/>
                </a:solidFill>
              </a:rPr>
              <a:t>พบข้อมูลเท็จที่รู้จัก → score = 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749039"/>
            <a:ext cx="5577840" cy="1143000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2920" y="3840479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8F1FF"/>
                </a:solidFill>
              </a:rPr>
              <a:t>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3822191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2C55E"/>
                </a:solidFill>
              </a:rPr>
              <a:t>Trusted source สนับสนุน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4206239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A9CC4"/>
                </a:solidFill>
              </a:rPr>
              <a:t>+8 ต่อแหล่ง (สูงสุด 100)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3749039"/>
            <a:ext cx="5577840" cy="1143000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46520" y="3840479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8F1FF"/>
                </a:solidFill>
              </a:rPr>
              <a:t>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3822191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97316"/>
                </a:solidFill>
              </a:rPr>
              <a:t>Trusted source ต่อต้าน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4206239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A9CC4"/>
                </a:solidFill>
              </a:rPr>
              <a:t>−8 ต่อแหล่ง (ต่ำสุด 0)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5074920"/>
            <a:ext cx="5577840" cy="1143000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02920" y="516636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8F1FF"/>
                </a:solidFill>
              </a:rPr>
              <a:t>⚠️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514807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97316"/>
                </a:solidFill>
              </a:rPr>
              <a:t>Suspicious domain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" y="553212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A9CC4"/>
                </a:solidFill>
              </a:rPr>
              <a:t>−25 (โดเมนน่าสงสัย)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5074920"/>
            <a:ext cx="5577840" cy="1143000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46520" y="516636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8F1FF"/>
                </a:solidFill>
              </a:rPr>
              <a:t>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40880" y="514807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AB308"/>
                </a:solidFill>
              </a:rPr>
              <a:t>Partial match &gt;80%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0" y="553212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A9CC4"/>
                </a:solidFill>
              </a:rPr>
              <a:t>−20 (คล้ายข้อมูลเท็จ &gt; 80%)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E8F1FF"/>
                </a:solidFill>
              </a:rPr>
              <a:t>AI Image Analysis — Gemini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7A9CC4"/>
                </a:solidFill>
              </a:rPr>
              <a:t>FR.5 · gemini-2.5-flash · Graceful Fallback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1645920" cy="2011680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4F9CF9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9202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8F1FF"/>
                </a:solidFill>
              </a:rPr>
              <a:t>Upload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423160"/>
            <a:ext cx="1645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A9CC4"/>
                </a:solidFill>
              </a:rPr>
              <a:t>ผู้ใช้อัปโหลดรูปภาพ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210312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4F9CF9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0" y="1371600"/>
            <a:ext cx="1645920" cy="2011680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286000" y="141732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4F9CF9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19202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8F1FF"/>
                </a:solidFill>
              </a:rPr>
              <a:t>Validate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423160"/>
            <a:ext cx="1645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A9CC4"/>
                </a:solidFill>
              </a:rPr>
              <a:t>ตรวจ size/type (Zod)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40" y="210312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4F9CF9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1371600"/>
            <a:ext cx="1645920" cy="2011680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297680" y="141732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4F9CF9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19202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8F1FF"/>
                </a:solidFill>
              </a:rPr>
              <a:t>EXIF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2423160"/>
            <a:ext cx="1645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A9CC4"/>
                </a:solidFill>
              </a:rPr>
              <a:t>ดึง metadata จากรูป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210312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4F9CF9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1371600"/>
            <a:ext cx="1645920" cy="2011680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09360" y="141732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4F9CF9"/>
                </a:solidFill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9202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8F1FF"/>
                </a:solidFill>
              </a:rPr>
              <a:t>Gemini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423160"/>
            <a:ext cx="1645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A9CC4"/>
                </a:solidFill>
              </a:rPr>
              <a:t>ส่งไป gemini-2.5-flash
พร้อม JSON prompt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0" y="210312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4F9CF9"/>
                </a:solidFill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21040" y="1371600"/>
            <a:ext cx="1645920" cy="2011680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21040" y="141732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4F9CF9"/>
                </a:solidFill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19202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8F1FF"/>
                </a:solidFill>
              </a:rPr>
              <a:t>Parse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2423160"/>
            <a:ext cx="1645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A9CC4"/>
                </a:solidFill>
              </a:rPr>
              <a:t>แปลง response เป็น
structured JSON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12680" y="210312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4F9CF9"/>
                </a:solidFill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332720" y="1371600"/>
            <a:ext cx="1645920" cy="2011680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332720" y="141732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4F9CF9"/>
                </a:solidFill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0" y="19202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8F1FF"/>
                </a:solidFill>
              </a:rPr>
              <a:t>Response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32720" y="2423160"/>
            <a:ext cx="1645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A9CC4"/>
                </a:solidFill>
              </a:rPr>
              <a:t>aiProbability · detectedModel
Thai reasoning bullets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657600"/>
            <a:ext cx="11247120" cy="1005840"/>
          </a:xfrm>
          <a:prstGeom prst="rect">
            <a:avLst/>
          </a:prstGeom>
          <a:solidFill>
            <a:srgbClr val="1A281A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8640" y="37307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2C55E"/>
                </a:solidFill>
              </a:rPr>
              <a:t>🛡️ Graceful Fallback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1148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A9CC4"/>
                </a:solidFill>
              </a:rPr>
              <a:t>หาก Gemini API ล้มเหลว → endpoint คืน 200 พร้อม fallback data (aiProbability: null, detectedModel: 'unknown', reasoning: ['ไม่สามารถวิเคราะห์ได้'])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846320"/>
            <a:ext cx="11247120" cy="1645920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48640" y="49194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EC6FF"/>
                </a:solidFill>
              </a:rPr>
              <a:t>Output Fields: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321808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E8F1FF"/>
                </a:solidFill>
              </a:rPr>
              <a:t>• aiProbability: number (0–1)  — ความน่าจะเป็นที่ถูกสร้างด้วย AI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E8F1FF"/>
                </a:solidFill>
              </a:rPr>
              <a:t>• detectedModel: string        — ชื่อโมเดล AI ที่ตรวจพบ (ถ้ามี)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E8F1FF"/>
                </a:solidFill>
              </a:rPr>
              <a:t>• reasoning: string[]          — เหตุผลประกอบเป็น bullet ภาษาไทย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E8F1FF"/>
                </a:solidFill>
              </a:rPr>
              <a:t>Privacy by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7A9CC4"/>
                </a:solidFill>
              </a:rPr>
              <a:t>ความเป็นส่วนตัวตั้งแต่การออกแบบ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5486400" cy="1828800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>
                <a:solidFill>
                  <a:srgbClr val="E8F1FF"/>
                </a:solidFill>
              </a:rPr>
              <a:t>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435608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4F9CF9"/>
                </a:solidFill>
              </a:rPr>
              <a:t>localStorage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947672"/>
            <a:ext cx="4389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7A9CC4"/>
                </a:solidFill>
              </a:rPr>
              <a:t>ประวัติการค้นหาไม่เคยออกจาก browser
ไม่มีการส่งข้อมูลไป server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325880"/>
            <a:ext cx="5486400" cy="1828800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46304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>
                <a:solidFill>
                  <a:srgbClr val="E8F1FF"/>
                </a:solidFill>
              </a:rPr>
              <a:t>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78040" y="1435608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4F9CF9"/>
                </a:solidFill>
              </a:rPr>
              <a:t>SHA-256 Query Hashing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1947672"/>
            <a:ext cx="4389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7A9CC4"/>
                </a:solidFill>
              </a:rPr>
              <a:t>Trending เก็บแค่ hash ของ query
ไม่มี raw text ใน database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29000"/>
            <a:ext cx="5486400" cy="1828800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356616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>
                <a:solidFill>
                  <a:srgbClr val="E8F1FF"/>
                </a:solidFill>
              </a:rPr>
              <a:t>⏱️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538728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4F9CF9"/>
                </a:solidFill>
              </a:rPr>
              <a:t>Rate Limit ไม่ persist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050792"/>
            <a:ext cx="4389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7A9CC4"/>
                </a:solidFill>
              </a:rPr>
              <a:t>IP ใช้สำหรับ rate limit เท่านั้น
ไม่เก็บ IP ลง database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3429000"/>
            <a:ext cx="5486400" cy="1828800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46520" y="356616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>
                <a:solidFill>
                  <a:srgbClr val="E8F1FF"/>
                </a:solidFill>
              </a:rPr>
              <a:t>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3538728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4F9CF9"/>
                </a:solidFill>
              </a:rPr>
              <a:t>Zero Cookies / Sessions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4050792"/>
            <a:ext cx="4389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7A9CC4"/>
                </a:solidFill>
              </a:rPr>
              <a:t>ไม่มี cookie, session, หรือ
ข้อมูลส่วนตัวบน server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669280"/>
            <a:ext cx="11247120" cy="777240"/>
          </a:xfrm>
          <a:prstGeom prst="rect">
            <a:avLst/>
          </a:prstGeom>
          <a:solidFill>
            <a:srgbClr val="0D221A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57607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2C55E"/>
                </a:solidFill>
              </a:rPr>
              <a:t>🔒 ข้อมูลเก็บในเครื่องคุณเท่านั้น — ไม่ส่งไป server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E8F1FF"/>
                </a:solidFill>
              </a:rPr>
              <a:t>Tech Stack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7A9CC4"/>
                </a:solidFill>
              </a:rPr>
              <a:t>เทคโนโลยีที่ใช้และเหตุผล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1828800" cy="438912"/>
          </a:xfrm>
          <a:prstGeom prst="rect">
            <a:avLst/>
          </a:prstGeom>
          <a:solidFill>
            <a:srgbClr val="4F9CF9"/>
          </a:solidFill>
          <a:ln w="6350"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285240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1B2A"/>
                </a:solidFill>
              </a:rPr>
              <a:t>Layer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1234440"/>
            <a:ext cx="3200400" cy="438912"/>
          </a:xfrm>
          <a:prstGeom prst="rect">
            <a:avLst/>
          </a:prstGeom>
          <a:solidFill>
            <a:srgbClr val="4F9CF9"/>
          </a:solidFill>
          <a:ln w="6350"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377440" y="1285240"/>
            <a:ext cx="3108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1B2A"/>
                </a:solidFill>
              </a:rPr>
              <a:t>Technology</a:t>
            </a:r>
          </a:p>
        </p:txBody>
      </p:sp>
      <p:sp>
        <p:nvSpPr>
          <p:cNvPr id="9" name="Rectangle 8"/>
          <p:cNvSpPr/>
          <p:nvPr/>
        </p:nvSpPr>
        <p:spPr>
          <a:xfrm>
            <a:off x="5577840" y="1234440"/>
            <a:ext cx="5943600" cy="438912"/>
          </a:xfrm>
          <a:prstGeom prst="rect">
            <a:avLst/>
          </a:prstGeom>
          <a:solidFill>
            <a:srgbClr val="4F9CF9"/>
          </a:solidFill>
          <a:ln w="6350"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669280" y="1285240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1B2A"/>
                </a:solidFill>
              </a:rPr>
              <a:t>Why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709928"/>
            <a:ext cx="1828800" cy="438912"/>
          </a:xfrm>
          <a:prstGeom prst="rect">
            <a:avLst/>
          </a:prstGeom>
          <a:solidFill>
            <a:srgbClr val="0D1B2A"/>
          </a:solidFill>
          <a:ln w="6350"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176072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F1FF"/>
                </a:solidFill>
              </a:rPr>
              <a:t>Framework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0" y="1709928"/>
            <a:ext cx="3200400" cy="438912"/>
          </a:xfrm>
          <a:prstGeom prst="rect">
            <a:avLst/>
          </a:prstGeom>
          <a:solidFill>
            <a:srgbClr val="0D1B2A"/>
          </a:solidFill>
          <a:ln w="6350"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377440" y="1760728"/>
            <a:ext cx="3108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F1FF"/>
                </a:solidFill>
              </a:rPr>
              <a:t>Next.js 14 (App Router)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77840" y="1709928"/>
            <a:ext cx="5943600" cy="438912"/>
          </a:xfrm>
          <a:prstGeom prst="rect">
            <a:avLst/>
          </a:prstGeom>
          <a:solidFill>
            <a:srgbClr val="0D1B2A"/>
          </a:solidFill>
          <a:ln w="6350"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669280" y="1760728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A9CC4"/>
                </a:solidFill>
              </a:rPr>
              <a:t>SSR + API routes ในไฟล์เดียว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85416"/>
            <a:ext cx="1828800" cy="438912"/>
          </a:xfrm>
          <a:prstGeom prst="rect">
            <a:avLst/>
          </a:prstGeom>
          <a:solidFill>
            <a:srgbClr val="172940"/>
          </a:solidFill>
          <a:ln w="6350"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2236216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F1FF"/>
                </a:solidFill>
              </a:rPr>
              <a:t>Language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0" y="2185416"/>
            <a:ext cx="3200400" cy="438912"/>
          </a:xfrm>
          <a:prstGeom prst="rect">
            <a:avLst/>
          </a:prstGeom>
          <a:solidFill>
            <a:srgbClr val="172940"/>
          </a:solidFill>
          <a:ln w="6350"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377440" y="2236216"/>
            <a:ext cx="3108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F1FF"/>
                </a:solidFill>
              </a:rPr>
              <a:t>TypeScript (strict)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77840" y="2185416"/>
            <a:ext cx="5943600" cy="438912"/>
          </a:xfrm>
          <a:prstGeom prst="rect">
            <a:avLst/>
          </a:prstGeom>
          <a:solidFill>
            <a:srgbClr val="172940"/>
          </a:solidFill>
          <a:ln w="6350"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669280" y="2236216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A9CC4"/>
                </a:solidFill>
              </a:rPr>
              <a:t>Type safety ลด bugs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660904"/>
            <a:ext cx="1828800" cy="438912"/>
          </a:xfrm>
          <a:prstGeom prst="rect">
            <a:avLst/>
          </a:prstGeom>
          <a:solidFill>
            <a:srgbClr val="0D1B2A"/>
          </a:solidFill>
          <a:ln w="6350"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2711704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F1FF"/>
                </a:solidFill>
              </a:rPr>
              <a:t>Styling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0" y="2660904"/>
            <a:ext cx="3200400" cy="438912"/>
          </a:xfrm>
          <a:prstGeom prst="rect">
            <a:avLst/>
          </a:prstGeom>
          <a:solidFill>
            <a:srgbClr val="0D1B2A"/>
          </a:solidFill>
          <a:ln w="6350"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377440" y="2711704"/>
            <a:ext cx="3108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F1FF"/>
                </a:solidFill>
              </a:rPr>
              <a:t>TailwindCSS + shadcn/ui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77840" y="2660904"/>
            <a:ext cx="5943600" cy="438912"/>
          </a:xfrm>
          <a:prstGeom prst="rect">
            <a:avLst/>
          </a:prstGeom>
          <a:solidFill>
            <a:srgbClr val="0D1B2A"/>
          </a:solidFill>
          <a:ln w="6350"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669280" y="2711704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A9CC4"/>
                </a:solidFill>
              </a:rPr>
              <a:t>Rapid UI + accessible components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136392"/>
            <a:ext cx="1828800" cy="438912"/>
          </a:xfrm>
          <a:prstGeom prst="rect">
            <a:avLst/>
          </a:prstGeom>
          <a:solidFill>
            <a:srgbClr val="172940"/>
          </a:solidFill>
          <a:ln w="6350"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7200" y="3187192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F1FF"/>
                </a:solidFill>
              </a:rPr>
              <a:t>ORM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86000" y="3136392"/>
            <a:ext cx="3200400" cy="438912"/>
          </a:xfrm>
          <a:prstGeom prst="rect">
            <a:avLst/>
          </a:prstGeom>
          <a:solidFill>
            <a:srgbClr val="172940"/>
          </a:solidFill>
          <a:ln w="6350"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377440" y="3187192"/>
            <a:ext cx="3108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F1FF"/>
                </a:solidFill>
              </a:rPr>
              <a:t>Prisma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77840" y="3136392"/>
            <a:ext cx="5943600" cy="438912"/>
          </a:xfrm>
          <a:prstGeom prst="rect">
            <a:avLst/>
          </a:prstGeom>
          <a:solidFill>
            <a:srgbClr val="172940"/>
          </a:solidFill>
          <a:ln w="6350"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669280" y="3187192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A9CC4"/>
                </a:solidFill>
              </a:rPr>
              <a:t>Type-safe DB queries + migrations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611880"/>
            <a:ext cx="1828800" cy="438912"/>
          </a:xfrm>
          <a:prstGeom prst="rect">
            <a:avLst/>
          </a:prstGeom>
          <a:solidFill>
            <a:srgbClr val="0D1B2A"/>
          </a:solidFill>
          <a:ln w="6350"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57200" y="3662680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F1FF"/>
                </a:solidFill>
              </a:rPr>
              <a:t>Database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86000" y="3611880"/>
            <a:ext cx="3200400" cy="438912"/>
          </a:xfrm>
          <a:prstGeom prst="rect">
            <a:avLst/>
          </a:prstGeom>
          <a:solidFill>
            <a:srgbClr val="0D1B2A"/>
          </a:solidFill>
          <a:ln w="6350"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377440" y="3662680"/>
            <a:ext cx="3108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F1FF"/>
                </a:solidFill>
              </a:rPr>
              <a:t>PostgreSQL 15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77840" y="3611880"/>
            <a:ext cx="5943600" cy="438912"/>
          </a:xfrm>
          <a:prstGeom prst="rect">
            <a:avLst/>
          </a:prstGeom>
          <a:solidFill>
            <a:srgbClr val="0D1B2A"/>
          </a:solidFill>
          <a:ln w="6350"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669280" y="3662680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A9CC4"/>
                </a:solidFill>
              </a:rPr>
              <a:t>Relational + JSONB support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087368"/>
            <a:ext cx="1828800" cy="438912"/>
          </a:xfrm>
          <a:prstGeom prst="rect">
            <a:avLst/>
          </a:prstGeom>
          <a:solidFill>
            <a:srgbClr val="172940"/>
          </a:solidFill>
          <a:ln w="6350"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57200" y="413816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F1FF"/>
                </a:solidFill>
              </a:rPr>
              <a:t>State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286000" y="4087368"/>
            <a:ext cx="3200400" cy="438912"/>
          </a:xfrm>
          <a:prstGeom prst="rect">
            <a:avLst/>
          </a:prstGeom>
          <a:solidFill>
            <a:srgbClr val="172940"/>
          </a:solidFill>
          <a:ln w="6350"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2377440" y="4138168"/>
            <a:ext cx="3108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F1FF"/>
                </a:solidFill>
              </a:rPr>
              <a:t>Zustand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577840" y="4087368"/>
            <a:ext cx="5943600" cy="438912"/>
          </a:xfrm>
          <a:prstGeom prst="rect">
            <a:avLst/>
          </a:prstGeom>
          <a:solidFill>
            <a:srgbClr val="172940"/>
          </a:solidFill>
          <a:ln w="6350"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669280" y="4138168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A9CC4"/>
                </a:solidFill>
              </a:rPr>
              <a:t>Lightweight, no boilerplate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4562856"/>
            <a:ext cx="1828800" cy="438912"/>
          </a:xfrm>
          <a:prstGeom prst="rect">
            <a:avLst/>
          </a:prstGeom>
          <a:solidFill>
            <a:srgbClr val="0D1B2A"/>
          </a:solidFill>
          <a:ln w="6350"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57200" y="4613656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F1FF"/>
                </a:solidFill>
              </a:rPr>
              <a:t>Data Fetching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286000" y="4562856"/>
            <a:ext cx="3200400" cy="438912"/>
          </a:xfrm>
          <a:prstGeom prst="rect">
            <a:avLst/>
          </a:prstGeom>
          <a:solidFill>
            <a:srgbClr val="0D1B2A"/>
          </a:solidFill>
          <a:ln w="6350"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2377440" y="4613656"/>
            <a:ext cx="3108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F1FF"/>
                </a:solidFill>
              </a:rPr>
              <a:t>TanStack Query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577840" y="4562856"/>
            <a:ext cx="5943600" cy="438912"/>
          </a:xfrm>
          <a:prstGeom prst="rect">
            <a:avLst/>
          </a:prstGeom>
          <a:solidFill>
            <a:srgbClr val="0D1B2A"/>
          </a:solidFill>
          <a:ln w="6350"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669280" y="4613656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A9CC4"/>
                </a:solidFill>
              </a:rPr>
              <a:t>Caching + loading states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038344"/>
            <a:ext cx="1828800" cy="438912"/>
          </a:xfrm>
          <a:prstGeom prst="rect">
            <a:avLst/>
          </a:prstGeom>
          <a:solidFill>
            <a:srgbClr val="172940"/>
          </a:solidFill>
          <a:ln w="6350"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457200" y="5089144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F1FF"/>
                </a:solidFill>
              </a:rPr>
              <a:t>Validation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86000" y="5038344"/>
            <a:ext cx="3200400" cy="438912"/>
          </a:xfrm>
          <a:prstGeom prst="rect">
            <a:avLst/>
          </a:prstGeom>
          <a:solidFill>
            <a:srgbClr val="172940"/>
          </a:solidFill>
          <a:ln w="6350"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2377440" y="5089144"/>
            <a:ext cx="3108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F1FF"/>
                </a:solidFill>
              </a:rPr>
              <a:t>Zod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577840" y="5038344"/>
            <a:ext cx="5943600" cy="438912"/>
          </a:xfrm>
          <a:prstGeom prst="rect">
            <a:avLst/>
          </a:prstGeom>
          <a:solidFill>
            <a:srgbClr val="172940"/>
          </a:solidFill>
          <a:ln w="6350"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5669280" y="5089144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A9CC4"/>
                </a:solidFill>
              </a:rPr>
              <a:t>Runtime validation client+server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5513831"/>
            <a:ext cx="1828800" cy="438912"/>
          </a:xfrm>
          <a:prstGeom prst="rect">
            <a:avLst/>
          </a:prstGeom>
          <a:solidFill>
            <a:srgbClr val="0D1B2A"/>
          </a:solidFill>
          <a:ln w="6350"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457200" y="5564631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F1FF"/>
                </a:solidFill>
              </a:rPr>
              <a:t>i18n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286000" y="5513831"/>
            <a:ext cx="3200400" cy="438912"/>
          </a:xfrm>
          <a:prstGeom prst="rect">
            <a:avLst/>
          </a:prstGeom>
          <a:solidFill>
            <a:srgbClr val="0D1B2A"/>
          </a:solidFill>
          <a:ln w="6350"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2377440" y="5564631"/>
            <a:ext cx="3108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F1FF"/>
                </a:solidFill>
              </a:rPr>
              <a:t>next-intl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577840" y="5513831"/>
            <a:ext cx="5943600" cy="438912"/>
          </a:xfrm>
          <a:prstGeom prst="rect">
            <a:avLst/>
          </a:prstGeom>
          <a:solidFill>
            <a:srgbClr val="0D1B2A"/>
          </a:solidFill>
          <a:ln w="6350"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5669280" y="5564631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A9CC4"/>
                </a:solidFill>
              </a:rPr>
              <a:t>Thai/English support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5989320"/>
            <a:ext cx="1828800" cy="438912"/>
          </a:xfrm>
          <a:prstGeom prst="rect">
            <a:avLst/>
          </a:prstGeom>
          <a:solidFill>
            <a:srgbClr val="172940"/>
          </a:solidFill>
          <a:ln w="6350"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57200" y="6040120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F1FF"/>
                </a:solidFill>
              </a:rPr>
              <a:t>AI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286000" y="5989320"/>
            <a:ext cx="3200400" cy="438912"/>
          </a:xfrm>
          <a:prstGeom prst="rect">
            <a:avLst/>
          </a:prstGeom>
          <a:solidFill>
            <a:srgbClr val="172940"/>
          </a:solidFill>
          <a:ln w="6350"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2377440" y="6040120"/>
            <a:ext cx="3108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F1FF"/>
                </a:solidFill>
              </a:rPr>
              <a:t>Google Gemini 2.5 Flash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577840" y="5989320"/>
            <a:ext cx="5943600" cy="438912"/>
          </a:xfrm>
          <a:prstGeom prst="rect">
            <a:avLst/>
          </a:prstGeom>
          <a:solidFill>
            <a:srgbClr val="172940"/>
          </a:solidFill>
          <a:ln w="6350"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5669280" y="6040120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A9CC4"/>
                </a:solidFill>
              </a:rPr>
              <a:t>Image analysis + Thai reasoning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6464808"/>
            <a:ext cx="1828800" cy="438912"/>
          </a:xfrm>
          <a:prstGeom prst="rect">
            <a:avLst/>
          </a:prstGeom>
          <a:solidFill>
            <a:srgbClr val="0D1B2A"/>
          </a:solidFill>
          <a:ln w="6350"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457200" y="651560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F1FF"/>
                </a:solidFill>
              </a:rPr>
              <a:t>Testing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286000" y="6464808"/>
            <a:ext cx="3200400" cy="438912"/>
          </a:xfrm>
          <a:prstGeom prst="rect">
            <a:avLst/>
          </a:prstGeom>
          <a:solidFill>
            <a:srgbClr val="0D1B2A"/>
          </a:solidFill>
          <a:ln w="6350"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2377440" y="6515608"/>
            <a:ext cx="3108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F1FF"/>
                </a:solidFill>
              </a:rPr>
              <a:t>Vitest + Playwright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577840" y="6464808"/>
            <a:ext cx="5943600" cy="438912"/>
          </a:xfrm>
          <a:prstGeom prst="rect">
            <a:avLst/>
          </a:prstGeom>
          <a:solidFill>
            <a:srgbClr val="0D1B2A"/>
          </a:solidFill>
          <a:ln w="6350"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5669280" y="6515608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A9CC4"/>
                </a:solidFill>
              </a:rPr>
              <a:t>Unit + E2E testing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E8F1FF"/>
                </a:solidFill>
              </a:rPr>
              <a:t>MVP Scope &amp;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7A9CC4"/>
                </a:solidFill>
              </a:rPr>
              <a:t>จริง vs. Mock ใน MVP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3749039" cy="5212080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C55E"/>
                </a:solidFill>
              </a:rPr>
              <a:t>✅ จริง (Implemented)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20240"/>
            <a:ext cx="3474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E8F1FF"/>
                </a:solidFill>
              </a:rPr>
              <a:t>• Text &amp; URL analysis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E8F1FF"/>
                </a:solidFill>
              </a:rPr>
              <a:t>• Domain analysis (age, SSL, WHOIS)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E8F1FF"/>
                </a:solidFill>
              </a:rPr>
              <a:t>• Gemini AI image detection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E8F1FF"/>
                </a:solidFill>
              </a:rPr>
              <a:t>• EXIF metadata extraction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E8F1FF"/>
                </a:solidFill>
              </a:rPr>
              <a:t>• Trending (hashed, anonymized)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E8F1FF"/>
                </a:solidFill>
              </a:rPr>
              <a:t>• Local history (localStorage)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E8F1FF"/>
                </a:solidFill>
              </a:rPr>
              <a:t>• i18n TH/EN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E8F1FF"/>
                </a:solidFill>
              </a:rPr>
              <a:t>• Rate limiting (30 req/min)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234440"/>
            <a:ext cx="3749039" cy="5212080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34840" y="132588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AB308"/>
                </a:solidFill>
              </a:rPr>
              <a:t>🟡 Mock (Demo Data)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920240"/>
            <a:ext cx="3474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E8F1FF"/>
                </a:solidFill>
              </a:rPr>
              <a:t>• Social account analysis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E8F1FF"/>
                </a:solidFill>
              </a:rPr>
              <a:t>• Coordinated behavior detection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E8F1FF"/>
                </a:solidFill>
              </a:rPr>
              <a:t>• Reverse image search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234440"/>
            <a:ext cx="3749039" cy="5212080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66760" y="132588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F4444"/>
                </a:solidFill>
              </a:rPr>
              <a:t>🚫 Out of Scope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920240"/>
            <a:ext cx="3474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E8F1FF"/>
                </a:solidFill>
              </a:rPr>
              <a:t>• Authentication / user accounts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E8F1FF"/>
                </a:solidFill>
              </a:rPr>
              <a:t>• Production deployment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E8F1FF"/>
                </a:solidFill>
              </a:rPr>
              <a:t>• Real-time updates / WebSocket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E8F1FF"/>
                </a:solidFill>
              </a:rPr>
              <a:t>• Browser extension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E8F1FF"/>
                </a:solidFill>
              </a:rPr>
              <a:t>• Mobile app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E8F1FF"/>
                </a:solidFill>
              </a:rPr>
              <a:t>Testing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7A9CC4"/>
                </a:solidFill>
              </a:rPr>
              <a:t>Unit Tests · E2E · Mock Strategy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25880"/>
            <a:ext cx="11247120" cy="1554480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4F9CF9"/>
                </a:solidFill>
              </a:rPr>
              <a:t>🧪 Unit Tests — Vitest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7A9CC4"/>
                </a:solidFill>
              </a:rPr>
              <a:t>• Services: textAnalyzer, imageAnalyzer, sourceAnalyzer (≥5 tests each)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7A9CC4"/>
                </a:solidFill>
              </a:rPr>
              <a:t>• Hook: useLocalHistory — add, remove, export, import, filter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7A9CC4"/>
                </a:solidFill>
              </a:rPr>
              <a:t>• Zod schemas: validate happy path + edge cases + invalid input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063239"/>
            <a:ext cx="11247120" cy="1554480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3154679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6EC6FF"/>
                </a:solidFill>
              </a:rPr>
              <a:t>🎭 E2E — Playwright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57599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7A9CC4"/>
                </a:solidFill>
              </a:rPr>
              <a:t>• Happy path: submit text → result page with verdict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7A9CC4"/>
                </a:solidFill>
              </a:rPr>
              <a:t>• Happy path: submit URL → result page with references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7A9CC4"/>
                </a:solidFill>
              </a:rPr>
              <a:t>• Trending page: entries load and are clickable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800600"/>
            <a:ext cx="11247120" cy="1554480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48920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7A9CC4"/>
                </a:solidFill>
              </a:rPr>
              <a:t>🎭 Mock Strategy — Vitest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3949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7A9CC4"/>
                </a:solidFill>
              </a:rPr>
              <a:t>• vi.mock('../lib/prisma') — mock DB in all service tests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7A9CC4"/>
                </a:solidFill>
              </a:rPr>
              <a:t>• vi.mock('../lib/gemini') — mock Gemini in image tests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7A9CC4"/>
                </a:solidFill>
              </a:rPr>
              <a:t>• No real DB / API calls in unit tests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E8F1FF"/>
                </a:solidFill>
              </a:rPr>
              <a:t>Setup &amp; Running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7A9CC4"/>
                </a:solidFill>
              </a:rPr>
              <a:t>3 คำสั่งในการเริ่มใช้งาน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11247120" cy="1325880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502920" y="1691640"/>
            <a:ext cx="594360" cy="594360"/>
          </a:xfrm>
          <a:prstGeom prst="ellipse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D1B2A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46304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6EC6FF"/>
                </a:solidFill>
              </a:rPr>
              <a:t>docker compose 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057400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7A9CC4"/>
                </a:solidFill>
              </a:rPr>
              <a:t>เริ่ม Next.js app (port 3000) + PostgreSQL (port 5432)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926080"/>
            <a:ext cx="11247120" cy="1325880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502920" y="3246120"/>
            <a:ext cx="594360" cy="594360"/>
          </a:xfrm>
          <a:prstGeom prst="ellipse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3246120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D1B2A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01752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6EC6FF"/>
                </a:solidFill>
              </a:rPr>
              <a:t>npm run db:seed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611880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7A9CC4"/>
                </a:solidFill>
              </a:rPr>
              <a:t>Seed ข้อมูล: trusted sources, fake claims, suspicious domains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480560"/>
            <a:ext cx="11247120" cy="1325880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502920" y="4800600"/>
            <a:ext cx="594360" cy="594360"/>
          </a:xfrm>
          <a:prstGeom prst="ellipse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4800600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D1B2A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572000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6EC6FF"/>
                </a:solidFill>
              </a:rPr>
              <a:t>npm 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5166360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7A9CC4"/>
                </a:solidFill>
              </a:rPr>
              <a:t>รัน Vitest unit tests ทั้งหมด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6126480"/>
            <a:ext cx="11247120" cy="548640"/>
          </a:xfrm>
          <a:prstGeom prst="rect">
            <a:avLst/>
          </a:prstGeom>
          <a:solidFill>
            <a:srgbClr val="1A2235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619048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AB308"/>
                </a:solidFill>
              </a:rPr>
              <a:t>📄 .env.example → ต้องการ: DATABASE_URL  +  GEMINI_API_KEY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E8F1FF"/>
                </a:solidFill>
              </a:rPr>
              <a:t>Future Roadmap (Post-MVP)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7A9CC4"/>
                </a:solidFill>
              </a:rPr>
              <a:t>ทิศทางในอนาคต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11247120" cy="868680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481328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8F1FF"/>
                </a:solidFill>
              </a:rPr>
              <a:t>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444752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F9CF9"/>
                </a:solidFill>
              </a:rPr>
              <a:t>Social Account Analysis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1463040"/>
            <a:ext cx="6309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A9CC4"/>
                </a:solidFill>
              </a:rPr>
              <a:t>เชื่อมต่อ API จริงสำหรับตรวจสอบบัญชี social media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77440"/>
            <a:ext cx="11247120" cy="868680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2487168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8F1FF"/>
                </a:solidFill>
              </a:rPr>
              <a:t>🖼️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450592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F9CF9"/>
                </a:solidFill>
              </a:rPr>
              <a:t>Reverse Image Search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468880"/>
            <a:ext cx="6309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A9CC4"/>
                </a:solidFill>
              </a:rPr>
              <a:t>ใช้ Google Vision หรือ TinEye API แทน mock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383280"/>
            <a:ext cx="11247120" cy="868680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3493008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8F1FF"/>
                </a:solidFill>
              </a:rPr>
              <a:t>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456432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F9CF9"/>
                </a:solidFill>
              </a:rPr>
              <a:t>Browser Extension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3474720"/>
            <a:ext cx="6309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A9CC4"/>
                </a:solidFill>
              </a:rPr>
              <a:t>ตรวจสอบข่าวได้โดยตรงบน Facebook, LINE Web, Twitter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389120"/>
            <a:ext cx="11247120" cy="868680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4498848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8F1FF"/>
                </a:solidFill>
              </a:rPr>
              <a:t>☁️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462272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F9CF9"/>
                </a:solidFill>
              </a:rPr>
              <a:t>Public Deployment + Persistent Accounts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4480560"/>
            <a:ext cx="6309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A9CC4"/>
                </a:solidFill>
              </a:rPr>
              <a:t>Deploy บน cloud + optional user accounts สำหรับ sync ประวัติ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394960"/>
            <a:ext cx="11247120" cy="868680"/>
          </a:xfrm>
          <a:prstGeom prst="rect">
            <a:avLst/>
          </a:prstGeom>
          <a:solidFill>
            <a:srgbClr val="1A2D44"/>
          </a:solidFill>
          <a:ln w="9525">
            <a:solidFill>
              <a:srgbClr val="4F9C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5504688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8F1FF"/>
                </a:solidFill>
              </a:rPr>
              <a:t>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468112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F9CF9"/>
                </a:solidFill>
              </a:rPr>
              <a:t>Community Fact-Check Database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5486400"/>
            <a:ext cx="6309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A9CC4"/>
                </a:solidFill>
              </a:rPr>
              <a:t>ระบบ crowdsourcing ให้ผู้ใช้ contribute ข้อมูลเท็จที่พบ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069855" y="-1920240"/>
            <a:ext cx="5486400" cy="5486400"/>
          </a:xfrm>
          <a:prstGeom prst="ellipse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4F9CF9"/>
                </a:solidFill>
              </a:rPr>
              <a:t>ชัวร์ก่อนแชร์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5176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6EC6FF"/>
                </a:solidFill>
              </a:rPr>
              <a:t>ตรวจสอบข่าวก่อนส่งต่อ — เพราะข่าวปลอมแพร่เร็วกว่าที่คุณคิด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429000"/>
            <a:ext cx="3657600" cy="25400"/>
          </a:xfrm>
          <a:prstGeom prst="rect">
            <a:avLst/>
          </a:prstGeom>
          <a:solidFill>
            <a:srgbClr val="4F9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361188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8F1FF"/>
                </a:solidFill>
              </a:rPr>
              <a:t>Thank you · ขอบคุณ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5196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rgbClr val="7A9CC4"/>
                </a:solidFill>
              </a:rPr>
              <a:t>📁 Repository: [</a:t>
            </a:r>
            <a:r>
              <a:rPr sz="1600" b="0" dirty="0" err="1">
                <a:solidFill>
                  <a:srgbClr val="7A9CC4"/>
                </a:solidFill>
              </a:rPr>
              <a:t>github.com</a:t>
            </a:r>
            <a:r>
              <a:rPr sz="1600" b="0" dirty="0">
                <a:solidFill>
                  <a:srgbClr val="7A9CC4"/>
                </a:solidFill>
              </a:rPr>
              <a:t>/your-org/fake-news]
📧 Contact:    [</a:t>
            </a:r>
            <a:r>
              <a:rPr sz="1600" b="0" dirty="0" err="1">
                <a:solidFill>
                  <a:srgbClr val="7A9CC4"/>
                </a:solidFill>
              </a:rPr>
              <a:t>your.email@example.com</a:t>
            </a:r>
            <a:r>
              <a:rPr sz="1600" b="0" dirty="0">
                <a:solidFill>
                  <a:srgbClr val="7A9CC4"/>
                </a:solidFill>
              </a:rPr>
              <a:t>]
🐳 Run:        docker compose 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577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6EC6FF"/>
                </a:solidFill>
              </a:rPr>
              <a:t>Q&amp;A — มีคำถามอะไรบ้างครับ/ค่ะ?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2495</Words>
  <Application>Microsoft Macintosh PowerPoint</Application>
  <PresentationFormat>Custom</PresentationFormat>
  <Paragraphs>333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Thanawat Suchato</cp:lastModifiedBy>
  <cp:revision>5</cp:revision>
  <dcterms:created xsi:type="dcterms:W3CDTF">2013-01-27T09:14:16Z</dcterms:created>
  <dcterms:modified xsi:type="dcterms:W3CDTF">2026-04-24T02:06:52Z</dcterms:modified>
  <cp:category/>
</cp:coreProperties>
</file>